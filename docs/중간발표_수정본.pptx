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2" r:id="rId7"/>
    <p:sldId id="263" r:id="rId8"/>
    <p:sldId id="265"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0816" autoAdjust="0"/>
  </p:normalViewPr>
  <p:slideViewPr>
    <p:cSldViewPr snapToGrid="0" snapToObjects="1">
      <p:cViewPr varScale="1">
        <p:scale>
          <a:sx n="75" d="100"/>
          <a:sy n="75" d="100"/>
        </p:scale>
        <p:origin x="2504" y="16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973354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수수컴정 발표를 맡은 000입니다. 저희 팀은 게시글 맥락을 활용한 한국어 혐오표현 탐지를 주제로 프로젝트를 진행하고 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저희가 풀려는 문제입니다. 댓글만으로는 판단하기 어려운 혐오표현이 있는데, 이때 게시글 맥락을 함께 활용하면 탐지 성능이 좋아지는가가 저희 연구 질문입니다.
</a:t>
            </a:r>
            <a:r>
              <a:rPr lang="ko-KR" altLang="en-US" dirty="0"/>
              <a:t>아래는 </a:t>
            </a:r>
            <a:r>
              <a:rPr lang="en-US" dirty="0" err="1"/>
              <a:t>실제</a:t>
            </a:r>
            <a:r>
              <a:rPr lang="en-US" dirty="0"/>
              <a:t> 데이터에서 가져온 예시입니다.
두 줄 모두 댓글은 "먹고싶은데 여권 들고가기 귀찮아"로 똑같습니다. 이 댓글이 광주광역시 음식을 소개한 글에 달리면, 광주를 외국처럼 취급하는 지역 비하라서 혐오입니다. 반면 일본 오사카 음식 글에 달리면 비혐오입니다.
같은 댓글인데 정답이 다르니까, 댓글만 보는 모델로는 둘을 구분할 수 없습니다.
저희는 이 문제를 다뤄보기 위해 다음과 같은 데이터셋을 가져왔습니다.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공개 데이터셋 KOCOH v2입니다. 게시글 맥락과 댓글 3,000쌍이고, 혐오는 764행, 25.5% 비율을 차지하고 있습니다.</a:t>
            </a:r>
          </a:p>
          <a:p>
            <a:endParaRPr/>
          </a:p>
          <a:p>
            <a:r>
              <a:t>Type 1은 실제 맥락과 실제 댓글로 된 혐오입니다. Type 2는 Type 1과 같은 댓글에 맥락만 새로 써서 비혐오가 되게 만든 데이터입니다. Type 3은 다른 실제 댓글이고, 모두 비혐오입니다.</a:t>
            </a:r>
          </a:p>
          <a:p>
            <a:endParaRPr/>
          </a:p>
          <a:p>
            <a:r>
              <a:t>그래서 같은 댓글에 정답만 반대인 쌍이 764개 생깁니다. 이 쌍이 평가에서 어떤 의미가 있는지는 평가 지표에서 다시 말씀드리겠습니다.</a:t>
            </a:r>
          </a:p>
          <a:p>
            <a:endParaRPr/>
          </a:p>
          <a:p>
            <a:r>
              <a:t>또 이 데이터는 같은 게시글 맥락이 여러 행에 반복됩니다. 3,000행에 고유한 맥락은 282개이고, 아래 그림에서 색 하나가 게시글 하나입니다. 그래서 행 단위로 무작위로 나누면 test 맥락의 97.2%가 이미 train에 들어가 있습니다. 이미 본 게시글로 평가하는 셈이라 점수가 부풀려집니다.</a:t>
            </a:r>
          </a:p>
          <a:p>
            <a:endParaRPr/>
          </a:p>
          <a:p>
            <a:r>
              <a:t>이 문제를 피하기 위해 저희가 어떻게 나눴는지 다음 슬라이드에서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그래서 저희는 게시글 묶음 단위로 나눴습니다. 세 단계입니다.</a:t>
            </a:r>
          </a:p>
          <a:p>
            <a:endParaRPr/>
          </a:p>
          <a:p>
            <a:r>
              <a:t>첫째, 같은 맥락 문장을 쓰는 게시글, 즉 Set끼리 합쳐 101개 Set을 77개 묶음으로 만들었습니다. 한 묶음은 train이나 test 한쪽에만 들어갑니다. 그 결과 test 맥락 중 train에 이미 있던 비율이 97.2%에서 0%가 되어, 처음 보는 게시글에서의 성능만 평가하게 됩니다.</a:t>
            </a:r>
          </a:p>
          <a:p>
            <a:endParaRPr/>
          </a:p>
          <a:p>
            <a:r>
              <a:t>둘째, 왼쪽 아래 그림처럼 이 묶음을 혐오 비율을 유지하며 5등분하고, 다섯 번 돌아가며 한 조각씩 test로 써서 평균과 표준편차로 보고합니다.</a:t>
            </a:r>
          </a:p>
          <a:p>
            <a:endParaRPr/>
          </a:p>
          <a:p>
            <a:r>
              <a:t>셋째, 임계값 같은 설정값을 고를 때는 오른쪽 아래 그림처럼 test를 뺀 train을 다시 묶음 단위로 네 조각 내어 validation으로 씁니다. 고른 뒤에는 train 전체로 다시 학습하고, test는 설정을 고르는 데 쓰지 않습니다.</a:t>
            </a:r>
          </a:p>
          <a:p>
            <a:endParaRPr/>
          </a:p>
          <a:p>
            <a:r>
              <a:t>다음은 모델을 어떤 기준으로 평가하는지입니다.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평가</a:t>
            </a:r>
            <a:r>
              <a:rPr dirty="0"/>
              <a:t> </a:t>
            </a:r>
            <a:r>
              <a:rPr dirty="0" err="1"/>
              <a:t>방법입니다</a:t>
            </a:r>
            <a:r>
              <a:rPr dirty="0"/>
              <a:t>. </a:t>
            </a:r>
            <a:r>
              <a:rPr dirty="0" err="1"/>
              <a:t>점수는</a:t>
            </a:r>
            <a:r>
              <a:rPr dirty="0"/>
              <a:t> </a:t>
            </a:r>
            <a:r>
              <a:rPr dirty="0" err="1"/>
              <a:t>두</a:t>
            </a:r>
            <a:r>
              <a:rPr dirty="0"/>
              <a:t> </a:t>
            </a:r>
            <a:r>
              <a:rPr dirty="0" err="1"/>
              <a:t>가지로</a:t>
            </a:r>
            <a:r>
              <a:rPr dirty="0"/>
              <a:t> </a:t>
            </a:r>
            <a:r>
              <a:rPr dirty="0" err="1"/>
              <a:t>매깁니다</a:t>
            </a:r>
            <a:r>
              <a:rPr dirty="0"/>
              <a:t>.</a:t>
            </a:r>
          </a:p>
          <a:p>
            <a:endParaRPr dirty="0"/>
          </a:p>
          <a:p>
            <a:r>
              <a:rPr dirty="0" err="1"/>
              <a:t>주</a:t>
            </a:r>
            <a:r>
              <a:rPr dirty="0"/>
              <a:t> </a:t>
            </a:r>
            <a:r>
              <a:rPr dirty="0" err="1"/>
              <a:t>지표는</a:t>
            </a:r>
            <a:r>
              <a:rPr dirty="0"/>
              <a:t> macro-F1입니다. </a:t>
            </a:r>
            <a:r>
              <a:rPr dirty="0" err="1"/>
              <a:t>혐오와</a:t>
            </a:r>
            <a:r>
              <a:rPr dirty="0"/>
              <a:t> </a:t>
            </a:r>
            <a:r>
              <a:rPr dirty="0" err="1"/>
              <a:t>비혐오를</a:t>
            </a:r>
            <a:r>
              <a:rPr dirty="0"/>
              <a:t> </a:t>
            </a:r>
            <a:r>
              <a:rPr dirty="0" err="1"/>
              <a:t>따로</a:t>
            </a:r>
            <a:r>
              <a:rPr dirty="0"/>
              <a:t> </a:t>
            </a:r>
            <a:r>
              <a:rPr dirty="0" err="1"/>
              <a:t>채점해서</a:t>
            </a:r>
            <a:r>
              <a:rPr dirty="0"/>
              <a:t> </a:t>
            </a:r>
            <a:r>
              <a:rPr dirty="0" err="1"/>
              <a:t>평균을</a:t>
            </a:r>
            <a:r>
              <a:rPr dirty="0"/>
              <a:t> </a:t>
            </a:r>
            <a:r>
              <a:rPr dirty="0" err="1"/>
              <a:t>냅니다</a:t>
            </a:r>
            <a:r>
              <a:rPr dirty="0"/>
              <a:t>. </a:t>
            </a:r>
            <a:r>
              <a:rPr dirty="0" err="1"/>
              <a:t>이</a:t>
            </a:r>
            <a:r>
              <a:rPr dirty="0"/>
              <a:t> </a:t>
            </a:r>
            <a:r>
              <a:rPr dirty="0" err="1"/>
              <a:t>데이터는</a:t>
            </a:r>
            <a:r>
              <a:rPr dirty="0"/>
              <a:t> </a:t>
            </a:r>
            <a:r>
              <a:rPr dirty="0" err="1"/>
              <a:t>비혐오가</a:t>
            </a:r>
            <a:r>
              <a:rPr dirty="0"/>
              <a:t> 74.5%라서, </a:t>
            </a:r>
            <a:r>
              <a:rPr dirty="0" err="1"/>
              <a:t>전부</a:t>
            </a:r>
            <a:r>
              <a:rPr dirty="0"/>
              <a:t> </a:t>
            </a:r>
            <a:r>
              <a:rPr dirty="0" err="1"/>
              <a:t>비혐오라고</a:t>
            </a:r>
            <a:r>
              <a:rPr dirty="0"/>
              <a:t> </a:t>
            </a:r>
            <a:r>
              <a:rPr dirty="0" err="1"/>
              <a:t>찍기만</a:t>
            </a:r>
            <a:r>
              <a:rPr dirty="0"/>
              <a:t> </a:t>
            </a:r>
            <a:r>
              <a:rPr dirty="0" err="1"/>
              <a:t>해도</a:t>
            </a:r>
            <a:r>
              <a:rPr dirty="0"/>
              <a:t> </a:t>
            </a:r>
            <a:r>
              <a:rPr dirty="0" err="1"/>
              <a:t>정확도는</a:t>
            </a:r>
            <a:r>
              <a:rPr dirty="0"/>
              <a:t> 0.745가 </a:t>
            </a:r>
            <a:r>
              <a:rPr dirty="0" err="1"/>
              <a:t>나옵니다</a:t>
            </a:r>
            <a:r>
              <a:rPr dirty="0"/>
              <a:t>. </a:t>
            </a:r>
            <a:r>
              <a:rPr dirty="0" err="1"/>
              <a:t>하지만</a:t>
            </a:r>
            <a:r>
              <a:rPr dirty="0"/>
              <a:t> macro-F1로 </a:t>
            </a:r>
            <a:r>
              <a:rPr dirty="0" err="1"/>
              <a:t>보면</a:t>
            </a:r>
            <a:r>
              <a:rPr dirty="0"/>
              <a:t> 0.427로, </a:t>
            </a:r>
            <a:r>
              <a:rPr dirty="0" err="1"/>
              <a:t>제대로</a:t>
            </a:r>
            <a:r>
              <a:rPr dirty="0"/>
              <a:t> </a:t>
            </a:r>
            <a:r>
              <a:rPr dirty="0" err="1"/>
              <a:t>못</a:t>
            </a:r>
            <a:r>
              <a:rPr dirty="0"/>
              <a:t> </a:t>
            </a:r>
            <a:r>
              <a:rPr dirty="0" err="1"/>
              <a:t>하고</a:t>
            </a:r>
            <a:r>
              <a:rPr dirty="0"/>
              <a:t> </a:t>
            </a:r>
            <a:r>
              <a:rPr dirty="0" err="1"/>
              <a:t>있다는</a:t>
            </a:r>
            <a:r>
              <a:rPr dirty="0"/>
              <a:t> </a:t>
            </a:r>
            <a:r>
              <a:rPr dirty="0" err="1"/>
              <a:t>게</a:t>
            </a:r>
            <a:r>
              <a:rPr dirty="0"/>
              <a:t> </a:t>
            </a:r>
            <a:r>
              <a:rPr dirty="0" err="1"/>
              <a:t>드러납니다</a:t>
            </a:r>
            <a:r>
              <a:rPr dirty="0"/>
              <a:t>. </a:t>
            </a:r>
            <a:r>
              <a:rPr dirty="0" err="1"/>
              <a:t>그래서</a:t>
            </a:r>
            <a:r>
              <a:rPr dirty="0"/>
              <a:t> </a:t>
            </a:r>
            <a:r>
              <a:rPr dirty="0" err="1"/>
              <a:t>정확도</a:t>
            </a:r>
            <a:r>
              <a:rPr dirty="0"/>
              <a:t> </a:t>
            </a:r>
            <a:r>
              <a:rPr dirty="0" err="1"/>
              <a:t>대신</a:t>
            </a:r>
            <a:r>
              <a:rPr dirty="0"/>
              <a:t> macro-F1을 </a:t>
            </a:r>
            <a:r>
              <a:rPr dirty="0" err="1"/>
              <a:t>씁니다</a:t>
            </a:r>
            <a:r>
              <a:rPr dirty="0"/>
              <a:t>.</a:t>
            </a:r>
          </a:p>
          <a:p>
            <a:endParaRPr dirty="0"/>
          </a:p>
          <a:p>
            <a:r>
              <a:rPr dirty="0" err="1"/>
              <a:t>보조</a:t>
            </a:r>
            <a:r>
              <a:rPr dirty="0"/>
              <a:t> </a:t>
            </a:r>
            <a:r>
              <a:rPr dirty="0" err="1"/>
              <a:t>지표는</a:t>
            </a:r>
            <a:r>
              <a:rPr dirty="0"/>
              <a:t> </a:t>
            </a:r>
            <a:r>
              <a:rPr dirty="0" err="1"/>
              <a:t>혐오</a:t>
            </a:r>
            <a:r>
              <a:rPr dirty="0"/>
              <a:t> </a:t>
            </a:r>
            <a:r>
              <a:rPr dirty="0" err="1"/>
              <a:t>Recall입니다</a:t>
            </a:r>
            <a:r>
              <a:rPr dirty="0"/>
              <a:t>. </a:t>
            </a:r>
            <a:r>
              <a:rPr dirty="0" err="1"/>
              <a:t>실제</a:t>
            </a:r>
            <a:r>
              <a:rPr dirty="0"/>
              <a:t> </a:t>
            </a:r>
            <a:r>
              <a:rPr dirty="0" err="1"/>
              <a:t>혐오</a:t>
            </a:r>
            <a:r>
              <a:rPr dirty="0"/>
              <a:t> </a:t>
            </a:r>
            <a:r>
              <a:rPr dirty="0" err="1"/>
              <a:t>댓글</a:t>
            </a:r>
            <a:r>
              <a:rPr dirty="0"/>
              <a:t> </a:t>
            </a:r>
            <a:r>
              <a:rPr dirty="0" err="1"/>
              <a:t>중</a:t>
            </a:r>
            <a:r>
              <a:rPr dirty="0"/>
              <a:t> </a:t>
            </a:r>
            <a:r>
              <a:rPr dirty="0" err="1"/>
              <a:t>몇</a:t>
            </a:r>
            <a:r>
              <a:rPr dirty="0"/>
              <a:t> %</a:t>
            </a:r>
            <a:r>
              <a:rPr dirty="0" err="1"/>
              <a:t>를</a:t>
            </a:r>
            <a:r>
              <a:rPr dirty="0"/>
              <a:t> </a:t>
            </a:r>
            <a:r>
              <a:rPr dirty="0" err="1"/>
              <a:t>잡아냈는지입니다</a:t>
            </a:r>
            <a:r>
              <a:rPr dirty="0"/>
              <a:t>. </a:t>
            </a:r>
            <a:r>
              <a:rPr dirty="0" err="1"/>
              <a:t>혐오를</a:t>
            </a:r>
            <a:r>
              <a:rPr dirty="0"/>
              <a:t> </a:t>
            </a:r>
            <a:r>
              <a:rPr dirty="0" err="1"/>
              <a:t>놓치는</a:t>
            </a:r>
            <a:r>
              <a:rPr dirty="0"/>
              <a:t> </a:t>
            </a:r>
            <a:r>
              <a:rPr dirty="0" err="1"/>
              <a:t>것이</a:t>
            </a:r>
            <a:r>
              <a:rPr dirty="0"/>
              <a:t> </a:t>
            </a:r>
            <a:r>
              <a:rPr dirty="0" err="1"/>
              <a:t>가장</a:t>
            </a:r>
            <a:r>
              <a:rPr dirty="0"/>
              <a:t> </a:t>
            </a:r>
            <a:r>
              <a:rPr dirty="0" err="1"/>
              <a:t>피해야</a:t>
            </a:r>
            <a:r>
              <a:rPr dirty="0"/>
              <a:t> </a:t>
            </a:r>
            <a:r>
              <a:rPr dirty="0" err="1"/>
              <a:t>할</a:t>
            </a:r>
            <a:r>
              <a:rPr dirty="0"/>
              <a:t> </a:t>
            </a:r>
            <a:r>
              <a:rPr dirty="0" err="1"/>
              <a:t>실수라서</a:t>
            </a:r>
            <a:r>
              <a:rPr dirty="0"/>
              <a:t> </a:t>
            </a:r>
            <a:r>
              <a:rPr dirty="0" err="1"/>
              <a:t>따로</a:t>
            </a:r>
            <a:r>
              <a:rPr dirty="0"/>
              <a:t> </a:t>
            </a:r>
            <a:r>
              <a:rPr dirty="0" err="1"/>
              <a:t>봅니다</a:t>
            </a:r>
            <a:r>
              <a:rPr dirty="0"/>
              <a:t>.</a:t>
            </a:r>
          </a:p>
          <a:p>
            <a:endParaRPr dirty="0"/>
          </a:p>
          <a:p>
            <a:r>
              <a:rPr dirty="0" err="1"/>
              <a:t>그리고</a:t>
            </a:r>
            <a:r>
              <a:rPr dirty="0"/>
              <a:t> </a:t>
            </a:r>
            <a:r>
              <a:rPr dirty="0" err="1"/>
              <a:t>넘어야</a:t>
            </a:r>
            <a:r>
              <a:rPr dirty="0"/>
              <a:t> </a:t>
            </a:r>
            <a:r>
              <a:rPr dirty="0" err="1"/>
              <a:t>할</a:t>
            </a:r>
            <a:r>
              <a:rPr dirty="0"/>
              <a:t> </a:t>
            </a:r>
            <a:r>
              <a:rPr dirty="0" err="1"/>
              <a:t>선이</a:t>
            </a:r>
            <a:r>
              <a:rPr dirty="0"/>
              <a:t> </a:t>
            </a:r>
            <a:r>
              <a:rPr dirty="0" err="1"/>
              <a:t>있습니다</a:t>
            </a:r>
            <a:r>
              <a:rPr dirty="0"/>
              <a:t>. </a:t>
            </a:r>
            <a:r>
              <a:rPr dirty="0" err="1"/>
              <a:t>앞에서</a:t>
            </a:r>
            <a:r>
              <a:rPr dirty="0"/>
              <a:t> </a:t>
            </a:r>
            <a:r>
              <a:rPr dirty="0" err="1"/>
              <a:t>본</a:t>
            </a:r>
            <a:r>
              <a:rPr dirty="0"/>
              <a:t> </a:t>
            </a:r>
            <a:r>
              <a:rPr dirty="0" err="1"/>
              <a:t>같은</a:t>
            </a:r>
            <a:r>
              <a:rPr dirty="0"/>
              <a:t> </a:t>
            </a:r>
            <a:r>
              <a:rPr dirty="0" err="1"/>
              <a:t>댓글</a:t>
            </a:r>
            <a:r>
              <a:rPr dirty="0"/>
              <a:t> 764쌍은 </a:t>
            </a:r>
            <a:r>
              <a:rPr dirty="0" err="1"/>
              <a:t>댓글만</a:t>
            </a:r>
            <a:r>
              <a:rPr dirty="0"/>
              <a:t> </a:t>
            </a:r>
            <a:r>
              <a:rPr dirty="0" err="1"/>
              <a:t>보는</a:t>
            </a:r>
            <a:r>
              <a:rPr dirty="0"/>
              <a:t> </a:t>
            </a:r>
            <a:r>
              <a:rPr dirty="0" err="1"/>
              <a:t>모델에게는</a:t>
            </a:r>
            <a:r>
              <a:rPr dirty="0"/>
              <a:t> </a:t>
            </a:r>
            <a:r>
              <a:rPr dirty="0" err="1"/>
              <a:t>똑같은</a:t>
            </a:r>
            <a:r>
              <a:rPr dirty="0"/>
              <a:t> </a:t>
            </a:r>
            <a:r>
              <a:rPr dirty="0" err="1"/>
              <a:t>입력이라</a:t>
            </a:r>
            <a:r>
              <a:rPr dirty="0"/>
              <a:t> </a:t>
            </a:r>
            <a:r>
              <a:rPr dirty="0" err="1"/>
              <a:t>늘</a:t>
            </a:r>
            <a:r>
              <a:rPr dirty="0"/>
              <a:t> </a:t>
            </a:r>
            <a:r>
              <a:rPr dirty="0" err="1"/>
              <a:t>같은</a:t>
            </a:r>
            <a:r>
              <a:rPr dirty="0"/>
              <a:t> </a:t>
            </a:r>
            <a:r>
              <a:rPr dirty="0" err="1"/>
              <a:t>답이</a:t>
            </a:r>
            <a:r>
              <a:rPr dirty="0"/>
              <a:t> </a:t>
            </a:r>
            <a:r>
              <a:rPr dirty="0" err="1"/>
              <a:t>나옵니다</a:t>
            </a:r>
            <a:r>
              <a:rPr dirty="0"/>
              <a:t>. </a:t>
            </a:r>
            <a:r>
              <a:rPr dirty="0" err="1"/>
              <a:t>그래서</a:t>
            </a:r>
            <a:r>
              <a:rPr dirty="0"/>
              <a:t> </a:t>
            </a:r>
            <a:r>
              <a:rPr dirty="0" err="1"/>
              <a:t>쌍마다</a:t>
            </a:r>
            <a:r>
              <a:rPr dirty="0"/>
              <a:t> </a:t>
            </a:r>
            <a:r>
              <a:rPr dirty="0" err="1"/>
              <a:t>하나는</a:t>
            </a:r>
            <a:r>
              <a:rPr dirty="0"/>
              <a:t> </a:t>
            </a:r>
            <a:r>
              <a:rPr dirty="0" err="1"/>
              <a:t>반드시</a:t>
            </a:r>
            <a:r>
              <a:rPr dirty="0"/>
              <a:t> </a:t>
            </a:r>
            <a:r>
              <a:rPr dirty="0" err="1"/>
              <a:t>틀리고</a:t>
            </a:r>
            <a:r>
              <a:rPr dirty="0"/>
              <a:t>, </a:t>
            </a:r>
            <a:r>
              <a:rPr dirty="0" err="1"/>
              <a:t>나머지를</a:t>
            </a:r>
            <a:r>
              <a:rPr dirty="0"/>
              <a:t> </a:t>
            </a:r>
            <a:r>
              <a:rPr dirty="0" err="1"/>
              <a:t>전부</a:t>
            </a:r>
            <a:r>
              <a:rPr dirty="0"/>
              <a:t> </a:t>
            </a:r>
            <a:r>
              <a:rPr dirty="0" err="1"/>
              <a:t>맞혀도</a:t>
            </a:r>
            <a:r>
              <a:rPr dirty="0"/>
              <a:t> macro-F1이 0.730을 </a:t>
            </a:r>
            <a:r>
              <a:rPr dirty="0" err="1"/>
              <a:t>넘지</a:t>
            </a:r>
            <a:r>
              <a:rPr dirty="0"/>
              <a:t> </a:t>
            </a:r>
            <a:r>
              <a:rPr dirty="0" err="1"/>
              <a:t>못합니다</a:t>
            </a:r>
            <a:r>
              <a:rPr dirty="0"/>
              <a:t>. </a:t>
            </a:r>
            <a:r>
              <a:rPr dirty="0" err="1"/>
              <a:t>맥락을</a:t>
            </a:r>
            <a:r>
              <a:rPr dirty="0"/>
              <a:t> </a:t>
            </a:r>
            <a:r>
              <a:rPr dirty="0" err="1"/>
              <a:t>넣은</a:t>
            </a:r>
            <a:r>
              <a:rPr dirty="0"/>
              <a:t> </a:t>
            </a:r>
            <a:r>
              <a:rPr dirty="0" err="1"/>
              <a:t>모델이</a:t>
            </a:r>
            <a:r>
              <a:rPr dirty="0"/>
              <a:t> </a:t>
            </a:r>
            <a:r>
              <a:rPr dirty="0" err="1"/>
              <a:t>이</a:t>
            </a:r>
            <a:r>
              <a:rPr dirty="0"/>
              <a:t> 0.730을 </a:t>
            </a:r>
            <a:r>
              <a:rPr dirty="0" err="1"/>
              <a:t>넘어야</a:t>
            </a:r>
            <a:r>
              <a:rPr dirty="0"/>
              <a:t> </a:t>
            </a:r>
            <a:r>
              <a:rPr dirty="0" err="1"/>
              <a:t>맥락</a:t>
            </a:r>
            <a:r>
              <a:rPr dirty="0"/>
              <a:t> </a:t>
            </a:r>
            <a:r>
              <a:rPr dirty="0" err="1"/>
              <a:t>덕분이라고</a:t>
            </a:r>
            <a:r>
              <a:rPr dirty="0"/>
              <a:t> </a:t>
            </a:r>
            <a:r>
              <a:rPr dirty="0" err="1"/>
              <a:t>볼</a:t>
            </a:r>
            <a:r>
              <a:rPr dirty="0"/>
              <a:t> </a:t>
            </a:r>
            <a:r>
              <a:rPr dirty="0" err="1"/>
              <a:t>수</a:t>
            </a:r>
            <a:r>
              <a:rPr dirty="0"/>
              <a:t> </a:t>
            </a:r>
            <a:r>
              <a:rPr dirty="0" err="1"/>
              <a:t>있습니다</a:t>
            </a:r>
            <a:r>
              <a:rPr dirty="0"/>
              <a:t>.</a:t>
            </a:r>
          </a:p>
          <a:p>
            <a:endParaRPr dirty="0"/>
          </a:p>
          <a:p>
            <a:r>
              <a:rPr dirty="0" err="1"/>
              <a:t>그래서</a:t>
            </a:r>
            <a:r>
              <a:rPr dirty="0"/>
              <a:t> </a:t>
            </a:r>
            <a:r>
              <a:rPr dirty="0" err="1"/>
              <a:t>성공</a:t>
            </a:r>
            <a:r>
              <a:rPr dirty="0"/>
              <a:t> </a:t>
            </a:r>
            <a:r>
              <a:rPr dirty="0" err="1"/>
              <a:t>기준은</a:t>
            </a:r>
            <a:r>
              <a:rPr dirty="0"/>
              <a:t> </a:t>
            </a:r>
            <a:r>
              <a:rPr dirty="0" err="1"/>
              <a:t>세</a:t>
            </a:r>
            <a:r>
              <a:rPr dirty="0"/>
              <a:t> </a:t>
            </a:r>
            <a:r>
              <a:rPr dirty="0" err="1"/>
              <a:t>가지입니다</a:t>
            </a:r>
            <a:r>
              <a:rPr dirty="0"/>
              <a:t>. </a:t>
            </a:r>
            <a:r>
              <a:rPr dirty="0" err="1"/>
              <a:t>첫째</a:t>
            </a:r>
            <a:r>
              <a:rPr dirty="0"/>
              <a:t>, macro-F1 0.73 </a:t>
            </a:r>
            <a:r>
              <a:rPr dirty="0" err="1"/>
              <a:t>이상</a:t>
            </a:r>
            <a:r>
              <a:rPr dirty="0"/>
              <a:t>. </a:t>
            </a:r>
            <a:r>
              <a:rPr dirty="0" err="1"/>
              <a:t>둘째</a:t>
            </a:r>
            <a:r>
              <a:rPr dirty="0"/>
              <a:t>, </a:t>
            </a:r>
            <a:r>
              <a:rPr dirty="0" err="1"/>
              <a:t>다섯</a:t>
            </a:r>
            <a:r>
              <a:rPr dirty="0"/>
              <a:t> </a:t>
            </a:r>
            <a:r>
              <a:rPr dirty="0" err="1"/>
              <a:t>번</a:t>
            </a:r>
            <a:r>
              <a:rPr dirty="0"/>
              <a:t> </a:t>
            </a:r>
            <a:r>
              <a:rPr dirty="0" err="1"/>
              <a:t>나눠</a:t>
            </a:r>
            <a:r>
              <a:rPr dirty="0"/>
              <a:t> </a:t>
            </a:r>
            <a:r>
              <a:rPr dirty="0" err="1"/>
              <a:t>평가한</a:t>
            </a:r>
            <a:r>
              <a:rPr dirty="0"/>
              <a:t> </a:t>
            </a:r>
            <a:r>
              <a:rPr dirty="0" err="1"/>
              <a:t>것</a:t>
            </a:r>
            <a:r>
              <a:rPr dirty="0"/>
              <a:t> </a:t>
            </a:r>
            <a:r>
              <a:rPr dirty="0" err="1"/>
              <a:t>중</a:t>
            </a:r>
            <a:r>
              <a:rPr dirty="0"/>
              <a:t> </a:t>
            </a:r>
            <a:r>
              <a:rPr dirty="0" err="1"/>
              <a:t>네</a:t>
            </a:r>
            <a:r>
              <a:rPr dirty="0"/>
              <a:t> </a:t>
            </a:r>
            <a:r>
              <a:rPr dirty="0" err="1"/>
              <a:t>번</a:t>
            </a:r>
            <a:r>
              <a:rPr dirty="0"/>
              <a:t> </a:t>
            </a:r>
            <a:r>
              <a:rPr dirty="0" err="1"/>
              <a:t>이상에서</a:t>
            </a:r>
            <a:r>
              <a:rPr dirty="0"/>
              <a:t> </a:t>
            </a:r>
            <a:r>
              <a:rPr dirty="0" err="1"/>
              <a:t>댓글만</a:t>
            </a:r>
            <a:r>
              <a:rPr dirty="0"/>
              <a:t> </a:t>
            </a:r>
            <a:r>
              <a:rPr dirty="0" err="1"/>
              <a:t>넣었을</a:t>
            </a:r>
            <a:r>
              <a:rPr dirty="0"/>
              <a:t> </a:t>
            </a:r>
            <a:r>
              <a:rPr dirty="0" err="1"/>
              <a:t>때보다</a:t>
            </a:r>
            <a:r>
              <a:rPr dirty="0"/>
              <a:t> </a:t>
            </a:r>
            <a:r>
              <a:rPr dirty="0" err="1"/>
              <a:t>좋아지고</a:t>
            </a:r>
            <a:r>
              <a:rPr dirty="0"/>
              <a:t>, </a:t>
            </a:r>
            <a:r>
              <a:rPr dirty="0" err="1"/>
              <a:t>대응표본</a:t>
            </a:r>
            <a:r>
              <a:rPr dirty="0"/>
              <a:t> t-</a:t>
            </a:r>
            <a:r>
              <a:rPr dirty="0" err="1"/>
              <a:t>검정</a:t>
            </a:r>
            <a:r>
              <a:rPr dirty="0"/>
              <a:t> </a:t>
            </a:r>
            <a:r>
              <a:rPr dirty="0" err="1"/>
              <a:t>p가</a:t>
            </a:r>
            <a:r>
              <a:rPr dirty="0"/>
              <a:t> 0.05 </a:t>
            </a:r>
            <a:r>
              <a:rPr dirty="0" err="1"/>
              <a:t>미만이어야</a:t>
            </a:r>
            <a:r>
              <a:rPr dirty="0"/>
              <a:t> </a:t>
            </a:r>
            <a:r>
              <a:rPr dirty="0" err="1"/>
              <a:t>합니다</a:t>
            </a:r>
            <a:r>
              <a:rPr dirty="0"/>
              <a:t>. </a:t>
            </a:r>
            <a:r>
              <a:rPr dirty="0" err="1"/>
              <a:t>운</a:t>
            </a:r>
            <a:r>
              <a:rPr dirty="0"/>
              <a:t> </a:t>
            </a:r>
            <a:r>
              <a:rPr dirty="0" err="1"/>
              <a:t>좋게</a:t>
            </a:r>
            <a:r>
              <a:rPr dirty="0"/>
              <a:t> </a:t>
            </a:r>
            <a:r>
              <a:rPr dirty="0" err="1"/>
              <a:t>한두</a:t>
            </a:r>
            <a:r>
              <a:rPr dirty="0"/>
              <a:t> </a:t>
            </a:r>
            <a:r>
              <a:rPr dirty="0" err="1"/>
              <a:t>번만</a:t>
            </a:r>
            <a:r>
              <a:rPr dirty="0"/>
              <a:t> </a:t>
            </a:r>
            <a:r>
              <a:rPr dirty="0" err="1"/>
              <a:t>크게</a:t>
            </a:r>
            <a:r>
              <a:rPr dirty="0"/>
              <a:t> </a:t>
            </a:r>
            <a:r>
              <a:rPr dirty="0" err="1"/>
              <a:t>오른</a:t>
            </a:r>
            <a:r>
              <a:rPr dirty="0"/>
              <a:t> </a:t>
            </a:r>
            <a:r>
              <a:rPr dirty="0" err="1"/>
              <a:t>경우를</a:t>
            </a:r>
            <a:r>
              <a:rPr dirty="0"/>
              <a:t> </a:t>
            </a:r>
            <a:r>
              <a:rPr dirty="0" err="1"/>
              <a:t>거르기</a:t>
            </a:r>
            <a:r>
              <a:rPr dirty="0"/>
              <a:t> </a:t>
            </a:r>
            <a:r>
              <a:rPr dirty="0" err="1"/>
              <a:t>위해서입니다</a:t>
            </a:r>
            <a:r>
              <a:rPr dirty="0"/>
              <a:t>. </a:t>
            </a:r>
            <a:r>
              <a:rPr dirty="0" err="1"/>
              <a:t>셋째</a:t>
            </a:r>
            <a:r>
              <a:rPr dirty="0"/>
              <a:t>, </a:t>
            </a:r>
            <a:r>
              <a:rPr dirty="0" err="1"/>
              <a:t>점수가</a:t>
            </a:r>
            <a:r>
              <a:rPr dirty="0"/>
              <a:t> </a:t>
            </a:r>
            <a:r>
              <a:rPr dirty="0" err="1"/>
              <a:t>올라도</a:t>
            </a:r>
            <a:r>
              <a:rPr dirty="0"/>
              <a:t> </a:t>
            </a:r>
            <a:r>
              <a:rPr dirty="0" err="1"/>
              <a:t>혐오를</a:t>
            </a:r>
            <a:r>
              <a:rPr dirty="0"/>
              <a:t> </a:t>
            </a:r>
            <a:r>
              <a:rPr dirty="0" err="1"/>
              <a:t>더</a:t>
            </a:r>
            <a:r>
              <a:rPr dirty="0"/>
              <a:t> </a:t>
            </a:r>
            <a:r>
              <a:rPr dirty="0" err="1"/>
              <a:t>놓친다면</a:t>
            </a:r>
            <a:r>
              <a:rPr dirty="0"/>
              <a:t> </a:t>
            </a:r>
            <a:r>
              <a:rPr dirty="0" err="1"/>
              <a:t>개선이</a:t>
            </a:r>
            <a:r>
              <a:rPr dirty="0"/>
              <a:t> </a:t>
            </a:r>
            <a:r>
              <a:rPr dirty="0" err="1"/>
              <a:t>아니므로</a:t>
            </a:r>
            <a:r>
              <a:rPr dirty="0"/>
              <a:t>, </a:t>
            </a:r>
            <a:r>
              <a:rPr dirty="0" err="1"/>
              <a:t>혐오</a:t>
            </a:r>
            <a:r>
              <a:rPr dirty="0"/>
              <a:t> Recall </a:t>
            </a:r>
            <a:r>
              <a:rPr dirty="0" err="1"/>
              <a:t>하락을</a:t>
            </a:r>
            <a:r>
              <a:rPr dirty="0"/>
              <a:t> 0.10 </a:t>
            </a:r>
            <a:r>
              <a:rPr dirty="0" err="1"/>
              <a:t>이하로</a:t>
            </a:r>
            <a:r>
              <a:rPr dirty="0"/>
              <a:t> </a:t>
            </a:r>
            <a:r>
              <a:rPr dirty="0" err="1"/>
              <a:t>잡았습니다</a:t>
            </a:r>
            <a:r>
              <a:rPr dirty="0"/>
              <a:t>.</a:t>
            </a:r>
          </a:p>
          <a:p>
            <a:endParaRPr dirty="0"/>
          </a:p>
          <a:p>
            <a:r>
              <a:rPr dirty="0" err="1"/>
              <a:t>이</a:t>
            </a:r>
            <a:r>
              <a:rPr dirty="0"/>
              <a:t> </a:t>
            </a:r>
            <a:r>
              <a:rPr dirty="0" err="1"/>
              <a:t>기준으로</a:t>
            </a:r>
            <a:r>
              <a:rPr dirty="0"/>
              <a:t> </a:t>
            </a:r>
            <a:r>
              <a:rPr dirty="0" err="1"/>
              <a:t>베이스라인</a:t>
            </a:r>
            <a:r>
              <a:rPr dirty="0"/>
              <a:t> </a:t>
            </a:r>
            <a:r>
              <a:rPr dirty="0" err="1"/>
              <a:t>결과를</a:t>
            </a:r>
            <a:r>
              <a:rPr dirty="0"/>
              <a:t> </a:t>
            </a:r>
            <a:r>
              <a:rPr dirty="0" err="1"/>
              <a:t>보겠습니다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다음은 베이스라인 결과입니다. 모든 모델은 댓글만 넣은 경우와 맥락+댓글을 넣은 경우를 각각 학습하고, 두 점수의 차이를 맥락 효과로 봅니다. 베이스라인은 문장을 글자 2~4개 조각으로 잘라 TF-IDF 점수를 매긴 뒤 로지스틱 회귀와 선형 SVM으로 판정하는 모델입니다.</a:t>
            </a:r>
          </a:p>
          <a:p>
            <a:endParaRPr/>
          </a:p>
          <a:p>
            <a:r>
              <a:t>혐오 비율(25%)에 따라 무작위로 답을 내놓는 Dummy는 0.495입니다.</a:t>
            </a:r>
          </a:p>
          <a:p>
            <a:r>
              <a:t>TF-IDF와 로지스틱 회귀는 댓글만 넣으면 0.647인데, 맥락을 넣으면 0.633으로 오히려 떨어졌습니다. 선형 SVM도 같은 경향을 보입니다. 두 모델 모두 점선인 댓글만의 상한 0.730에 미치지 못했습니다.</a:t>
            </a:r>
          </a:p>
          <a:p>
            <a:endParaRPr/>
          </a:p>
          <a:p>
            <a:r>
              <a:t>성공 기준으로 보면 두 모델 모두 세 기준을 하나도 충족하지 못했습니다. 맥락을 넣어 점수가 오른 fold는 다섯 개 중 두 개와 0개였고, 혐오 Recall 역시 기준보다 2배 가까이 떨어졌습니다.</a:t>
            </a:r>
          </a:p>
          <a:p>
            <a:endParaRPr/>
          </a:p>
          <a:p>
            <a:r>
              <a:t>결과가 왜 이렇게 나왔는지 다음 슬라이드에서 두 가지로 분석했습니다.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먼저</a:t>
            </a:r>
            <a:r>
              <a:rPr lang="en-US" dirty="0"/>
              <a:t> 댓글 없이 맥락만 넣어 봤습니다. 이 경우 모델은 게시글 주제별로 혐오 댓글이 얼마나 자주 달리는지만 배울 수 있습니다. 결과는 0.465와 0.508로 무작위 Dummy 0.495와 비슷합니다. 처음 보는 게시글에서는 맥락만으로 혐오를 가려낼 수 없고, TF-IDF의 판별력은 대부분 댓글에서 나온다는 </a:t>
            </a:r>
            <a:r>
              <a:rPr lang="en-US" dirty="0" err="1"/>
              <a:t>뜻입니다</a:t>
            </a:r>
            <a:r>
              <a:rPr lang="en-US" dirty="0"/>
              <a:t>.</a:t>
            </a:r>
          </a:p>
          <a:p>
            <a:r>
              <a:rPr lang="en-US" dirty="0"/>
              <a:t>
TF-IDF는 맥락과 댓글을 따로 채점해서 더하기만 합니다. 1장 예시로 보면 '광주 글' 점수와 '여권 댓글' 점수를 각각 더할 뿐, '광주 글에 여권 얘기'라는 조합은 보지 못합니다. 결국 맥락은 같은 게시글의 모든 댓글에 같은 점수를 얹는 역할만 하는데, 이 점수가 새 게시글에서는 맞지 않아 도움이 되지 않았습니다.
두 번째는 임계값, 즉 혐오로 판정하는 확률 기준입니다. 맥락을 넣으면 혐오 확률이 전반적으로 낮아집니다. </a:t>
            </a:r>
            <a:r>
              <a:rPr lang="ko-KR" altLang="en-US" dirty="0"/>
              <a:t>회색선을 보시면</a:t>
            </a:r>
            <a:r>
              <a:rPr lang="en-US" dirty="0"/>
              <a:t> 기본값 0.5로는 Recall이 0.528에서 0.303으로 </a:t>
            </a:r>
            <a:r>
              <a:rPr lang="en-US" dirty="0" err="1"/>
              <a:t>떨어집니다</a:t>
            </a:r>
            <a:r>
              <a:rPr lang="en-US" dirty="0"/>
              <a:t>. 
validation set으로 임계값을 조절하여 0.35~0.375로 낮추니, 파란 선처럼 하락 폭이 0.053으로 줄어 기준 안에 들어오게 되었습니다.
정리하면 TF-IDF에는 맥락과 댓글의 조합을 볼 수 없다는 구조적인 한계가 있고, 판정 기준도 맥락에 맞춰 다시 골라야 합니다. 그럼 이 분석을 다음 단계에 어떻게 활용할지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차주</a:t>
            </a:r>
            <a:r>
              <a:rPr dirty="0"/>
              <a:t> </a:t>
            </a:r>
            <a:r>
              <a:rPr dirty="0" err="1"/>
              <a:t>계획입니다</a:t>
            </a:r>
            <a:r>
              <a:rPr dirty="0"/>
              <a:t>. </a:t>
            </a:r>
            <a:r>
              <a:rPr dirty="0" err="1"/>
              <a:t>앞의</a:t>
            </a:r>
            <a:r>
              <a:rPr dirty="0"/>
              <a:t> </a:t>
            </a:r>
            <a:r>
              <a:rPr dirty="0" err="1"/>
              <a:t>분석처럼</a:t>
            </a:r>
            <a:r>
              <a:rPr dirty="0"/>
              <a:t> TF-</a:t>
            </a:r>
            <a:r>
              <a:rPr dirty="0" err="1"/>
              <a:t>IDF는</a:t>
            </a:r>
            <a:r>
              <a:rPr dirty="0"/>
              <a:t> </a:t>
            </a:r>
            <a:r>
              <a:rPr dirty="0" err="1"/>
              <a:t>맥락과</a:t>
            </a:r>
            <a:r>
              <a:rPr dirty="0"/>
              <a:t> </a:t>
            </a:r>
            <a:r>
              <a:rPr dirty="0" err="1"/>
              <a:t>댓글을</a:t>
            </a:r>
            <a:r>
              <a:rPr dirty="0"/>
              <a:t> </a:t>
            </a:r>
            <a:r>
              <a:rPr dirty="0" err="1"/>
              <a:t>따로</a:t>
            </a:r>
            <a:r>
              <a:rPr dirty="0"/>
              <a:t> </a:t>
            </a:r>
            <a:r>
              <a:rPr dirty="0" err="1"/>
              <a:t>채점해</a:t>
            </a:r>
            <a:r>
              <a:rPr dirty="0"/>
              <a:t> </a:t>
            </a:r>
            <a:r>
              <a:rPr dirty="0" err="1"/>
              <a:t>더하기만</a:t>
            </a:r>
            <a:r>
              <a:rPr dirty="0"/>
              <a:t> </a:t>
            </a:r>
            <a:r>
              <a:rPr dirty="0" err="1"/>
              <a:t>해서</a:t>
            </a:r>
            <a:r>
              <a:rPr dirty="0"/>
              <a:t> '</a:t>
            </a:r>
            <a:r>
              <a:rPr dirty="0" err="1"/>
              <a:t>광주</a:t>
            </a:r>
            <a:r>
              <a:rPr dirty="0"/>
              <a:t> </a:t>
            </a:r>
            <a:r>
              <a:rPr dirty="0" err="1"/>
              <a:t>글에</a:t>
            </a:r>
            <a:r>
              <a:rPr dirty="0"/>
              <a:t> </a:t>
            </a:r>
            <a:r>
              <a:rPr dirty="0" err="1"/>
              <a:t>여권</a:t>
            </a:r>
            <a:r>
              <a:rPr dirty="0"/>
              <a:t> </a:t>
            </a:r>
            <a:r>
              <a:rPr dirty="0" err="1"/>
              <a:t>얘기'라는</a:t>
            </a:r>
            <a:r>
              <a:rPr dirty="0"/>
              <a:t> </a:t>
            </a:r>
            <a:r>
              <a:rPr dirty="0" err="1"/>
              <a:t>조합을</a:t>
            </a:r>
            <a:r>
              <a:rPr dirty="0"/>
              <a:t> </a:t>
            </a:r>
            <a:r>
              <a:rPr dirty="0" err="1"/>
              <a:t>보지</a:t>
            </a:r>
            <a:r>
              <a:rPr dirty="0"/>
              <a:t> </a:t>
            </a:r>
            <a:r>
              <a:rPr dirty="0" err="1"/>
              <a:t>못합니다</a:t>
            </a:r>
            <a:r>
              <a:rPr dirty="0"/>
              <a:t>. </a:t>
            </a:r>
            <a:r>
              <a:rPr dirty="0" err="1"/>
              <a:t>그래서</a:t>
            </a:r>
            <a:r>
              <a:rPr dirty="0"/>
              <a:t> </a:t>
            </a:r>
            <a:r>
              <a:rPr dirty="0" err="1"/>
              <a:t>맥락과</a:t>
            </a:r>
            <a:r>
              <a:rPr dirty="0"/>
              <a:t> </a:t>
            </a:r>
            <a:r>
              <a:rPr dirty="0" err="1"/>
              <a:t>댓글을</a:t>
            </a:r>
            <a:r>
              <a:rPr dirty="0"/>
              <a:t> </a:t>
            </a:r>
            <a:r>
              <a:rPr dirty="0" err="1"/>
              <a:t>한</a:t>
            </a:r>
            <a:r>
              <a:rPr dirty="0"/>
              <a:t> </a:t>
            </a:r>
            <a:r>
              <a:rPr dirty="0" err="1"/>
              <a:t>쌍의</a:t>
            </a:r>
            <a:r>
              <a:rPr dirty="0"/>
              <a:t> </a:t>
            </a:r>
            <a:r>
              <a:rPr dirty="0" err="1"/>
              <a:t>문장으로</a:t>
            </a:r>
            <a:r>
              <a:rPr dirty="0"/>
              <a:t> </a:t>
            </a:r>
            <a:r>
              <a:rPr dirty="0" err="1"/>
              <a:t>함께</a:t>
            </a:r>
            <a:r>
              <a:rPr dirty="0"/>
              <a:t> </a:t>
            </a:r>
            <a:r>
              <a:rPr dirty="0" err="1"/>
              <a:t>읽는</a:t>
            </a:r>
            <a:r>
              <a:rPr dirty="0"/>
              <a:t> </a:t>
            </a:r>
            <a:r>
              <a:rPr dirty="0" err="1"/>
              <a:t>사전학습</a:t>
            </a:r>
            <a:r>
              <a:rPr dirty="0"/>
              <a:t> </a:t>
            </a:r>
            <a:r>
              <a:rPr dirty="0" err="1"/>
              <a:t>언어모델</a:t>
            </a:r>
            <a:r>
              <a:rPr dirty="0"/>
              <a:t>, PLM </a:t>
            </a:r>
            <a:r>
              <a:rPr dirty="0" err="1"/>
              <a:t>두</a:t>
            </a:r>
            <a:r>
              <a:rPr dirty="0"/>
              <a:t> </a:t>
            </a:r>
            <a:r>
              <a:rPr dirty="0" err="1"/>
              <a:t>가지를</a:t>
            </a:r>
            <a:r>
              <a:rPr dirty="0"/>
              <a:t> </a:t>
            </a:r>
            <a:r>
              <a:rPr dirty="0" err="1"/>
              <a:t>비교</a:t>
            </a:r>
            <a:r>
              <a:rPr dirty="0"/>
              <a:t> </a:t>
            </a:r>
            <a:r>
              <a:rPr dirty="0" err="1"/>
              <a:t>모델로</a:t>
            </a:r>
            <a:r>
              <a:rPr dirty="0"/>
              <a:t> </a:t>
            </a:r>
            <a:r>
              <a:rPr dirty="0" err="1"/>
              <a:t>골랐습니다</a:t>
            </a:r>
            <a:r>
              <a:rPr dirty="0"/>
              <a:t>. </a:t>
            </a:r>
            <a:r>
              <a:rPr dirty="0" err="1"/>
              <a:t>네이버</a:t>
            </a:r>
            <a:r>
              <a:rPr dirty="0"/>
              <a:t> </a:t>
            </a:r>
            <a:r>
              <a:rPr dirty="0" err="1"/>
              <a:t>뉴스</a:t>
            </a:r>
            <a:r>
              <a:rPr dirty="0"/>
              <a:t> </a:t>
            </a:r>
            <a:r>
              <a:rPr dirty="0" err="1"/>
              <a:t>댓글로</a:t>
            </a:r>
            <a:r>
              <a:rPr dirty="0"/>
              <a:t> </a:t>
            </a:r>
            <a:r>
              <a:rPr dirty="0" err="1"/>
              <a:t>사전학습해</a:t>
            </a:r>
            <a:r>
              <a:rPr dirty="0"/>
              <a:t> </a:t>
            </a:r>
            <a:r>
              <a:rPr dirty="0" err="1"/>
              <a:t>온라인</a:t>
            </a:r>
            <a:r>
              <a:rPr dirty="0"/>
              <a:t> </a:t>
            </a:r>
            <a:r>
              <a:rPr dirty="0" err="1"/>
              <a:t>댓글</a:t>
            </a:r>
            <a:r>
              <a:rPr dirty="0"/>
              <a:t> </a:t>
            </a:r>
            <a:r>
              <a:rPr dirty="0" err="1"/>
              <a:t>표현에</a:t>
            </a:r>
            <a:r>
              <a:rPr dirty="0"/>
              <a:t> </a:t>
            </a:r>
            <a:r>
              <a:rPr dirty="0" err="1"/>
              <a:t>익숙한</a:t>
            </a:r>
            <a:r>
              <a:rPr dirty="0"/>
              <a:t> </a:t>
            </a:r>
            <a:r>
              <a:rPr dirty="0" err="1"/>
              <a:t>KcELECTRA</a:t>
            </a:r>
            <a:r>
              <a:rPr dirty="0"/>
              <a:t>(</a:t>
            </a:r>
            <a:r>
              <a:rPr dirty="0" err="1"/>
              <a:t>케이씨</a:t>
            </a:r>
            <a:r>
              <a:rPr dirty="0"/>
              <a:t> </a:t>
            </a:r>
            <a:r>
              <a:rPr dirty="0" err="1"/>
              <a:t>일렉트라</a:t>
            </a:r>
            <a:r>
              <a:rPr dirty="0"/>
              <a:t>)</a:t>
            </a:r>
            <a:r>
              <a:rPr dirty="0" err="1"/>
              <a:t>와</a:t>
            </a:r>
            <a:r>
              <a:rPr dirty="0"/>
              <a:t>, </a:t>
            </a:r>
            <a:r>
              <a:rPr dirty="0" err="1"/>
              <a:t>일반</a:t>
            </a:r>
            <a:r>
              <a:rPr dirty="0"/>
              <a:t> </a:t>
            </a:r>
            <a:r>
              <a:rPr dirty="0" err="1"/>
              <a:t>한국어로</a:t>
            </a:r>
            <a:r>
              <a:rPr dirty="0"/>
              <a:t> </a:t>
            </a:r>
            <a:r>
              <a:rPr dirty="0" err="1"/>
              <a:t>사전학습한</a:t>
            </a:r>
            <a:r>
              <a:rPr dirty="0"/>
              <a:t> KLUE-</a:t>
            </a:r>
            <a:r>
              <a:rPr dirty="0" err="1"/>
              <a:t>RoBERTa</a:t>
            </a:r>
            <a:r>
              <a:rPr dirty="0"/>
              <a:t>(</a:t>
            </a:r>
            <a:r>
              <a:rPr dirty="0" err="1"/>
              <a:t>클루</a:t>
            </a:r>
            <a:r>
              <a:rPr dirty="0"/>
              <a:t> </a:t>
            </a:r>
            <a:r>
              <a:rPr dirty="0" err="1"/>
              <a:t>로버타</a:t>
            </a:r>
            <a:r>
              <a:rPr dirty="0"/>
              <a:t>)</a:t>
            </a:r>
            <a:r>
              <a:rPr dirty="0" err="1"/>
              <a:t>입니다</a:t>
            </a:r>
            <a:r>
              <a:rPr dirty="0"/>
              <a:t>. KLUE-</a:t>
            </a:r>
            <a:r>
              <a:rPr dirty="0" err="1"/>
              <a:t>RoBERTa는</a:t>
            </a:r>
            <a:r>
              <a:rPr dirty="0"/>
              <a:t> </a:t>
            </a:r>
            <a:r>
              <a:rPr dirty="0" err="1"/>
              <a:t>댓글</a:t>
            </a:r>
            <a:r>
              <a:rPr dirty="0"/>
              <a:t> </a:t>
            </a:r>
            <a:r>
              <a:rPr dirty="0" err="1"/>
              <a:t>사전학습</a:t>
            </a:r>
            <a:r>
              <a:rPr dirty="0"/>
              <a:t> </a:t>
            </a:r>
            <a:r>
              <a:rPr dirty="0" err="1"/>
              <a:t>효과를</a:t>
            </a:r>
            <a:r>
              <a:rPr dirty="0"/>
              <a:t> </a:t>
            </a:r>
            <a:r>
              <a:rPr dirty="0" err="1"/>
              <a:t>가늠할</a:t>
            </a:r>
            <a:r>
              <a:rPr dirty="0"/>
              <a:t> </a:t>
            </a:r>
            <a:r>
              <a:rPr dirty="0" err="1"/>
              <a:t>비교</a:t>
            </a:r>
            <a:r>
              <a:rPr dirty="0"/>
              <a:t> </a:t>
            </a:r>
            <a:r>
              <a:rPr dirty="0" err="1"/>
              <a:t>대상입니다</a:t>
            </a:r>
            <a:r>
              <a:rPr dirty="0"/>
              <a:t>.</a:t>
            </a:r>
          </a:p>
          <a:p>
            <a:endParaRPr dirty="0"/>
          </a:p>
          <a:p>
            <a:r>
              <a:rPr dirty="0"/>
              <a:t>10주차에는 </a:t>
            </a:r>
            <a:r>
              <a:rPr dirty="0" err="1"/>
              <a:t>두</a:t>
            </a:r>
            <a:r>
              <a:rPr dirty="0"/>
              <a:t> </a:t>
            </a:r>
            <a:r>
              <a:rPr dirty="0" err="1"/>
              <a:t>모델을</a:t>
            </a:r>
            <a:r>
              <a:rPr dirty="0"/>
              <a:t> </a:t>
            </a:r>
            <a:r>
              <a:rPr dirty="0" err="1"/>
              <a:t>댓글만</a:t>
            </a:r>
            <a:r>
              <a:rPr dirty="0"/>
              <a:t>, </a:t>
            </a:r>
            <a:r>
              <a:rPr dirty="0" err="1"/>
              <a:t>맥락+댓글</a:t>
            </a:r>
            <a:r>
              <a:rPr dirty="0"/>
              <a:t> </a:t>
            </a:r>
            <a:r>
              <a:rPr dirty="0" err="1"/>
              <a:t>두</a:t>
            </a:r>
            <a:r>
              <a:rPr dirty="0"/>
              <a:t> </a:t>
            </a:r>
            <a:r>
              <a:rPr dirty="0" err="1"/>
              <a:t>입력으로</a:t>
            </a:r>
            <a:r>
              <a:rPr dirty="0"/>
              <a:t> </a:t>
            </a:r>
            <a:r>
              <a:rPr dirty="0" err="1"/>
              <a:t>미세조정하여</a:t>
            </a:r>
            <a:r>
              <a:rPr dirty="0"/>
              <a:t> </a:t>
            </a:r>
            <a:r>
              <a:rPr dirty="0" err="1"/>
              <a:t>학습합니다</a:t>
            </a:r>
            <a:r>
              <a:rPr dirty="0"/>
              <a:t>. </a:t>
            </a:r>
          </a:p>
          <a:p>
            <a:r>
              <a:rPr dirty="0" err="1"/>
              <a:t>맥락</a:t>
            </a:r>
            <a:r>
              <a:rPr dirty="0"/>
              <a:t> </a:t>
            </a:r>
            <a:r>
              <a:rPr dirty="0" err="1"/>
              <a:t>효과의</a:t>
            </a:r>
            <a:r>
              <a:rPr dirty="0"/>
              <a:t> </a:t>
            </a:r>
            <a:r>
              <a:rPr dirty="0" err="1"/>
              <a:t>원인을</a:t>
            </a:r>
            <a:r>
              <a:rPr dirty="0"/>
              <a:t> </a:t>
            </a:r>
            <a:r>
              <a:rPr dirty="0" err="1"/>
              <a:t>보기</a:t>
            </a:r>
            <a:r>
              <a:rPr dirty="0"/>
              <a:t> </a:t>
            </a:r>
            <a:r>
              <a:rPr dirty="0" err="1"/>
              <a:t>위해</a:t>
            </a:r>
            <a:r>
              <a:rPr dirty="0"/>
              <a:t> </a:t>
            </a:r>
            <a:r>
              <a:rPr dirty="0" err="1"/>
              <a:t>맥락만</a:t>
            </a:r>
            <a:r>
              <a:rPr dirty="0"/>
              <a:t> </a:t>
            </a:r>
            <a:r>
              <a:rPr dirty="0" err="1"/>
              <a:t>넣은</a:t>
            </a:r>
            <a:r>
              <a:rPr dirty="0"/>
              <a:t> </a:t>
            </a:r>
            <a:r>
              <a:rPr dirty="0" err="1"/>
              <a:t>학습도</a:t>
            </a:r>
            <a:r>
              <a:rPr dirty="0"/>
              <a:t> </a:t>
            </a:r>
            <a:r>
              <a:rPr dirty="0" err="1"/>
              <a:t>하고</a:t>
            </a:r>
            <a:r>
              <a:rPr dirty="0"/>
              <a:t>, </a:t>
            </a:r>
            <a:r>
              <a:rPr dirty="0" err="1"/>
              <a:t>임계값을</a:t>
            </a:r>
            <a:r>
              <a:rPr dirty="0"/>
              <a:t> </a:t>
            </a:r>
            <a:r>
              <a:rPr dirty="0" err="1"/>
              <a:t>적절히</a:t>
            </a:r>
            <a:r>
              <a:rPr dirty="0"/>
              <a:t> </a:t>
            </a:r>
            <a:r>
              <a:rPr dirty="0" err="1"/>
              <a:t>조절하는</a:t>
            </a:r>
            <a:r>
              <a:rPr dirty="0"/>
              <a:t> </a:t>
            </a:r>
            <a:r>
              <a:rPr dirty="0" err="1"/>
              <a:t>과정을</a:t>
            </a:r>
            <a:r>
              <a:rPr dirty="0"/>
              <a:t> </a:t>
            </a:r>
            <a:r>
              <a:rPr dirty="0" err="1"/>
              <a:t>통해</a:t>
            </a:r>
            <a:r>
              <a:rPr dirty="0"/>
              <a:t> </a:t>
            </a:r>
            <a:r>
              <a:rPr dirty="0" err="1"/>
              <a:t>성능을</a:t>
            </a:r>
            <a:r>
              <a:rPr dirty="0"/>
              <a:t> </a:t>
            </a:r>
            <a:r>
              <a:rPr dirty="0" err="1"/>
              <a:t>최대화해보고자</a:t>
            </a:r>
            <a:r>
              <a:rPr dirty="0"/>
              <a:t> </a:t>
            </a:r>
            <a:r>
              <a:rPr dirty="0" err="1"/>
              <a:t>합니다</a:t>
            </a:r>
            <a:r>
              <a:rPr dirty="0"/>
              <a:t>. </a:t>
            </a:r>
          </a:p>
          <a:p>
            <a:endParaRPr dirty="0"/>
          </a:p>
          <a:p>
            <a:r>
              <a:rPr dirty="0"/>
              <a:t>11주차에는 </a:t>
            </a:r>
            <a:r>
              <a:rPr dirty="0" err="1"/>
              <a:t>결과를</a:t>
            </a:r>
            <a:r>
              <a:rPr dirty="0"/>
              <a:t> </a:t>
            </a:r>
            <a:r>
              <a:rPr dirty="0" err="1"/>
              <a:t>분석합니다</a:t>
            </a:r>
            <a:r>
              <a:rPr dirty="0"/>
              <a:t>. </a:t>
            </a:r>
            <a:r>
              <a:rPr dirty="0" err="1"/>
              <a:t>성공</a:t>
            </a:r>
            <a:r>
              <a:rPr dirty="0"/>
              <a:t> </a:t>
            </a:r>
            <a:r>
              <a:rPr dirty="0" err="1"/>
              <a:t>기준</a:t>
            </a:r>
            <a:r>
              <a:rPr dirty="0"/>
              <a:t> </a:t>
            </a:r>
            <a:r>
              <a:rPr dirty="0" err="1"/>
              <a:t>세</a:t>
            </a:r>
            <a:r>
              <a:rPr dirty="0"/>
              <a:t> </a:t>
            </a:r>
            <a:r>
              <a:rPr dirty="0" err="1"/>
              <a:t>가지로</a:t>
            </a:r>
            <a:r>
              <a:rPr dirty="0"/>
              <a:t> </a:t>
            </a:r>
            <a:r>
              <a:rPr dirty="0" err="1"/>
              <a:t>점검하고</a:t>
            </a:r>
            <a:r>
              <a:rPr dirty="0"/>
              <a:t>, </a:t>
            </a:r>
            <a:r>
              <a:rPr dirty="0" err="1"/>
              <a:t>베이스라인과</a:t>
            </a:r>
            <a:r>
              <a:rPr dirty="0"/>
              <a:t> </a:t>
            </a:r>
            <a:r>
              <a:rPr dirty="0" err="1"/>
              <a:t>같은</a:t>
            </a:r>
            <a:r>
              <a:rPr dirty="0"/>
              <a:t> </a:t>
            </a:r>
            <a:r>
              <a:rPr dirty="0" err="1"/>
              <a:t>방식으로</a:t>
            </a:r>
            <a:r>
              <a:rPr dirty="0"/>
              <a:t> </a:t>
            </a:r>
            <a:r>
              <a:rPr dirty="0" err="1"/>
              <a:t>임계값을</a:t>
            </a:r>
            <a:r>
              <a:rPr dirty="0"/>
              <a:t> </a:t>
            </a:r>
            <a:r>
              <a:rPr dirty="0" err="1"/>
              <a:t>조정해</a:t>
            </a:r>
            <a:r>
              <a:rPr dirty="0"/>
              <a:t> </a:t>
            </a:r>
            <a:r>
              <a:rPr dirty="0" err="1"/>
              <a:t>혐오</a:t>
            </a:r>
            <a:r>
              <a:rPr dirty="0"/>
              <a:t> </a:t>
            </a:r>
            <a:r>
              <a:rPr dirty="0" err="1"/>
              <a:t>Recall을</a:t>
            </a:r>
            <a:r>
              <a:rPr dirty="0"/>
              <a:t> </a:t>
            </a:r>
            <a:r>
              <a:rPr dirty="0" err="1"/>
              <a:t>확인합니다</a:t>
            </a:r>
            <a:r>
              <a:rPr dirty="0"/>
              <a:t>. Type 1·2 </a:t>
            </a:r>
            <a:r>
              <a:rPr dirty="0" err="1"/>
              <a:t>쌍을</a:t>
            </a:r>
            <a:r>
              <a:rPr dirty="0"/>
              <a:t> </a:t>
            </a:r>
            <a:r>
              <a:rPr dirty="0" err="1"/>
              <a:t>포함한</a:t>
            </a:r>
            <a:r>
              <a:rPr dirty="0"/>
              <a:t> </a:t>
            </a:r>
            <a:r>
              <a:rPr dirty="0" err="1"/>
              <a:t>유형별</a:t>
            </a:r>
            <a:r>
              <a:rPr dirty="0"/>
              <a:t> </a:t>
            </a:r>
            <a:r>
              <a:rPr dirty="0" err="1"/>
              <a:t>오류</a:t>
            </a:r>
            <a:r>
              <a:rPr dirty="0"/>
              <a:t> </a:t>
            </a:r>
            <a:r>
              <a:rPr dirty="0" err="1"/>
              <a:t>분석과</a:t>
            </a:r>
            <a:r>
              <a:rPr dirty="0"/>
              <a:t> </a:t>
            </a:r>
            <a:r>
              <a:rPr dirty="0" err="1"/>
              <a:t>LoRA</a:t>
            </a:r>
            <a:r>
              <a:rPr dirty="0"/>
              <a:t> </a:t>
            </a:r>
            <a:r>
              <a:rPr dirty="0" err="1"/>
              <a:t>비교도</a:t>
            </a:r>
            <a:r>
              <a:rPr dirty="0"/>
              <a:t> </a:t>
            </a:r>
            <a:r>
              <a:rPr dirty="0" err="1"/>
              <a:t>함께</a:t>
            </a:r>
            <a:r>
              <a:rPr dirty="0"/>
              <a:t> </a:t>
            </a:r>
            <a:r>
              <a:rPr dirty="0" err="1"/>
              <a:t>진행합니다</a:t>
            </a:r>
            <a:r>
              <a:rPr dirty="0"/>
              <a:t>.</a:t>
            </a:r>
          </a:p>
          <a:p>
            <a:endParaRPr dirty="0"/>
          </a:p>
          <a:p>
            <a:r>
              <a:rPr dirty="0" err="1"/>
              <a:t>이상으로</a:t>
            </a:r>
            <a:r>
              <a:rPr dirty="0"/>
              <a:t> </a:t>
            </a:r>
            <a:r>
              <a:rPr dirty="0" err="1"/>
              <a:t>발표를</a:t>
            </a:r>
            <a:r>
              <a:rPr dirty="0"/>
              <a:t> </a:t>
            </a:r>
            <a:r>
              <a:rPr dirty="0" err="1"/>
              <a:t>마치겠습니다</a:t>
            </a:r>
            <a:r>
              <a:rPr dirty="0"/>
              <a:t>. </a:t>
            </a:r>
            <a:r>
              <a:rPr dirty="0" err="1"/>
              <a:t>감사합니다</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00 표지 텍스트 1"/>
          <p:cNvSpPr txBox="1"/>
          <p:nvPr/>
        </p:nvSpPr>
        <p:spPr>
          <a:xfrm>
            <a:off x="609630" y="2130735"/>
            <a:ext cx="4842937" cy="1287658"/>
          </a:xfrm>
          <a:prstGeom prst="rect">
            <a:avLst/>
          </a:prstGeom>
          <a:noFill/>
          <a:ln/>
        </p:spPr>
        <p:txBody>
          <a:bodyPr wrap="none" lIns="0" tIns="0" rIns="0" bIns="0" rtlCol="0" anchor="ctr"/>
          <a:lstStyle/>
          <a:p>
            <a:pPr marL="0" indent="0" algn="l">
              <a:lnSpc>
                <a:spcPts val="5070"/>
              </a:lnSpc>
              <a:buNone/>
            </a:pPr>
            <a:r>
              <a:rPr lang="ko-KR" altLang="en-US" sz="3900" b="1" kern="0" spc="-39" dirty="0">
                <a:solidFill>
                  <a:srgbClr val="1B1F24"/>
                </a:solidFill>
                <a:latin typeface="Noto Sans KR" pitchFamily="34" charset="0"/>
                <a:ea typeface="Noto Sans KR" pitchFamily="34" charset="-127"/>
                <a:cs typeface="Noto Sans KR" pitchFamily="34" charset="-120"/>
              </a:rPr>
              <a:t>게시글 맥락을 활용한</a:t>
            </a:r>
            <a:endParaRPr lang="en-US" sz="3900" dirty="0"/>
          </a:p>
          <a:p>
            <a:pPr marL="0" indent="0" algn="l">
              <a:lnSpc>
                <a:spcPts val="5070"/>
              </a:lnSpc>
              <a:buNone/>
            </a:pPr>
            <a:r>
              <a:rPr lang="ko-KR" altLang="en-US" sz="3900" b="1" kern="0" spc="-39" dirty="0">
                <a:solidFill>
                  <a:srgbClr val="1B1F24"/>
                </a:solidFill>
                <a:latin typeface="Noto Sans KR" pitchFamily="34" charset="0"/>
                <a:ea typeface="Noto Sans KR" pitchFamily="34" charset="-127"/>
                <a:cs typeface="Noto Sans KR" pitchFamily="34" charset="-120"/>
              </a:rPr>
              <a:t>한국어 혐오표현 탐지</a:t>
            </a:r>
            <a:endParaRPr lang="en-US" sz="3900" dirty="0"/>
          </a:p>
        </p:txBody>
      </p:sp>
      <p:sp>
        <p:nvSpPr>
          <p:cNvPr id="4" name="00 표지 텍스트 2"/>
          <p:cNvSpPr txBox="1"/>
          <p:nvPr/>
        </p:nvSpPr>
        <p:spPr>
          <a:xfrm>
            <a:off x="609630" y="3607034"/>
            <a:ext cx="3205612" cy="342900"/>
          </a:xfrm>
          <a:prstGeom prst="rect">
            <a:avLst/>
          </a:prstGeom>
          <a:noFill/>
          <a:ln/>
        </p:spPr>
        <p:txBody>
          <a:bodyPr wrap="none" lIns="0" tIns="0" rIns="0" bIns="0" rtlCol="0" anchor="ctr"/>
          <a:lstStyle/>
          <a:p>
            <a:pPr marL="0" indent="0" algn="l">
              <a:buNone/>
            </a:pPr>
            <a:r>
              <a:rPr lang="ko-KR" altLang="en-US" sz="1800" dirty="0">
                <a:solidFill>
                  <a:srgbClr val="5B6470"/>
                </a:solidFill>
                <a:latin typeface="Noto Sans KR" pitchFamily="34" charset="0"/>
                <a:ea typeface="Noto Sans KR" pitchFamily="34" charset="-127"/>
                <a:cs typeface="Noto Sans KR" pitchFamily="34" charset="-120"/>
              </a:rPr>
              <a:t>빅데이터분석및이론 중간 발표</a:t>
            </a:r>
            <a:endParaRPr lang="en-US" sz="1800" dirty="0"/>
          </a:p>
        </p:txBody>
      </p:sp>
      <p:sp>
        <p:nvSpPr>
          <p:cNvPr id="5" name="00 표지 텍스트 3"/>
          <p:cNvSpPr txBox="1"/>
          <p:nvPr/>
        </p:nvSpPr>
        <p:spPr>
          <a:xfrm>
            <a:off x="609630" y="4702393"/>
            <a:ext cx="866485" cy="314371"/>
          </a:xfrm>
          <a:prstGeom prst="rect">
            <a:avLst/>
          </a:prstGeom>
          <a:noFill/>
          <a:ln/>
        </p:spPr>
        <p:txBody>
          <a:bodyPr wrap="none" lIns="0" tIns="0" rIns="0" bIns="0" rtlCol="0" anchor="ctr"/>
          <a:lstStyle/>
          <a:p>
            <a:pPr marL="0" indent="0" algn="l">
              <a:buNone/>
            </a:pPr>
            <a:r>
              <a:rPr lang="ko-KR" altLang="en-US" sz="1650" b="1" dirty="0">
                <a:solidFill>
                  <a:srgbClr val="1B1F24"/>
                </a:solidFill>
                <a:latin typeface="Noto Sans KR" pitchFamily="34" charset="0"/>
                <a:ea typeface="Noto Sans KR" pitchFamily="34" charset="-127"/>
                <a:cs typeface="Noto Sans KR" pitchFamily="34" charset="-120"/>
              </a:rPr>
              <a:t>수수컴정</a:t>
            </a:r>
            <a:endParaRPr lang="en-US" sz="1650" dirty="0"/>
          </a:p>
        </p:txBody>
      </p:sp>
      <p:sp>
        <p:nvSpPr>
          <p:cNvPr id="6" name="00 표지 텍스트 4"/>
          <p:cNvSpPr txBox="1"/>
          <p:nvPr/>
        </p:nvSpPr>
        <p:spPr>
          <a:xfrm>
            <a:off x="609630" y="5083332"/>
            <a:ext cx="5239146" cy="285750"/>
          </a:xfrm>
          <a:prstGeom prst="rect">
            <a:avLst/>
          </a:prstGeom>
          <a:noFill/>
          <a:ln/>
        </p:spPr>
        <p:txBody>
          <a:bodyPr wrap="none" lIns="0" tIns="0" rIns="0" bIns="0" rtlCol="0" anchor="ctr"/>
          <a:lstStyle/>
          <a:p>
            <a:pPr marL="0" indent="0" algn="l">
              <a:buNone/>
            </a:pPr>
            <a:r>
              <a:rPr lang="ko-KR" altLang="en-US" sz="1500" dirty="0">
                <a:solidFill>
                  <a:srgbClr val="3A424C"/>
                </a:solidFill>
                <a:latin typeface="Noto Sans KR" pitchFamily="34" charset="0"/>
                <a:ea typeface="Noto Sans KR" pitchFamily="34" charset="-127"/>
                <a:cs typeface="Noto Sans KR" pitchFamily="34" charset="-120"/>
              </a:rPr>
              <a:t>데이터 안지수 · 모델 권순원 · 자동화 진군학 · 문서 소지연</a:t>
            </a:r>
            <a:endParaRPr lang="en-US" sz="1500" dirty="0"/>
          </a:p>
        </p:txBody>
      </p:sp>
      <p:sp>
        <p:nvSpPr>
          <p:cNvPr id="7" name="00 표지 텍스트 5"/>
          <p:cNvSpPr txBox="1"/>
          <p:nvPr/>
        </p:nvSpPr>
        <p:spPr>
          <a:xfrm>
            <a:off x="609630" y="5435834"/>
            <a:ext cx="1245504" cy="285750"/>
          </a:xfrm>
          <a:prstGeom prst="rect">
            <a:avLst/>
          </a:prstGeom>
          <a:noFill/>
          <a:ln/>
        </p:spPr>
        <p:txBody>
          <a:bodyPr wrap="none" lIns="0" tIns="0" rIns="0" bIns="0" rtlCol="0" anchor="ctr"/>
          <a:lstStyle/>
          <a:p>
            <a:pPr marL="0" indent="0" algn="l">
              <a:buNone/>
            </a:pPr>
            <a:r>
              <a:rPr lang="ko-KR" altLang="en-US" sz="1500" dirty="0">
                <a:solidFill>
                  <a:srgbClr val="5B6470"/>
                </a:solidFill>
                <a:latin typeface="Noto Sans KR" pitchFamily="34" charset="0"/>
                <a:ea typeface="Noto Sans KR" pitchFamily="34" charset="-127"/>
                <a:cs typeface="Noto Sans KR" pitchFamily="34" charset="-120"/>
              </a:rPr>
              <a:t>2026. 10. 27.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01 연구 질문 텍스트 1"/>
          <p:cNvSpPr txBox="1"/>
          <p:nvPr/>
        </p:nvSpPr>
        <p:spPr>
          <a:xfrm>
            <a:off x="609630" y="381030"/>
            <a:ext cx="1520830"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연구 질문</a:t>
            </a:r>
            <a:endParaRPr lang="en-US" sz="2700" dirty="0"/>
          </a:p>
        </p:txBody>
      </p:sp>
      <p:sp>
        <p:nvSpPr>
          <p:cNvPr id="4" name="01 연구 질문 텍스트 2"/>
          <p:cNvSpPr txBox="1"/>
          <p:nvPr/>
        </p:nvSpPr>
        <p:spPr>
          <a:xfrm>
            <a:off x="609630" y="1243493"/>
            <a:ext cx="11207709" cy="885871"/>
          </a:xfrm>
          <a:prstGeom prst="rect">
            <a:avLst/>
          </a:prstGeom>
          <a:noFill/>
          <a:ln/>
        </p:spPr>
        <p:txBody>
          <a:bodyPr wrap="none" lIns="0" tIns="0" rIns="0" bIns="0" rtlCol="0" anchor="ctr"/>
          <a:lstStyle/>
          <a:p>
            <a:pPr marL="0" indent="0" algn="l">
              <a:lnSpc>
                <a:spcPts val="3488"/>
              </a:lnSpc>
              <a:buNone/>
            </a:pPr>
            <a:r>
              <a:rPr lang="ko-KR" altLang="en-US" sz="2250" dirty="0">
                <a:solidFill>
                  <a:srgbClr val="1B1F24"/>
                </a:solidFill>
                <a:latin typeface="+mn-ea"/>
                <a:cs typeface="Noto Sans KR" pitchFamily="34" charset="-120"/>
              </a:rPr>
              <a:t>댓글만으로는 판단하기 어려운 한국어 맥락 의존적 혐오표현에서, </a:t>
            </a:r>
            <a:br>
              <a:rPr lang="en-US" altLang="ko-KR" sz="2250" dirty="0">
                <a:solidFill>
                  <a:srgbClr val="1B1F24"/>
                </a:solidFill>
                <a:latin typeface="+mn-ea"/>
                <a:cs typeface="Noto Sans KR" pitchFamily="34" charset="-120"/>
              </a:rPr>
            </a:br>
            <a:r>
              <a:rPr lang="ko-KR" altLang="en-US" sz="2250" b="1" dirty="0" err="1">
                <a:solidFill>
                  <a:srgbClr val="1F5FA8"/>
                </a:solidFill>
                <a:latin typeface="+mn-ea"/>
                <a:cs typeface="Noto Sans KR" pitchFamily="34" charset="-120"/>
              </a:rPr>
              <a:t>게시글</a:t>
            </a:r>
            <a:r>
              <a:rPr lang="ko-KR" altLang="en-US" sz="2250" b="1" dirty="0">
                <a:solidFill>
                  <a:srgbClr val="1F5FA8"/>
                </a:solidFill>
                <a:latin typeface="+mn-ea"/>
                <a:cs typeface="Noto Sans KR" pitchFamily="34" charset="-120"/>
              </a:rPr>
              <a:t> 맥락을 함께</a:t>
            </a:r>
            <a:r>
              <a:rPr lang="ko-KR" altLang="en-US" sz="2250" dirty="0">
                <a:latin typeface="+mn-ea"/>
              </a:rPr>
              <a:t> </a:t>
            </a:r>
            <a:r>
              <a:rPr lang="ko-KR" altLang="en-US" sz="2250" b="1" dirty="0">
                <a:solidFill>
                  <a:srgbClr val="1F5FA8"/>
                </a:solidFill>
                <a:latin typeface="+mn-ea"/>
                <a:cs typeface="Noto Sans KR" pitchFamily="34" charset="-120"/>
              </a:rPr>
              <a:t>활용하면</a:t>
            </a:r>
            <a:r>
              <a:rPr lang="ko-KR" altLang="en-US" sz="2250" dirty="0">
                <a:solidFill>
                  <a:srgbClr val="1B1F24"/>
                </a:solidFill>
                <a:latin typeface="+mn-ea"/>
                <a:cs typeface="Noto Sans KR" pitchFamily="34" charset="-120"/>
              </a:rPr>
              <a:t> 혐오표현 탐지 성능을 개선할 수 있는가?</a:t>
            </a:r>
            <a:endParaRPr lang="en-US" sz="2250" dirty="0">
              <a:latin typeface="+mn-ea"/>
            </a:endParaRPr>
          </a:p>
        </p:txBody>
      </p:sp>
      <p:sp>
        <p:nvSpPr>
          <p:cNvPr id="5" name="01 연구 질문 텍스트 3"/>
          <p:cNvSpPr txBox="1"/>
          <p:nvPr/>
        </p:nvSpPr>
        <p:spPr>
          <a:xfrm>
            <a:off x="609630" y="2662641"/>
            <a:ext cx="3046232" cy="242865"/>
          </a:xfrm>
          <a:prstGeom prst="rect">
            <a:avLst/>
          </a:prstGeom>
          <a:noFill/>
          <a:ln/>
        </p:spPr>
        <p:txBody>
          <a:bodyPr wrap="none" lIns="0" tIns="0" rIns="0" bIns="0" rtlCol="0" anchor="ctr"/>
          <a:lstStyle/>
          <a:p>
            <a:pPr marL="0" indent="0" algn="l">
              <a:buNone/>
            </a:pPr>
            <a:r>
              <a:rPr lang="ko-KR" altLang="en-US" sz="1275" b="1" dirty="0">
                <a:solidFill>
                  <a:srgbClr val="5B6470"/>
                </a:solidFill>
                <a:latin typeface="Noto Sans KR" pitchFamily="34" charset="0"/>
                <a:ea typeface="Noto Sans KR" pitchFamily="34" charset="-127"/>
                <a:cs typeface="Noto Sans KR" pitchFamily="34" charset="-120"/>
              </a:rPr>
              <a:t>게시글 맥락 </a:t>
            </a:r>
            <a:r>
              <a:rPr lang="ko-KR" altLang="en-US" sz="1275" dirty="0">
                <a:solidFill>
                  <a:srgbClr val="5B6470"/>
                </a:solidFill>
                <a:latin typeface="Noto Sans KR" pitchFamily="34" charset="0"/>
                <a:ea typeface="Noto Sans KR" pitchFamily="34" charset="-127"/>
                <a:cs typeface="Noto Sans KR" pitchFamily="34" charset="-120"/>
              </a:rPr>
              <a:t>(게시글 내용을 요약한 문장)</a:t>
            </a:r>
            <a:endParaRPr lang="en-US" sz="1275" dirty="0"/>
          </a:p>
        </p:txBody>
      </p:sp>
      <p:sp>
        <p:nvSpPr>
          <p:cNvPr id="6" name="01 연구 질문 텍스트 4"/>
          <p:cNvSpPr txBox="1"/>
          <p:nvPr/>
        </p:nvSpPr>
        <p:spPr>
          <a:xfrm>
            <a:off x="6286500" y="2662641"/>
            <a:ext cx="393192" cy="242865"/>
          </a:xfrm>
          <a:prstGeom prst="rect">
            <a:avLst/>
          </a:prstGeom>
          <a:noFill/>
          <a:ln/>
        </p:spPr>
        <p:txBody>
          <a:bodyPr wrap="none" lIns="0" tIns="0" rIns="0" bIns="0" rtlCol="0" anchor="ctr"/>
          <a:lstStyle/>
          <a:p>
            <a:pPr marL="0" indent="0" algn="l">
              <a:buNone/>
            </a:pPr>
            <a:r>
              <a:rPr lang="ko-KR" altLang="en-US" sz="1275" b="1" dirty="0">
                <a:solidFill>
                  <a:srgbClr val="5B6470"/>
                </a:solidFill>
                <a:latin typeface="Noto Sans KR" pitchFamily="34" charset="0"/>
                <a:ea typeface="Noto Sans KR" pitchFamily="34" charset="-127"/>
                <a:cs typeface="Noto Sans KR" pitchFamily="34" charset="-120"/>
              </a:rPr>
              <a:t>댓글</a:t>
            </a:r>
            <a:endParaRPr lang="en-US" sz="1275" dirty="0"/>
          </a:p>
        </p:txBody>
      </p:sp>
      <p:sp>
        <p:nvSpPr>
          <p:cNvPr id="7" name="01 연구 질문 텍스트 5"/>
          <p:cNvSpPr txBox="1"/>
          <p:nvPr/>
        </p:nvSpPr>
        <p:spPr>
          <a:xfrm>
            <a:off x="9963120" y="2662641"/>
            <a:ext cx="393192" cy="242865"/>
          </a:xfrm>
          <a:prstGeom prst="rect">
            <a:avLst/>
          </a:prstGeom>
          <a:noFill/>
          <a:ln/>
        </p:spPr>
        <p:txBody>
          <a:bodyPr wrap="none" lIns="0" tIns="0" rIns="0" bIns="0" rtlCol="0" anchor="ctr"/>
          <a:lstStyle/>
          <a:p>
            <a:pPr marL="0" indent="0" algn="l">
              <a:buNone/>
            </a:pPr>
            <a:r>
              <a:rPr lang="ko-KR" altLang="en-US" sz="1275" b="1" dirty="0">
                <a:solidFill>
                  <a:srgbClr val="5B6470"/>
                </a:solidFill>
                <a:latin typeface="Noto Sans KR" pitchFamily="34" charset="0"/>
                <a:ea typeface="Noto Sans KR" pitchFamily="34" charset="-127"/>
                <a:cs typeface="Noto Sans KR" pitchFamily="34" charset="-120"/>
              </a:rPr>
              <a:t>정답</a:t>
            </a:r>
            <a:endParaRPr lang="en-US" sz="1275" dirty="0"/>
          </a:p>
        </p:txBody>
      </p:sp>
      <p:sp>
        <p:nvSpPr>
          <p:cNvPr id="8" name="Shape 5"/>
          <p:cNvSpPr/>
          <p:nvPr/>
        </p:nvSpPr>
        <p:spPr>
          <a:xfrm>
            <a:off x="609630" y="3017520"/>
            <a:ext cx="5143500" cy="609630"/>
          </a:xfrm>
          <a:prstGeom prst="rect">
            <a:avLst/>
          </a:prstGeom>
          <a:solidFill>
            <a:srgbClr val="F3F5F7"/>
          </a:solidFill>
          <a:ln/>
        </p:spPr>
        <p:txBody>
          <a:bodyPr/>
          <a:lstStyle/>
          <a:p>
            <a:endParaRPr lang="ko-KR" altLang="en-US"/>
          </a:p>
        </p:txBody>
      </p:sp>
      <p:sp>
        <p:nvSpPr>
          <p:cNvPr id="9" name="01 연구 질문 텍스트 6"/>
          <p:cNvSpPr txBox="1"/>
          <p:nvPr/>
        </p:nvSpPr>
        <p:spPr>
          <a:xfrm>
            <a:off x="800100" y="3165104"/>
            <a:ext cx="4712543" cy="314371"/>
          </a:xfrm>
          <a:prstGeom prst="rect">
            <a:avLst/>
          </a:prstGeom>
          <a:noFill/>
          <a:ln/>
        </p:spPr>
        <p:txBody>
          <a:bodyPr wrap="none" lIns="0" tIns="0" rIns="0" bIns="0" rtlCol="0" anchor="ctr"/>
          <a:lstStyle/>
          <a:p>
            <a:pPr marL="0" indent="0" algn="l">
              <a:buNone/>
            </a:pPr>
            <a:r>
              <a:rPr lang="ko-KR" altLang="en-US" sz="1650" b="1" dirty="0">
                <a:solidFill>
                  <a:srgbClr val="1B1F24"/>
                </a:solidFill>
                <a:latin typeface="Noto Sans KR" pitchFamily="34" charset="0"/>
                <a:ea typeface="Noto Sans KR" pitchFamily="34" charset="-127"/>
                <a:cs typeface="Noto Sans KR" pitchFamily="34" charset="-120"/>
              </a:rPr>
              <a:t>광주광역시</a:t>
            </a:r>
            <a:r>
              <a:rPr lang="ko-KR" altLang="en-US" sz="1650" dirty="0">
                <a:solidFill>
                  <a:srgbClr val="1B1F24"/>
                </a:solidFill>
                <a:latin typeface="Noto Sans KR" pitchFamily="34" charset="0"/>
                <a:ea typeface="Noto Sans KR" pitchFamily="34" charset="-127"/>
                <a:cs typeface="Noto Sans KR" pitchFamily="34" charset="-120"/>
              </a:rPr>
              <a:t>의 맛있는 음식 다섯 가지를 소개했다.</a:t>
            </a:r>
            <a:endParaRPr lang="en-US" sz="1650" dirty="0"/>
          </a:p>
        </p:txBody>
      </p:sp>
      <p:sp>
        <p:nvSpPr>
          <p:cNvPr id="10" name="01 연구 질문 텍스트 7"/>
          <p:cNvSpPr txBox="1"/>
          <p:nvPr/>
        </p:nvSpPr>
        <p:spPr>
          <a:xfrm>
            <a:off x="5850423" y="3122310"/>
            <a:ext cx="338602" cy="400050"/>
          </a:xfrm>
          <a:prstGeom prst="rect">
            <a:avLst/>
          </a:prstGeom>
          <a:noFill/>
          <a:ln/>
        </p:spPr>
        <p:txBody>
          <a:bodyPr wrap="none" lIns="0" tIns="0" rIns="0" bIns="0" rtlCol="0" anchor="ctr"/>
          <a:lstStyle/>
          <a:p>
            <a:pPr marL="0" indent="0" algn="ctr">
              <a:buNone/>
            </a:pPr>
            <a:r>
              <a:rPr lang="ko-KR" altLang="en-US" sz="2100" dirty="0">
                <a:solidFill>
                  <a:srgbClr val="8C949D"/>
                </a:solidFill>
                <a:latin typeface="Noto Sans KR" pitchFamily="34" charset="0"/>
                <a:ea typeface="Noto Sans KR" pitchFamily="34" charset="-127"/>
                <a:cs typeface="Noto Sans KR" pitchFamily="34" charset="-120"/>
              </a:rPr>
              <a:t>+</a:t>
            </a:r>
            <a:endParaRPr lang="en-US" sz="2100" dirty="0"/>
          </a:p>
        </p:txBody>
      </p:sp>
      <p:sp>
        <p:nvSpPr>
          <p:cNvPr id="11" name="Shape 8"/>
          <p:cNvSpPr/>
          <p:nvPr/>
        </p:nvSpPr>
        <p:spPr>
          <a:xfrm>
            <a:off x="6291255" y="3022275"/>
            <a:ext cx="3133740" cy="1323960"/>
          </a:xfrm>
          <a:prstGeom prst="rect">
            <a:avLst/>
          </a:prstGeom>
          <a:ln w="9525">
            <a:solidFill>
              <a:srgbClr val="1B1F24"/>
            </a:solidFill>
            <a:prstDash val="solid"/>
          </a:ln>
        </p:spPr>
        <p:txBody>
          <a:bodyPr/>
          <a:lstStyle/>
          <a:p>
            <a:endParaRPr lang="ko-KR" altLang="en-US"/>
          </a:p>
        </p:txBody>
      </p:sp>
      <p:sp>
        <p:nvSpPr>
          <p:cNvPr id="12" name="01 연구 질문 텍스트 8"/>
          <p:cNvSpPr txBox="1"/>
          <p:nvPr/>
        </p:nvSpPr>
        <p:spPr>
          <a:xfrm>
            <a:off x="6470477" y="3379440"/>
            <a:ext cx="2775204" cy="609630"/>
          </a:xfrm>
          <a:prstGeom prst="rect">
            <a:avLst/>
          </a:prstGeom>
          <a:noFill/>
          <a:ln/>
        </p:spPr>
        <p:txBody>
          <a:bodyPr wrap="none" lIns="0" tIns="0" rIns="0" bIns="0" rtlCol="0" anchor="ctr"/>
          <a:lstStyle/>
          <a:p>
            <a:pPr marL="0" indent="0" algn="ctr">
              <a:lnSpc>
                <a:spcPts val="2400"/>
              </a:lnSpc>
              <a:buNone/>
            </a:pPr>
            <a:r>
              <a:rPr lang="ko-KR" altLang="en-US" sz="1650" dirty="0">
                <a:solidFill>
                  <a:srgbClr val="1B1F24"/>
                </a:solidFill>
                <a:latin typeface="Noto Sans KR" pitchFamily="34" charset="0"/>
                <a:ea typeface="Noto Sans KR" pitchFamily="34" charset="-127"/>
                <a:cs typeface="Noto Sans KR" pitchFamily="34" charset="-120"/>
              </a:rPr>
              <a:t>먹고싶은데 여권 들고가기</a:t>
            </a:r>
            <a:endParaRPr lang="en-US" sz="1650" dirty="0"/>
          </a:p>
          <a:p>
            <a:pPr marL="0" indent="0" algn="ctr">
              <a:lnSpc>
                <a:spcPts val="2400"/>
              </a:lnSpc>
              <a:buNone/>
            </a:pPr>
            <a:r>
              <a:rPr lang="ko-KR" altLang="en-US" sz="1650" dirty="0">
                <a:solidFill>
                  <a:srgbClr val="1B1F24"/>
                </a:solidFill>
                <a:latin typeface="Noto Sans KR" pitchFamily="34" charset="0"/>
                <a:ea typeface="Noto Sans KR" pitchFamily="34" charset="-127"/>
                <a:cs typeface="Noto Sans KR" pitchFamily="34" charset="-120"/>
              </a:rPr>
              <a:t>귀찮아::</a:t>
            </a:r>
            <a:endParaRPr lang="en-US" sz="1650" dirty="0"/>
          </a:p>
        </p:txBody>
      </p:sp>
      <p:sp>
        <p:nvSpPr>
          <p:cNvPr id="13" name="01 연구 질문 텍스트 9"/>
          <p:cNvSpPr txBox="1"/>
          <p:nvPr/>
        </p:nvSpPr>
        <p:spPr>
          <a:xfrm>
            <a:off x="9477207" y="3136575"/>
            <a:ext cx="438272" cy="371521"/>
          </a:xfrm>
          <a:prstGeom prst="rect">
            <a:avLst/>
          </a:prstGeom>
          <a:noFill/>
          <a:ln/>
        </p:spPr>
        <p:txBody>
          <a:bodyPr wrap="none" lIns="0" tIns="0" rIns="0" bIns="0" rtlCol="0" anchor="ctr"/>
          <a:lstStyle/>
          <a:p>
            <a:pPr marL="0" indent="0" algn="ctr">
              <a:buNone/>
            </a:pPr>
            <a:r>
              <a:rPr lang="ko-KR" altLang="en-US" sz="1950" dirty="0">
                <a:solidFill>
                  <a:srgbClr val="8C949D"/>
                </a:solidFill>
                <a:latin typeface="Noto Sans KR" pitchFamily="34" charset="0"/>
                <a:ea typeface="Noto Sans KR" pitchFamily="34" charset="-127"/>
                <a:cs typeface="Noto Sans KR" pitchFamily="34" charset="-120"/>
              </a:rPr>
              <a:t>→</a:t>
            </a:r>
            <a:endParaRPr lang="en-US" sz="1950" dirty="0"/>
          </a:p>
        </p:txBody>
      </p:sp>
      <p:sp>
        <p:nvSpPr>
          <p:cNvPr id="14" name="01 연구 질문 텍스트 10"/>
          <p:cNvSpPr txBox="1"/>
          <p:nvPr/>
        </p:nvSpPr>
        <p:spPr>
          <a:xfrm>
            <a:off x="9963120" y="3150840"/>
            <a:ext cx="515996" cy="342900"/>
          </a:xfrm>
          <a:prstGeom prst="rect">
            <a:avLst/>
          </a:prstGeom>
          <a:noFill/>
          <a:ln/>
        </p:spPr>
        <p:txBody>
          <a:bodyPr wrap="none" lIns="0" tIns="0" rIns="0" bIns="0" rtlCol="0" anchor="ctr"/>
          <a:lstStyle/>
          <a:p>
            <a:pPr marL="0" indent="0" algn="l">
              <a:buNone/>
            </a:pPr>
            <a:r>
              <a:rPr lang="ko-KR" altLang="en-US" sz="1800" b="1" dirty="0">
                <a:solidFill>
                  <a:srgbClr val="1F5FA8"/>
                </a:solidFill>
                <a:latin typeface="Noto Sans KR" pitchFamily="34" charset="0"/>
                <a:ea typeface="Noto Sans KR" pitchFamily="34" charset="-127"/>
                <a:cs typeface="Noto Sans KR" pitchFamily="34" charset="-120"/>
              </a:rPr>
              <a:t>혐오</a:t>
            </a:r>
            <a:endParaRPr lang="en-US" sz="1800" dirty="0"/>
          </a:p>
        </p:txBody>
      </p:sp>
      <p:sp>
        <p:nvSpPr>
          <p:cNvPr id="15" name="Shape 12"/>
          <p:cNvSpPr/>
          <p:nvPr/>
        </p:nvSpPr>
        <p:spPr>
          <a:xfrm>
            <a:off x="609630" y="3741359"/>
            <a:ext cx="5143500" cy="609630"/>
          </a:xfrm>
          <a:prstGeom prst="rect">
            <a:avLst/>
          </a:prstGeom>
          <a:solidFill>
            <a:srgbClr val="F3F5F7"/>
          </a:solidFill>
          <a:ln/>
        </p:spPr>
        <p:txBody>
          <a:bodyPr/>
          <a:lstStyle/>
          <a:p>
            <a:endParaRPr lang="ko-KR" altLang="en-US"/>
          </a:p>
        </p:txBody>
      </p:sp>
      <p:sp>
        <p:nvSpPr>
          <p:cNvPr id="16" name="01 연구 질문 텍스트 11"/>
          <p:cNvSpPr txBox="1"/>
          <p:nvPr/>
        </p:nvSpPr>
        <p:spPr>
          <a:xfrm>
            <a:off x="800100" y="3889035"/>
            <a:ext cx="4778472" cy="314371"/>
          </a:xfrm>
          <a:prstGeom prst="rect">
            <a:avLst/>
          </a:prstGeom>
          <a:noFill/>
          <a:ln/>
        </p:spPr>
        <p:txBody>
          <a:bodyPr wrap="none" lIns="0" tIns="0" rIns="0" bIns="0" rtlCol="0" anchor="ctr"/>
          <a:lstStyle/>
          <a:p>
            <a:pPr marL="0" indent="0" algn="l">
              <a:buNone/>
            </a:pPr>
            <a:r>
              <a:rPr lang="ko-KR" altLang="en-US" sz="1650" b="1" dirty="0">
                <a:solidFill>
                  <a:srgbClr val="1B1F24"/>
                </a:solidFill>
                <a:latin typeface="Noto Sans KR" pitchFamily="34" charset="0"/>
                <a:ea typeface="Noto Sans KR" pitchFamily="34" charset="-127"/>
                <a:cs typeface="Noto Sans KR" pitchFamily="34" charset="-120"/>
              </a:rPr>
              <a:t>일본 오사카</a:t>
            </a:r>
            <a:r>
              <a:rPr lang="ko-KR" altLang="en-US" sz="1650" dirty="0">
                <a:solidFill>
                  <a:srgbClr val="1B1F24"/>
                </a:solidFill>
                <a:latin typeface="Noto Sans KR" pitchFamily="34" charset="0"/>
                <a:ea typeface="Noto Sans KR" pitchFamily="34" charset="-127"/>
                <a:cs typeface="Noto Sans KR" pitchFamily="34" charset="-120"/>
              </a:rPr>
              <a:t>의 맛있는 음식 다섯 가지를 소개했다.</a:t>
            </a:r>
            <a:endParaRPr lang="en-US" sz="1650" dirty="0"/>
          </a:p>
        </p:txBody>
      </p:sp>
      <p:sp>
        <p:nvSpPr>
          <p:cNvPr id="17" name="01 연구 질문 텍스트 12"/>
          <p:cNvSpPr txBox="1"/>
          <p:nvPr/>
        </p:nvSpPr>
        <p:spPr>
          <a:xfrm>
            <a:off x="5850423" y="3846149"/>
            <a:ext cx="338602" cy="400050"/>
          </a:xfrm>
          <a:prstGeom prst="rect">
            <a:avLst/>
          </a:prstGeom>
          <a:noFill/>
          <a:ln/>
        </p:spPr>
        <p:txBody>
          <a:bodyPr wrap="none" lIns="0" tIns="0" rIns="0" bIns="0" rtlCol="0" anchor="ctr"/>
          <a:lstStyle/>
          <a:p>
            <a:pPr marL="0" indent="0" algn="ctr">
              <a:buNone/>
            </a:pPr>
            <a:r>
              <a:rPr lang="ko-KR" altLang="en-US" sz="2100" dirty="0">
                <a:solidFill>
                  <a:srgbClr val="8C949D"/>
                </a:solidFill>
                <a:latin typeface="Noto Sans KR" pitchFamily="34" charset="0"/>
                <a:ea typeface="Noto Sans KR" pitchFamily="34" charset="-127"/>
                <a:cs typeface="Noto Sans KR" pitchFamily="34" charset="-120"/>
              </a:rPr>
              <a:t>+</a:t>
            </a:r>
            <a:endParaRPr lang="en-US" sz="2100" dirty="0"/>
          </a:p>
        </p:txBody>
      </p:sp>
      <p:sp>
        <p:nvSpPr>
          <p:cNvPr id="18" name="01 연구 질문 텍스트 13"/>
          <p:cNvSpPr txBox="1"/>
          <p:nvPr/>
        </p:nvSpPr>
        <p:spPr>
          <a:xfrm>
            <a:off x="9477207" y="3860414"/>
            <a:ext cx="438272" cy="371521"/>
          </a:xfrm>
          <a:prstGeom prst="rect">
            <a:avLst/>
          </a:prstGeom>
          <a:noFill/>
          <a:ln/>
        </p:spPr>
        <p:txBody>
          <a:bodyPr wrap="none" lIns="0" tIns="0" rIns="0" bIns="0" rtlCol="0" anchor="ctr"/>
          <a:lstStyle/>
          <a:p>
            <a:pPr marL="0" indent="0" algn="ctr">
              <a:buNone/>
            </a:pPr>
            <a:r>
              <a:rPr lang="ko-KR" altLang="en-US" sz="1950" dirty="0">
                <a:solidFill>
                  <a:srgbClr val="8C949D"/>
                </a:solidFill>
                <a:latin typeface="Noto Sans KR" pitchFamily="34" charset="0"/>
                <a:ea typeface="Noto Sans KR" pitchFamily="34" charset="-127"/>
                <a:cs typeface="Noto Sans KR" pitchFamily="34" charset="-120"/>
              </a:rPr>
              <a:t>→</a:t>
            </a:r>
            <a:endParaRPr lang="en-US" sz="1950" dirty="0"/>
          </a:p>
        </p:txBody>
      </p:sp>
      <p:sp>
        <p:nvSpPr>
          <p:cNvPr id="19" name="01 연구 질문 텍스트 14"/>
          <p:cNvSpPr txBox="1"/>
          <p:nvPr/>
        </p:nvSpPr>
        <p:spPr>
          <a:xfrm>
            <a:off x="9963120" y="3874770"/>
            <a:ext cx="726308" cy="342900"/>
          </a:xfrm>
          <a:prstGeom prst="rect">
            <a:avLst/>
          </a:prstGeom>
          <a:noFill/>
          <a:ln/>
        </p:spPr>
        <p:txBody>
          <a:bodyPr wrap="none" lIns="0" tIns="0" rIns="0" bIns="0" rtlCol="0" anchor="ctr"/>
          <a:lstStyle/>
          <a:p>
            <a:pPr marL="0" indent="0" algn="l">
              <a:buNone/>
            </a:pPr>
            <a:r>
              <a:rPr lang="ko-KR" altLang="en-US" sz="1800" dirty="0">
                <a:solidFill>
                  <a:srgbClr val="5B6470"/>
                </a:solidFill>
                <a:latin typeface="Noto Sans KR" pitchFamily="34" charset="0"/>
                <a:ea typeface="Noto Sans KR" pitchFamily="34" charset="-127"/>
                <a:cs typeface="Noto Sans KR" pitchFamily="34" charset="-120"/>
              </a:rPr>
              <a:t>비혐오</a:t>
            </a:r>
            <a:endParaRPr lang="en-US" sz="1800" dirty="0"/>
          </a:p>
        </p:txBody>
      </p:sp>
      <p:sp>
        <p:nvSpPr>
          <p:cNvPr id="20" name="01 연구 질문 텍스트 15"/>
          <p:cNvSpPr txBox="1"/>
          <p:nvPr/>
        </p:nvSpPr>
        <p:spPr>
          <a:xfrm>
            <a:off x="2326051" y="5013015"/>
            <a:ext cx="7539868" cy="428671"/>
          </a:xfrm>
          <a:prstGeom prst="rect">
            <a:avLst/>
          </a:prstGeom>
          <a:noFill/>
          <a:ln/>
        </p:spPr>
        <p:txBody>
          <a:bodyPr wrap="none" lIns="0" tIns="0" rIns="0" bIns="0" rtlCol="0" anchor="ctr"/>
          <a:lstStyle/>
          <a:p>
            <a:pPr marL="0" indent="0" algn="ctr">
              <a:buNone/>
            </a:pPr>
            <a:r>
              <a:rPr lang="ko-KR" altLang="en-US" sz="2250" dirty="0">
                <a:solidFill>
                  <a:srgbClr val="3A424C"/>
                </a:solidFill>
                <a:latin typeface="Noto Sans KR" pitchFamily="34" charset="0"/>
                <a:ea typeface="Noto Sans KR" pitchFamily="34" charset="-127"/>
                <a:cs typeface="Noto Sans KR" pitchFamily="34" charset="-120"/>
              </a:rPr>
              <a:t>같은 댓글, 다른 정답 → 댓글만 보면 구분할 수 없음</a:t>
            </a:r>
            <a:endParaRPr lang="en-US" sz="2250" dirty="0"/>
          </a:p>
        </p:txBody>
      </p:sp>
      <p:sp>
        <p:nvSpPr>
          <p:cNvPr id="21" name="01 연구 질문 텍스트 16"/>
          <p:cNvSpPr txBox="1"/>
          <p:nvPr/>
        </p:nvSpPr>
        <p:spPr>
          <a:xfrm>
            <a:off x="609630" y="6384158"/>
            <a:ext cx="634328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출처: KOCOH v2 (KOrean COntext-dependent Hate speech; Park &amp; Song, 2025), Set 14</a:t>
            </a:r>
            <a:endParaRPr lang="en-US" sz="1125" dirty="0"/>
          </a:p>
        </p:txBody>
      </p:sp>
      <p:sp>
        <p:nvSpPr>
          <p:cNvPr id="22" name="01 연구 질문 텍스트 17"/>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1</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02 데이터 구성 텍스트 1"/>
          <p:cNvSpPr txBox="1"/>
          <p:nvPr/>
        </p:nvSpPr>
        <p:spPr>
          <a:xfrm>
            <a:off x="609630" y="381030"/>
            <a:ext cx="3908511"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KOCOH v2 데이터 구성</a:t>
            </a:r>
            <a:endParaRPr lang="en-US" sz="2700" dirty="0"/>
          </a:p>
        </p:txBody>
      </p:sp>
      <p:sp>
        <p:nvSpPr>
          <p:cNvPr id="4" name="02 데이터 구성 텍스트 2"/>
          <p:cNvSpPr txBox="1"/>
          <p:nvPr/>
        </p:nvSpPr>
        <p:spPr>
          <a:xfrm>
            <a:off x="609630" y="1012515"/>
            <a:ext cx="8932774" cy="285750"/>
          </a:xfrm>
          <a:prstGeom prst="rect">
            <a:avLst/>
          </a:prstGeom>
          <a:noFill/>
          <a:ln/>
        </p:spPr>
        <p:txBody>
          <a:bodyPr wrap="none" lIns="0" tIns="0" rIns="0" bIns="0" rtlCol="0" anchor="ctr"/>
          <a:lstStyle/>
          <a:p>
            <a:pPr marL="0" indent="0" algn="l">
              <a:buNone/>
            </a:pPr>
            <a:r>
              <a:rPr lang="ko-KR" altLang="en-US" sz="1500" dirty="0">
                <a:solidFill>
                  <a:srgbClr val="3A424C"/>
                </a:solidFill>
                <a:latin typeface="Noto Sans KR" pitchFamily="34" charset="0"/>
                <a:ea typeface="Noto Sans KR" pitchFamily="34" charset="-127"/>
                <a:cs typeface="Noto Sans KR" pitchFamily="34" charset="-120"/>
              </a:rPr>
              <a:t>게시글 맥락–댓글 3,000쌍 · 혐오 764행 (25.5%) · Hugging Face E-Park/KOCOH (CC BY-NC 4.0)</a:t>
            </a:r>
            <a:endParaRPr lang="en-US" sz="1500" dirty="0"/>
          </a:p>
        </p:txBody>
      </p:sp>
      <p:sp>
        <p:nvSpPr>
          <p:cNvPr id="5" name="02 데이터 구성 텍스트 3"/>
          <p:cNvSpPr txBox="1"/>
          <p:nvPr/>
        </p:nvSpPr>
        <p:spPr>
          <a:xfrm>
            <a:off x="2000067" y="1783994"/>
            <a:ext cx="2800533" cy="257221"/>
          </a:xfrm>
          <a:prstGeom prst="rect">
            <a:avLst/>
          </a:prstGeom>
          <a:noFill/>
          <a:ln/>
        </p:spPr>
        <p:txBody>
          <a:bodyPr wrap="none" lIns="0" tIns="0" rIns="0" bIns="0" rtlCol="0" anchor="ctr"/>
          <a:lstStyle/>
          <a:p>
            <a:pPr marL="0" indent="0" algn="ctr">
              <a:buNone/>
            </a:pPr>
            <a:r>
              <a:rPr lang="ko-KR" altLang="en-US" sz="1350" b="1" dirty="0">
                <a:solidFill>
                  <a:srgbClr val="1B1F24"/>
                </a:solidFill>
                <a:latin typeface="Noto Sans KR" pitchFamily="34" charset="0"/>
                <a:ea typeface="Noto Sans KR" pitchFamily="34" charset="-127"/>
                <a:cs typeface="Noto Sans KR" pitchFamily="34" charset="-120"/>
              </a:rPr>
              <a:t>같은 댓글, 정답만 반대 (764쌍)</a:t>
            </a:r>
            <a:endParaRPr lang="en-US" sz="1350" dirty="0"/>
          </a:p>
        </p:txBody>
      </p:sp>
      <p:sp>
        <p:nvSpPr>
          <p:cNvPr id="6" name="Shape 3"/>
          <p:cNvSpPr/>
          <p:nvPr/>
        </p:nvSpPr>
        <p:spPr>
          <a:xfrm>
            <a:off x="609630" y="2098365"/>
            <a:ext cx="5581680" cy="0"/>
          </a:xfrm>
          <a:prstGeom prst="line">
            <a:avLst/>
          </a:prstGeom>
          <a:noFill/>
          <a:ln w="9525">
            <a:solidFill>
              <a:srgbClr val="1B1F24"/>
            </a:solidFill>
            <a:prstDash val="solid"/>
          </a:ln>
        </p:spPr>
        <p:txBody>
          <a:bodyPr/>
          <a:lstStyle/>
          <a:p>
            <a:endParaRPr lang="ko-KR" altLang="en-US"/>
          </a:p>
        </p:txBody>
      </p:sp>
      <p:sp>
        <p:nvSpPr>
          <p:cNvPr id="7" name="Shape 4"/>
          <p:cNvSpPr/>
          <p:nvPr/>
        </p:nvSpPr>
        <p:spPr>
          <a:xfrm>
            <a:off x="614385" y="2093610"/>
            <a:ext cx="0" cy="114300"/>
          </a:xfrm>
          <a:prstGeom prst="line">
            <a:avLst/>
          </a:prstGeom>
          <a:noFill/>
          <a:ln w="9525">
            <a:solidFill>
              <a:srgbClr val="1B1F24"/>
            </a:solidFill>
            <a:prstDash val="solid"/>
          </a:ln>
        </p:spPr>
        <p:txBody>
          <a:bodyPr/>
          <a:lstStyle/>
          <a:p>
            <a:endParaRPr lang="ko-KR" altLang="en-US"/>
          </a:p>
        </p:txBody>
      </p:sp>
      <p:sp>
        <p:nvSpPr>
          <p:cNvPr id="8" name="Shape 5"/>
          <p:cNvSpPr/>
          <p:nvPr/>
        </p:nvSpPr>
        <p:spPr>
          <a:xfrm>
            <a:off x="6186465" y="2093610"/>
            <a:ext cx="0" cy="114300"/>
          </a:xfrm>
          <a:prstGeom prst="line">
            <a:avLst/>
          </a:prstGeom>
          <a:noFill/>
          <a:ln w="9525">
            <a:solidFill>
              <a:srgbClr val="1B1F24"/>
            </a:solidFill>
            <a:prstDash val="solid"/>
          </a:ln>
        </p:spPr>
        <p:txBody>
          <a:bodyPr/>
          <a:lstStyle/>
          <a:p>
            <a:endParaRPr lang="ko-KR" altLang="en-US"/>
          </a:p>
        </p:txBody>
      </p:sp>
      <p:sp>
        <p:nvSpPr>
          <p:cNvPr id="9" name="Shape 6"/>
          <p:cNvSpPr/>
          <p:nvPr/>
        </p:nvSpPr>
        <p:spPr>
          <a:xfrm>
            <a:off x="609630" y="2265060"/>
            <a:ext cx="2790840" cy="685800"/>
          </a:xfrm>
          <a:prstGeom prst="rect">
            <a:avLst/>
          </a:prstGeom>
          <a:solidFill>
            <a:srgbClr val="1F5FA8"/>
          </a:solidFill>
          <a:ln/>
        </p:spPr>
        <p:txBody>
          <a:bodyPr/>
          <a:lstStyle/>
          <a:p>
            <a:endParaRPr lang="ko-KR" altLang="en-US"/>
          </a:p>
        </p:txBody>
      </p:sp>
      <p:sp>
        <p:nvSpPr>
          <p:cNvPr id="10" name="02 데이터 구성 텍스트 4"/>
          <p:cNvSpPr txBox="1"/>
          <p:nvPr/>
        </p:nvSpPr>
        <p:spPr>
          <a:xfrm>
            <a:off x="958657" y="2465040"/>
            <a:ext cx="2092787" cy="285750"/>
          </a:xfrm>
          <a:prstGeom prst="rect">
            <a:avLst/>
          </a:prstGeom>
          <a:noFill/>
          <a:ln/>
        </p:spPr>
        <p:txBody>
          <a:bodyPr wrap="none" lIns="0" tIns="0" rIns="0" bIns="0" rtlCol="0" anchor="ctr"/>
          <a:lstStyle/>
          <a:p>
            <a:pPr marL="0" indent="0" algn="ctr">
              <a:buNone/>
            </a:pPr>
            <a:r>
              <a:rPr lang="ko-KR" altLang="en-US" sz="1500" b="1" dirty="0">
                <a:solidFill>
                  <a:srgbClr val="FFFFFF"/>
                </a:solidFill>
                <a:latin typeface="Noto Sans KR" pitchFamily="34" charset="0"/>
                <a:ea typeface="Noto Sans KR" pitchFamily="34" charset="-127"/>
                <a:cs typeface="Noto Sans KR" pitchFamily="34" charset="-120"/>
              </a:rPr>
              <a:t>Type 1 · 혐오 · 764</a:t>
            </a:r>
            <a:endParaRPr lang="en-US" sz="1500" dirty="0"/>
          </a:p>
        </p:txBody>
      </p:sp>
      <p:sp>
        <p:nvSpPr>
          <p:cNvPr id="11" name="Shape 8"/>
          <p:cNvSpPr/>
          <p:nvPr/>
        </p:nvSpPr>
        <p:spPr>
          <a:xfrm>
            <a:off x="3400471" y="2265060"/>
            <a:ext cx="2790840" cy="685800"/>
          </a:xfrm>
          <a:prstGeom prst="rect">
            <a:avLst/>
          </a:prstGeom>
          <a:solidFill>
            <a:srgbClr val="9DB8DA"/>
          </a:solidFill>
          <a:ln/>
        </p:spPr>
        <p:txBody>
          <a:bodyPr/>
          <a:lstStyle/>
          <a:p>
            <a:endParaRPr lang="ko-KR" altLang="en-US"/>
          </a:p>
        </p:txBody>
      </p:sp>
      <p:sp>
        <p:nvSpPr>
          <p:cNvPr id="12" name="02 데이터 구성 텍스트 5"/>
          <p:cNvSpPr txBox="1"/>
          <p:nvPr/>
        </p:nvSpPr>
        <p:spPr>
          <a:xfrm>
            <a:off x="3640775" y="2465040"/>
            <a:ext cx="2310140" cy="285750"/>
          </a:xfrm>
          <a:prstGeom prst="rect">
            <a:avLst/>
          </a:prstGeom>
          <a:noFill/>
          <a:ln/>
        </p:spPr>
        <p:txBody>
          <a:bodyPr wrap="none" lIns="0" tIns="0" rIns="0" bIns="0" rtlCol="0" anchor="ctr"/>
          <a:lstStyle/>
          <a:p>
            <a:pPr marL="0" indent="0" algn="ctr">
              <a:buNone/>
            </a:pPr>
            <a:r>
              <a:rPr lang="ko-KR" altLang="en-US" sz="1500" b="1" dirty="0">
                <a:solidFill>
                  <a:srgbClr val="1B1F24"/>
                </a:solidFill>
                <a:latin typeface="Noto Sans KR" pitchFamily="34" charset="0"/>
                <a:ea typeface="Noto Sans KR" pitchFamily="34" charset="-127"/>
                <a:cs typeface="Noto Sans KR" pitchFamily="34" charset="-120"/>
              </a:rPr>
              <a:t>Type 2 · 비혐오 · 764</a:t>
            </a:r>
            <a:endParaRPr lang="en-US" sz="1500" dirty="0"/>
          </a:p>
        </p:txBody>
      </p:sp>
      <p:sp>
        <p:nvSpPr>
          <p:cNvPr id="13" name="Shape 10"/>
          <p:cNvSpPr/>
          <p:nvPr/>
        </p:nvSpPr>
        <p:spPr>
          <a:xfrm>
            <a:off x="6191220" y="2265060"/>
            <a:ext cx="5391120" cy="685800"/>
          </a:xfrm>
          <a:prstGeom prst="rect">
            <a:avLst/>
          </a:prstGeom>
          <a:solidFill>
            <a:srgbClr val="D5D9DE"/>
          </a:solidFill>
          <a:ln/>
        </p:spPr>
        <p:txBody>
          <a:bodyPr/>
          <a:lstStyle/>
          <a:p>
            <a:endParaRPr lang="ko-KR" altLang="en-US"/>
          </a:p>
        </p:txBody>
      </p:sp>
      <p:sp>
        <p:nvSpPr>
          <p:cNvPr id="14" name="02 데이터 구성 텍스트 6"/>
          <p:cNvSpPr txBox="1"/>
          <p:nvPr/>
        </p:nvSpPr>
        <p:spPr>
          <a:xfrm>
            <a:off x="7623627" y="2465040"/>
            <a:ext cx="2526304" cy="285750"/>
          </a:xfrm>
          <a:prstGeom prst="rect">
            <a:avLst/>
          </a:prstGeom>
          <a:noFill/>
          <a:ln/>
        </p:spPr>
        <p:txBody>
          <a:bodyPr wrap="none" lIns="0" tIns="0" rIns="0" bIns="0" rtlCol="0" anchor="ctr"/>
          <a:lstStyle/>
          <a:p>
            <a:pPr marL="0" indent="0" algn="ctr">
              <a:buNone/>
            </a:pPr>
            <a:r>
              <a:rPr lang="ko-KR" altLang="en-US" sz="1500" b="1" dirty="0">
                <a:solidFill>
                  <a:srgbClr val="1B1F24"/>
                </a:solidFill>
                <a:latin typeface="Noto Sans KR" pitchFamily="34" charset="0"/>
                <a:ea typeface="Noto Sans KR" pitchFamily="34" charset="-127"/>
                <a:cs typeface="Noto Sans KR" pitchFamily="34" charset="-120"/>
              </a:rPr>
              <a:t>Type 3 · 비혐오 · 1,472</a:t>
            </a:r>
            <a:endParaRPr lang="en-US" sz="1500" dirty="0"/>
          </a:p>
        </p:txBody>
      </p:sp>
      <p:sp>
        <p:nvSpPr>
          <p:cNvPr id="15" name="02 데이터 구성 텍스트 7"/>
          <p:cNvSpPr txBox="1"/>
          <p:nvPr/>
        </p:nvSpPr>
        <p:spPr>
          <a:xfrm>
            <a:off x="1097829" y="3062691"/>
            <a:ext cx="1814261" cy="242865"/>
          </a:xfrm>
          <a:prstGeom prst="rect">
            <a:avLst/>
          </a:prstGeom>
          <a:noFill/>
          <a:ln/>
        </p:spPr>
        <p:txBody>
          <a:bodyPr wrap="none" lIns="0" tIns="0" rIns="0" bIns="0" rtlCol="0" anchor="ctr"/>
          <a:lstStyle/>
          <a:p>
            <a:pPr marL="0" indent="0" algn="ctr">
              <a:buNone/>
            </a:pPr>
            <a:r>
              <a:rPr lang="ko-KR" altLang="en-US" sz="1275" dirty="0">
                <a:solidFill>
                  <a:srgbClr val="3A424C"/>
                </a:solidFill>
                <a:latin typeface="Noto Sans KR" pitchFamily="34" charset="0"/>
                <a:ea typeface="Noto Sans KR" pitchFamily="34" charset="-127"/>
                <a:cs typeface="Noto Sans KR" pitchFamily="34" charset="-120"/>
              </a:rPr>
              <a:t>실제 맥락 + 실제 댓글</a:t>
            </a:r>
            <a:endParaRPr lang="en-US" sz="1275" dirty="0"/>
          </a:p>
        </p:txBody>
      </p:sp>
      <p:sp>
        <p:nvSpPr>
          <p:cNvPr id="16" name="02 데이터 구성 텍스트 8"/>
          <p:cNvSpPr txBox="1"/>
          <p:nvPr/>
        </p:nvSpPr>
        <p:spPr>
          <a:xfrm>
            <a:off x="3244931" y="3062691"/>
            <a:ext cx="3101645" cy="242865"/>
          </a:xfrm>
          <a:prstGeom prst="rect">
            <a:avLst/>
          </a:prstGeom>
          <a:noFill/>
          <a:ln/>
        </p:spPr>
        <p:txBody>
          <a:bodyPr wrap="none" lIns="0" tIns="0" rIns="0" bIns="0" rtlCol="0" anchor="ctr"/>
          <a:lstStyle/>
          <a:p>
            <a:pPr marL="0" indent="0" algn="ctr">
              <a:buNone/>
            </a:pPr>
            <a:r>
              <a:rPr lang="ko-KR" altLang="en-US" sz="1275" dirty="0">
                <a:solidFill>
                  <a:srgbClr val="3A424C"/>
                </a:solidFill>
                <a:latin typeface="Noto Sans KR" pitchFamily="34" charset="0"/>
                <a:ea typeface="Noto Sans KR" pitchFamily="34" charset="-127"/>
                <a:cs typeface="Noto Sans KR" pitchFamily="34" charset="-120"/>
              </a:rPr>
              <a:t>새로 만든 맥락 + Type 1과 같은 댓글</a:t>
            </a:r>
            <a:endParaRPr lang="en-US" sz="1275" dirty="0"/>
          </a:p>
        </p:txBody>
      </p:sp>
      <p:sp>
        <p:nvSpPr>
          <p:cNvPr id="17" name="02 데이터 구성 텍스트 9"/>
          <p:cNvSpPr txBox="1"/>
          <p:nvPr/>
        </p:nvSpPr>
        <p:spPr>
          <a:xfrm>
            <a:off x="7766822" y="3062691"/>
            <a:ext cx="2239823" cy="242865"/>
          </a:xfrm>
          <a:prstGeom prst="rect">
            <a:avLst/>
          </a:prstGeom>
          <a:noFill/>
          <a:ln/>
        </p:spPr>
        <p:txBody>
          <a:bodyPr wrap="none" lIns="0" tIns="0" rIns="0" bIns="0" rtlCol="0" anchor="ctr"/>
          <a:lstStyle/>
          <a:p>
            <a:pPr marL="0" indent="0" algn="ctr">
              <a:buNone/>
            </a:pPr>
            <a:r>
              <a:rPr lang="ko-KR" altLang="en-US" sz="1275" dirty="0">
                <a:solidFill>
                  <a:srgbClr val="3A424C"/>
                </a:solidFill>
                <a:latin typeface="Noto Sans KR" pitchFamily="34" charset="0"/>
                <a:ea typeface="Noto Sans KR" pitchFamily="34" charset="-127"/>
                <a:cs typeface="Noto Sans KR" pitchFamily="34" charset="-120"/>
              </a:rPr>
              <a:t>실제 맥락 + 다른 실제 댓글</a:t>
            </a:r>
            <a:endParaRPr lang="en-US" sz="1275" dirty="0"/>
          </a:p>
        </p:txBody>
      </p:sp>
      <p:sp>
        <p:nvSpPr>
          <p:cNvPr id="28" name="02 데이터 구성 텍스트 19"/>
          <p:cNvSpPr txBox="1"/>
          <p:nvPr/>
        </p:nvSpPr>
        <p:spPr>
          <a:xfrm>
            <a:off x="609630" y="6384158"/>
            <a:ext cx="266218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출처: KOCOH v2 (Park &amp; Song, 2025)</a:t>
            </a:r>
            <a:endParaRPr lang="en-US" sz="1125" dirty="0"/>
          </a:p>
        </p:txBody>
      </p:sp>
      <p:sp>
        <p:nvSpPr>
          <p:cNvPr id="30" name="02 데이터 구성 텍스트 21"/>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2</a:t>
            </a:r>
            <a:endParaRPr lang="en-US" sz="1125" dirty="0"/>
          </a:p>
        </p:txBody>
      </p:sp>
      <p:sp>
        <p:nvSpPr>
          <p:cNvPr id="31" name="Shape 62"/>
          <p:cNvSpPr/>
          <p:nvPr/>
        </p:nvSpPr>
        <p:spPr>
          <a:xfrm>
            <a:off x="609630" y="3611880"/>
            <a:ext cx="10972800" cy="0"/>
          </a:xfrm>
          <a:prstGeom prst="line">
            <a:avLst/>
          </a:prstGeom>
          <a:noFill/>
          <a:ln w="9525">
            <a:solidFill>
              <a:srgbClr val="D5D9DE"/>
            </a:solidFill>
            <a:prstDash val="solid"/>
          </a:ln>
        </p:spPr>
        <p:txBody>
          <a:bodyPr/>
          <a:lstStyle/>
          <a:p>
            <a:endParaRPr lang="ko-KR" altLang="en-US"/>
          </a:p>
        </p:txBody>
      </p:sp>
      <p:sp>
        <p:nvSpPr>
          <p:cNvPr id="32" name="03 분할 규칙 텍스트 4"/>
          <p:cNvSpPr txBox="1"/>
          <p:nvPr/>
        </p:nvSpPr>
        <p:spPr>
          <a:xfrm>
            <a:off x="609630" y="3794760"/>
            <a:ext cx="2011680" cy="314371"/>
          </a:xfrm>
          <a:prstGeom prst="rect">
            <a:avLst/>
          </a:prstGeom>
          <a:noFill/>
          <a:ln/>
        </p:spPr>
        <p:txBody>
          <a:bodyPr wrap="none" lIns="0" tIns="0" rIns="0" bIns="0" rtlCol="0" anchor="ctr"/>
          <a:lstStyle/>
          <a:p>
            <a:pPr marL="0" indent="0" algn="l">
              <a:buNone/>
            </a:pPr>
            <a:r>
              <a:rPr lang="ko-KR" altLang="en-US" sz="1650" b="1" dirty="0">
                <a:solidFill>
                  <a:srgbClr val="5B6470"/>
                </a:solidFill>
                <a:latin typeface="Noto Sans KR" pitchFamily="34" charset="0"/>
                <a:ea typeface="Noto Sans KR" pitchFamily="34" charset="-127"/>
                <a:cs typeface="Noto Sans KR" pitchFamily="34" charset="-120"/>
              </a:rPr>
              <a:t>행 단위로 나누면?</a:t>
            </a:r>
            <a:endParaRPr lang="en-US" sz="1650" dirty="0"/>
          </a:p>
        </p:txBody>
      </p:sp>
      <p:sp>
        <p:nvSpPr>
          <p:cNvPr id="33" name="03 분할 규칙 텍스트 2"/>
          <p:cNvSpPr txBox="1"/>
          <p:nvPr/>
        </p:nvSpPr>
        <p:spPr>
          <a:xfrm>
            <a:off x="609630" y="4160520"/>
            <a:ext cx="5639836" cy="285750"/>
          </a:xfrm>
          <a:prstGeom prst="rect">
            <a:avLst/>
          </a:prstGeom>
          <a:noFill/>
          <a:ln/>
        </p:spPr>
        <p:txBody>
          <a:bodyPr wrap="none" lIns="0" tIns="0" rIns="0" bIns="0" rtlCol="0" anchor="ctr"/>
          <a:lstStyle/>
          <a:p>
            <a:pPr marL="0" indent="0" algn="l">
              <a:buNone/>
            </a:pPr>
            <a:r>
              <a:rPr lang="ko-KR" altLang="en-US" sz="1500" dirty="0">
                <a:solidFill>
                  <a:srgbClr val="3A424C"/>
                </a:solidFill>
                <a:latin typeface="Noto Sans KR" pitchFamily="34" charset="0"/>
                <a:ea typeface="Noto Sans KR" pitchFamily="34" charset="-127"/>
                <a:cs typeface="Noto Sans KR" pitchFamily="34" charset="-120"/>
              </a:rPr>
              <a:t>같은 게시글 맥락이 여러 행에 반복 (고유 맥락 282개 / 3,000행)</a:t>
            </a:r>
            <a:endParaRPr lang="en-US" sz="1500" dirty="0"/>
          </a:p>
        </p:txBody>
      </p:sp>
      <p:sp>
        <p:nvSpPr>
          <p:cNvPr id="34" name="03 분할 규칙 텍스트 3"/>
          <p:cNvSpPr txBox="1"/>
          <p:nvPr/>
        </p:nvSpPr>
        <p:spPr>
          <a:xfrm>
            <a:off x="8476031" y="4186579"/>
            <a:ext cx="826160" cy="228600"/>
          </a:xfrm>
          <a:prstGeom prst="rect">
            <a:avLst/>
          </a:prstGeom>
          <a:noFill/>
          <a:ln/>
        </p:spPr>
        <p:txBody>
          <a:bodyPr wrap="none" lIns="0" tIns="0" rIns="0" bIns="0" rtlCol="0" anchor="ctr"/>
          <a:lstStyle/>
          <a:p>
            <a:pPr marL="0" indent="0" algn="r">
              <a:buNone/>
            </a:pPr>
            <a:r>
              <a:rPr lang="ko-KR" altLang="en-US" sz="1200" dirty="0">
                <a:solidFill>
                  <a:srgbClr val="5B6470"/>
                </a:solidFill>
                <a:latin typeface="Noto Sans KR" pitchFamily="34" charset="0"/>
                <a:ea typeface="Noto Sans KR" pitchFamily="34" charset="-127"/>
                <a:cs typeface="Noto Sans KR" pitchFamily="34" charset="-120"/>
              </a:rPr>
              <a:t>색 = 게시글</a:t>
            </a:r>
            <a:endParaRPr lang="en-US" sz="1200" dirty="0"/>
          </a:p>
        </p:txBody>
      </p:sp>
      <p:sp>
        <p:nvSpPr>
          <p:cNvPr id="35" name="Shape 3"/>
          <p:cNvSpPr/>
          <p:nvPr/>
        </p:nvSpPr>
        <p:spPr>
          <a:xfrm>
            <a:off x="7336871" y="4196089"/>
            <a:ext cx="209580" cy="209580"/>
          </a:xfrm>
          <a:prstGeom prst="rect">
            <a:avLst/>
          </a:prstGeom>
          <a:solidFill>
            <a:srgbClr val="1F5FA8"/>
          </a:solidFill>
          <a:ln/>
        </p:spPr>
        <p:txBody>
          <a:bodyPr/>
          <a:lstStyle/>
          <a:p>
            <a:endParaRPr lang="ko-KR" altLang="en-US"/>
          </a:p>
        </p:txBody>
      </p:sp>
      <p:sp>
        <p:nvSpPr>
          <p:cNvPr id="36" name="Shape 4"/>
          <p:cNvSpPr/>
          <p:nvPr/>
        </p:nvSpPr>
        <p:spPr>
          <a:xfrm>
            <a:off x="7622621" y="4196089"/>
            <a:ext cx="209580" cy="209580"/>
          </a:xfrm>
          <a:prstGeom prst="rect">
            <a:avLst/>
          </a:prstGeom>
          <a:solidFill>
            <a:srgbClr val="9DB8DA"/>
          </a:solidFill>
          <a:ln/>
        </p:spPr>
        <p:txBody>
          <a:bodyPr/>
          <a:lstStyle/>
          <a:p>
            <a:endParaRPr lang="ko-KR" altLang="en-US"/>
          </a:p>
        </p:txBody>
      </p:sp>
      <p:sp>
        <p:nvSpPr>
          <p:cNvPr id="37" name="Shape 5"/>
          <p:cNvSpPr/>
          <p:nvPr/>
        </p:nvSpPr>
        <p:spPr>
          <a:xfrm>
            <a:off x="7908371" y="4196089"/>
            <a:ext cx="209580" cy="209580"/>
          </a:xfrm>
          <a:prstGeom prst="rect">
            <a:avLst/>
          </a:prstGeom>
          <a:solidFill>
            <a:srgbClr val="5B6470"/>
          </a:solidFill>
          <a:ln/>
        </p:spPr>
        <p:txBody>
          <a:bodyPr/>
          <a:lstStyle/>
          <a:p>
            <a:endParaRPr lang="ko-KR" altLang="en-US"/>
          </a:p>
        </p:txBody>
      </p:sp>
      <p:sp>
        <p:nvSpPr>
          <p:cNvPr id="38" name="Shape 6"/>
          <p:cNvSpPr/>
          <p:nvPr/>
        </p:nvSpPr>
        <p:spPr>
          <a:xfrm>
            <a:off x="8198876" y="4200844"/>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39" name="03 분할 규칙 텍스트 5"/>
          <p:cNvSpPr txBox="1"/>
          <p:nvPr/>
        </p:nvSpPr>
        <p:spPr>
          <a:xfrm>
            <a:off x="609630" y="4575109"/>
            <a:ext cx="94448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train (학습용)</a:t>
            </a:r>
            <a:endParaRPr lang="en-US" sz="1125" dirty="0"/>
          </a:p>
        </p:txBody>
      </p:sp>
      <p:sp>
        <p:nvSpPr>
          <p:cNvPr id="40" name="Shape 9"/>
          <p:cNvSpPr/>
          <p:nvPr/>
        </p:nvSpPr>
        <p:spPr>
          <a:xfrm>
            <a:off x="614385" y="4825106"/>
            <a:ext cx="3133740" cy="752460"/>
          </a:xfrm>
          <a:prstGeom prst="rect">
            <a:avLst/>
          </a:prstGeom>
          <a:ln w="9525">
            <a:solidFill>
              <a:srgbClr val="C9CED4"/>
            </a:solidFill>
            <a:prstDash val="solid"/>
          </a:ln>
        </p:spPr>
        <p:txBody>
          <a:bodyPr/>
          <a:lstStyle/>
          <a:p>
            <a:endParaRPr lang="ko-KR" altLang="en-US"/>
          </a:p>
        </p:txBody>
      </p:sp>
      <p:sp>
        <p:nvSpPr>
          <p:cNvPr id="41" name="Shape 10"/>
          <p:cNvSpPr/>
          <p:nvPr/>
        </p:nvSpPr>
        <p:spPr>
          <a:xfrm>
            <a:off x="752460" y="4963272"/>
            <a:ext cx="209580" cy="209580"/>
          </a:xfrm>
          <a:prstGeom prst="rect">
            <a:avLst/>
          </a:prstGeom>
          <a:solidFill>
            <a:srgbClr val="1F5FA8"/>
          </a:solidFill>
          <a:ln/>
        </p:spPr>
        <p:txBody>
          <a:bodyPr/>
          <a:lstStyle/>
          <a:p>
            <a:endParaRPr lang="ko-KR" altLang="en-US"/>
          </a:p>
        </p:txBody>
      </p:sp>
      <p:sp>
        <p:nvSpPr>
          <p:cNvPr id="42" name="Shape 11"/>
          <p:cNvSpPr/>
          <p:nvPr/>
        </p:nvSpPr>
        <p:spPr>
          <a:xfrm>
            <a:off x="1019190" y="4963272"/>
            <a:ext cx="209580" cy="209580"/>
          </a:xfrm>
          <a:prstGeom prst="rect">
            <a:avLst/>
          </a:prstGeom>
          <a:solidFill>
            <a:srgbClr val="9DB8DA"/>
          </a:solidFill>
          <a:ln/>
        </p:spPr>
        <p:txBody>
          <a:bodyPr/>
          <a:lstStyle/>
          <a:p>
            <a:endParaRPr lang="ko-KR" altLang="en-US"/>
          </a:p>
        </p:txBody>
      </p:sp>
      <p:sp>
        <p:nvSpPr>
          <p:cNvPr id="43" name="Shape 12"/>
          <p:cNvSpPr/>
          <p:nvPr/>
        </p:nvSpPr>
        <p:spPr>
          <a:xfrm>
            <a:off x="1285921" y="4963272"/>
            <a:ext cx="209580" cy="209580"/>
          </a:xfrm>
          <a:prstGeom prst="rect">
            <a:avLst/>
          </a:prstGeom>
          <a:solidFill>
            <a:srgbClr val="5B6470"/>
          </a:solidFill>
          <a:ln/>
        </p:spPr>
        <p:txBody>
          <a:bodyPr/>
          <a:lstStyle/>
          <a:p>
            <a:endParaRPr lang="ko-KR" altLang="en-US"/>
          </a:p>
        </p:txBody>
      </p:sp>
      <p:sp>
        <p:nvSpPr>
          <p:cNvPr id="44" name="Shape 13"/>
          <p:cNvSpPr/>
          <p:nvPr/>
        </p:nvSpPr>
        <p:spPr>
          <a:xfrm>
            <a:off x="1557315" y="4968027"/>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45" name="Shape 14"/>
          <p:cNvSpPr/>
          <p:nvPr/>
        </p:nvSpPr>
        <p:spPr>
          <a:xfrm>
            <a:off x="1819290" y="4963272"/>
            <a:ext cx="209580" cy="209580"/>
          </a:xfrm>
          <a:prstGeom prst="rect">
            <a:avLst/>
          </a:prstGeom>
          <a:solidFill>
            <a:srgbClr val="9DB8DA"/>
          </a:solidFill>
          <a:ln/>
        </p:spPr>
        <p:txBody>
          <a:bodyPr/>
          <a:lstStyle/>
          <a:p>
            <a:endParaRPr lang="ko-KR" altLang="en-US"/>
          </a:p>
        </p:txBody>
      </p:sp>
      <p:sp>
        <p:nvSpPr>
          <p:cNvPr id="46" name="Shape 15"/>
          <p:cNvSpPr/>
          <p:nvPr/>
        </p:nvSpPr>
        <p:spPr>
          <a:xfrm>
            <a:off x="2086021" y="4963272"/>
            <a:ext cx="209580" cy="209580"/>
          </a:xfrm>
          <a:prstGeom prst="rect">
            <a:avLst/>
          </a:prstGeom>
          <a:solidFill>
            <a:srgbClr val="1F5FA8"/>
          </a:solidFill>
          <a:ln/>
        </p:spPr>
        <p:txBody>
          <a:bodyPr/>
          <a:lstStyle/>
          <a:p>
            <a:endParaRPr lang="ko-KR" altLang="en-US"/>
          </a:p>
        </p:txBody>
      </p:sp>
      <p:sp>
        <p:nvSpPr>
          <p:cNvPr id="47" name="Shape 16"/>
          <p:cNvSpPr/>
          <p:nvPr/>
        </p:nvSpPr>
        <p:spPr>
          <a:xfrm>
            <a:off x="2357415" y="4968027"/>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48" name="Shape 17"/>
          <p:cNvSpPr/>
          <p:nvPr/>
        </p:nvSpPr>
        <p:spPr>
          <a:xfrm>
            <a:off x="2619390" y="4963272"/>
            <a:ext cx="209580" cy="209580"/>
          </a:xfrm>
          <a:prstGeom prst="rect">
            <a:avLst/>
          </a:prstGeom>
          <a:solidFill>
            <a:srgbClr val="5B6470"/>
          </a:solidFill>
          <a:ln/>
        </p:spPr>
        <p:txBody>
          <a:bodyPr/>
          <a:lstStyle/>
          <a:p>
            <a:endParaRPr lang="ko-KR" altLang="en-US"/>
          </a:p>
        </p:txBody>
      </p:sp>
      <p:sp>
        <p:nvSpPr>
          <p:cNvPr id="49" name="Shape 18"/>
          <p:cNvSpPr/>
          <p:nvPr/>
        </p:nvSpPr>
        <p:spPr>
          <a:xfrm>
            <a:off x="2886121" y="4963272"/>
            <a:ext cx="209580" cy="209580"/>
          </a:xfrm>
          <a:prstGeom prst="rect">
            <a:avLst/>
          </a:prstGeom>
          <a:solidFill>
            <a:srgbClr val="5B6470"/>
          </a:solidFill>
          <a:ln/>
        </p:spPr>
        <p:txBody>
          <a:bodyPr/>
          <a:lstStyle/>
          <a:p>
            <a:endParaRPr lang="ko-KR" altLang="en-US"/>
          </a:p>
        </p:txBody>
      </p:sp>
      <p:sp>
        <p:nvSpPr>
          <p:cNvPr id="50" name="Shape 19"/>
          <p:cNvSpPr/>
          <p:nvPr/>
        </p:nvSpPr>
        <p:spPr>
          <a:xfrm>
            <a:off x="3157515" y="4968027"/>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51" name="Shape 20"/>
          <p:cNvSpPr/>
          <p:nvPr/>
        </p:nvSpPr>
        <p:spPr>
          <a:xfrm>
            <a:off x="752460" y="5230002"/>
            <a:ext cx="209580" cy="209580"/>
          </a:xfrm>
          <a:prstGeom prst="rect">
            <a:avLst/>
          </a:prstGeom>
          <a:solidFill>
            <a:srgbClr val="1F5FA8"/>
          </a:solidFill>
          <a:ln/>
        </p:spPr>
        <p:txBody>
          <a:bodyPr/>
          <a:lstStyle/>
          <a:p>
            <a:endParaRPr lang="ko-KR" altLang="en-US"/>
          </a:p>
        </p:txBody>
      </p:sp>
      <p:sp>
        <p:nvSpPr>
          <p:cNvPr id="52" name="Shape 21"/>
          <p:cNvSpPr/>
          <p:nvPr/>
        </p:nvSpPr>
        <p:spPr>
          <a:xfrm>
            <a:off x="1019190" y="5230002"/>
            <a:ext cx="209580" cy="209580"/>
          </a:xfrm>
          <a:prstGeom prst="rect">
            <a:avLst/>
          </a:prstGeom>
          <a:solidFill>
            <a:srgbClr val="9DB8DA"/>
          </a:solidFill>
          <a:ln/>
        </p:spPr>
        <p:txBody>
          <a:bodyPr/>
          <a:lstStyle/>
          <a:p>
            <a:endParaRPr lang="ko-KR" altLang="en-US"/>
          </a:p>
        </p:txBody>
      </p:sp>
      <p:sp>
        <p:nvSpPr>
          <p:cNvPr id="53" name="Shape 22"/>
          <p:cNvSpPr/>
          <p:nvPr/>
        </p:nvSpPr>
        <p:spPr>
          <a:xfrm>
            <a:off x="1290676" y="5234757"/>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54" name="Shape 23"/>
          <p:cNvSpPr/>
          <p:nvPr/>
        </p:nvSpPr>
        <p:spPr>
          <a:xfrm>
            <a:off x="1552560" y="5230002"/>
            <a:ext cx="209580" cy="209580"/>
          </a:xfrm>
          <a:prstGeom prst="rect">
            <a:avLst/>
          </a:prstGeom>
          <a:solidFill>
            <a:srgbClr val="5B6470"/>
          </a:solidFill>
          <a:ln/>
        </p:spPr>
        <p:txBody>
          <a:bodyPr/>
          <a:lstStyle/>
          <a:p>
            <a:endParaRPr lang="ko-KR" altLang="en-US"/>
          </a:p>
        </p:txBody>
      </p:sp>
      <p:sp>
        <p:nvSpPr>
          <p:cNvPr id="55" name="Shape 24"/>
          <p:cNvSpPr/>
          <p:nvPr/>
        </p:nvSpPr>
        <p:spPr>
          <a:xfrm>
            <a:off x="1819290" y="5230002"/>
            <a:ext cx="209580" cy="209580"/>
          </a:xfrm>
          <a:prstGeom prst="rect">
            <a:avLst/>
          </a:prstGeom>
          <a:solidFill>
            <a:srgbClr val="9DB8DA"/>
          </a:solidFill>
          <a:ln/>
        </p:spPr>
        <p:txBody>
          <a:bodyPr/>
          <a:lstStyle/>
          <a:p>
            <a:endParaRPr lang="ko-KR" altLang="en-US"/>
          </a:p>
        </p:txBody>
      </p:sp>
      <p:sp>
        <p:nvSpPr>
          <p:cNvPr id="56" name="Shape 25"/>
          <p:cNvSpPr/>
          <p:nvPr/>
        </p:nvSpPr>
        <p:spPr>
          <a:xfrm>
            <a:off x="2086021" y="5230002"/>
            <a:ext cx="209580" cy="209580"/>
          </a:xfrm>
          <a:prstGeom prst="rect">
            <a:avLst/>
          </a:prstGeom>
          <a:solidFill>
            <a:srgbClr val="1F5FA8"/>
          </a:solidFill>
          <a:ln/>
        </p:spPr>
        <p:txBody>
          <a:bodyPr/>
          <a:lstStyle/>
          <a:p>
            <a:endParaRPr lang="ko-KR" altLang="en-US"/>
          </a:p>
        </p:txBody>
      </p:sp>
      <p:sp>
        <p:nvSpPr>
          <p:cNvPr id="57" name="03 분할 규칙 텍스트 6"/>
          <p:cNvSpPr txBox="1"/>
          <p:nvPr/>
        </p:nvSpPr>
        <p:spPr>
          <a:xfrm>
            <a:off x="3943350" y="4575109"/>
            <a:ext cx="87462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test (평가용)</a:t>
            </a:r>
            <a:endParaRPr lang="en-US" sz="1125" dirty="0"/>
          </a:p>
        </p:txBody>
      </p:sp>
      <p:sp>
        <p:nvSpPr>
          <p:cNvPr id="58" name="Shape 27"/>
          <p:cNvSpPr/>
          <p:nvPr/>
        </p:nvSpPr>
        <p:spPr>
          <a:xfrm>
            <a:off x="3948105" y="4825106"/>
            <a:ext cx="1419240" cy="485821"/>
          </a:xfrm>
          <a:prstGeom prst="rect">
            <a:avLst/>
          </a:prstGeom>
          <a:ln w="9525">
            <a:solidFill>
              <a:srgbClr val="C9CED4"/>
            </a:solidFill>
            <a:prstDash val="solid"/>
          </a:ln>
        </p:spPr>
        <p:txBody>
          <a:bodyPr/>
          <a:lstStyle/>
          <a:p>
            <a:endParaRPr lang="ko-KR" altLang="en-US"/>
          </a:p>
        </p:txBody>
      </p:sp>
      <p:sp>
        <p:nvSpPr>
          <p:cNvPr id="59" name="Shape 28"/>
          <p:cNvSpPr/>
          <p:nvPr/>
        </p:nvSpPr>
        <p:spPr>
          <a:xfrm>
            <a:off x="4086271" y="4963272"/>
            <a:ext cx="209580" cy="209580"/>
          </a:xfrm>
          <a:prstGeom prst="rect">
            <a:avLst/>
          </a:prstGeom>
          <a:solidFill>
            <a:srgbClr val="1F5FA8"/>
          </a:solidFill>
          <a:ln/>
        </p:spPr>
        <p:txBody>
          <a:bodyPr/>
          <a:lstStyle/>
          <a:p>
            <a:endParaRPr lang="ko-KR" altLang="en-US"/>
          </a:p>
        </p:txBody>
      </p:sp>
      <p:sp>
        <p:nvSpPr>
          <p:cNvPr id="60" name="Shape 29"/>
          <p:cNvSpPr/>
          <p:nvPr/>
        </p:nvSpPr>
        <p:spPr>
          <a:xfrm>
            <a:off x="4352910" y="4963272"/>
            <a:ext cx="209580" cy="209580"/>
          </a:xfrm>
          <a:prstGeom prst="rect">
            <a:avLst/>
          </a:prstGeom>
          <a:solidFill>
            <a:srgbClr val="9DB8DA"/>
          </a:solidFill>
          <a:ln/>
        </p:spPr>
        <p:txBody>
          <a:bodyPr/>
          <a:lstStyle/>
          <a:p>
            <a:endParaRPr lang="ko-KR" altLang="en-US"/>
          </a:p>
        </p:txBody>
      </p:sp>
      <p:sp>
        <p:nvSpPr>
          <p:cNvPr id="61" name="Shape 30"/>
          <p:cNvSpPr/>
          <p:nvPr/>
        </p:nvSpPr>
        <p:spPr>
          <a:xfrm>
            <a:off x="4619640" y="4963272"/>
            <a:ext cx="209580" cy="209580"/>
          </a:xfrm>
          <a:prstGeom prst="rect">
            <a:avLst/>
          </a:prstGeom>
          <a:solidFill>
            <a:srgbClr val="5B6470"/>
          </a:solidFill>
          <a:ln/>
        </p:spPr>
        <p:txBody>
          <a:bodyPr/>
          <a:lstStyle/>
          <a:p>
            <a:endParaRPr lang="ko-KR" altLang="en-US"/>
          </a:p>
        </p:txBody>
      </p:sp>
      <p:sp>
        <p:nvSpPr>
          <p:cNvPr id="62" name="Shape 31"/>
          <p:cNvSpPr/>
          <p:nvPr/>
        </p:nvSpPr>
        <p:spPr>
          <a:xfrm>
            <a:off x="4891126" y="4968027"/>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63" name="03 분할 규칙 텍스트 7"/>
          <p:cNvSpPr txBox="1"/>
          <p:nvPr/>
        </p:nvSpPr>
        <p:spPr>
          <a:xfrm>
            <a:off x="6089904" y="4983480"/>
            <a:ext cx="3733495" cy="300015"/>
          </a:xfrm>
          <a:prstGeom prst="rect">
            <a:avLst/>
          </a:prstGeom>
          <a:noFill/>
          <a:ln/>
        </p:spPr>
        <p:txBody>
          <a:bodyPr wrap="none" lIns="0" tIns="0" rIns="0" bIns="0" rtlCol="0" anchor="ctr"/>
          <a:lstStyle/>
          <a:p>
            <a:pPr marL="0" indent="0" algn="l">
              <a:buNone/>
            </a:pPr>
            <a:r>
              <a:rPr lang="ko-KR" altLang="en-US" sz="1575" dirty="0">
                <a:solidFill>
                  <a:srgbClr val="1B1F24"/>
                </a:solidFill>
                <a:latin typeface="Noto Sans KR" pitchFamily="34" charset="0"/>
                <a:ea typeface="Noto Sans KR" pitchFamily="34" charset="-127"/>
                <a:cs typeface="Noto Sans KR" pitchFamily="34" charset="-120"/>
              </a:rPr>
              <a:t>test 맥락의 </a:t>
            </a:r>
            <a:r>
              <a:rPr lang="ko-KR" altLang="en-US" sz="1575" b="1" dirty="0">
                <a:solidFill>
                  <a:srgbClr val="1B1F24"/>
                </a:solidFill>
                <a:latin typeface="Noto Sans KR" pitchFamily="34" charset="0"/>
                <a:ea typeface="Noto Sans KR" pitchFamily="34" charset="-127"/>
                <a:cs typeface="Noto Sans KR" pitchFamily="34" charset="-120"/>
              </a:rPr>
              <a:t>97.2%</a:t>
            </a:r>
            <a:r>
              <a:rPr lang="ko-KR" altLang="en-US" sz="1575" dirty="0">
                <a:solidFill>
                  <a:srgbClr val="1B1F24"/>
                </a:solidFill>
                <a:latin typeface="Noto Sans KR" pitchFamily="34" charset="0"/>
                <a:ea typeface="Noto Sans KR" pitchFamily="34" charset="-127"/>
                <a:cs typeface="Noto Sans KR" pitchFamily="34" charset="-120"/>
              </a:rPr>
              <a:t>가 train에 이미 존재</a:t>
            </a:r>
            <a:endParaRPr lang="en-US" sz="1575" dirty="0"/>
          </a:p>
        </p:txBody>
      </p:sp>
      <p:sp>
        <p:nvSpPr>
          <p:cNvPr id="64" name="03 분할 규칙 텍스트 8"/>
          <p:cNvSpPr txBox="1"/>
          <p:nvPr/>
        </p:nvSpPr>
        <p:spPr>
          <a:xfrm>
            <a:off x="6089904" y="5349240"/>
            <a:ext cx="3427446"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이미 본 게시글로 평가하게 되어 점수가 부풀려짐</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03 분할 규칙 텍스트 1"/>
          <p:cNvSpPr txBox="1"/>
          <p:nvPr/>
        </p:nvSpPr>
        <p:spPr>
          <a:xfrm>
            <a:off x="609630" y="381030"/>
            <a:ext cx="3502609"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게시글 묶음 단위 분할</a:t>
            </a:r>
            <a:endParaRPr lang="en-US" sz="2700" dirty="0"/>
          </a:p>
        </p:txBody>
      </p:sp>
      <p:sp>
        <p:nvSpPr>
          <p:cNvPr id="4" name="03 분할 규칙 텍스트 2"/>
          <p:cNvSpPr txBox="1"/>
          <p:nvPr/>
        </p:nvSpPr>
        <p:spPr>
          <a:xfrm>
            <a:off x="609630" y="1012515"/>
            <a:ext cx="6583680" cy="285750"/>
          </a:xfrm>
          <a:prstGeom prst="rect">
            <a:avLst/>
          </a:prstGeom>
          <a:noFill/>
          <a:ln/>
        </p:spPr>
        <p:txBody>
          <a:bodyPr wrap="none" lIns="0" tIns="0" rIns="0" bIns="0" rtlCol="0" anchor="ctr"/>
          <a:lstStyle/>
          <a:p>
            <a:pPr marL="0" indent="0" algn="l">
              <a:buNone/>
            </a:pPr>
            <a:r>
              <a:rPr lang="ko-KR" altLang="en-US" sz="1500" dirty="0">
                <a:solidFill>
                  <a:srgbClr val="3A424C"/>
                </a:solidFill>
                <a:latin typeface="Noto Sans KR" pitchFamily="34" charset="0"/>
                <a:ea typeface="Noto Sans KR" pitchFamily="34" charset="-127"/>
                <a:cs typeface="Noto Sans KR" pitchFamily="34" charset="-120"/>
              </a:rPr>
              <a:t>같은 게시글이 train과 test에 나뉘어 들어가지 않도록 게시글 묶음 단위로 나눔</a:t>
            </a:r>
            <a:endParaRPr lang="en-US" sz="1500" dirty="0"/>
          </a:p>
        </p:txBody>
      </p:sp>
      <p:sp>
        <p:nvSpPr>
          <p:cNvPr id="5" name="03 분할 규칙 텍스트 3"/>
          <p:cNvSpPr txBox="1"/>
          <p:nvPr/>
        </p:nvSpPr>
        <p:spPr>
          <a:xfrm>
            <a:off x="9664751" y="1041044"/>
            <a:ext cx="826160" cy="228600"/>
          </a:xfrm>
          <a:prstGeom prst="rect">
            <a:avLst/>
          </a:prstGeom>
          <a:noFill/>
          <a:ln/>
        </p:spPr>
        <p:txBody>
          <a:bodyPr wrap="none" lIns="0" tIns="0" rIns="0" bIns="0" rtlCol="0" anchor="ctr"/>
          <a:lstStyle/>
          <a:p>
            <a:pPr marL="0" indent="0" algn="r">
              <a:buNone/>
            </a:pPr>
            <a:r>
              <a:rPr lang="ko-KR" altLang="en-US" sz="1200" dirty="0">
                <a:solidFill>
                  <a:srgbClr val="5B6470"/>
                </a:solidFill>
                <a:latin typeface="Noto Sans KR" pitchFamily="34" charset="0"/>
                <a:ea typeface="Noto Sans KR" pitchFamily="34" charset="-127"/>
                <a:cs typeface="Noto Sans KR" pitchFamily="34" charset="-120"/>
              </a:rPr>
              <a:t>색 = 게시글</a:t>
            </a:r>
            <a:endParaRPr lang="en-US" sz="1200" dirty="0"/>
          </a:p>
        </p:txBody>
      </p:sp>
      <p:sp>
        <p:nvSpPr>
          <p:cNvPr id="6" name="Shape 3"/>
          <p:cNvSpPr/>
          <p:nvPr/>
        </p:nvSpPr>
        <p:spPr>
          <a:xfrm>
            <a:off x="8525591" y="1050554"/>
            <a:ext cx="209580" cy="209580"/>
          </a:xfrm>
          <a:prstGeom prst="rect">
            <a:avLst/>
          </a:prstGeom>
          <a:solidFill>
            <a:srgbClr val="1F5FA8"/>
          </a:solidFill>
          <a:ln/>
        </p:spPr>
        <p:txBody>
          <a:bodyPr/>
          <a:lstStyle/>
          <a:p>
            <a:endParaRPr lang="ko-KR" altLang="en-US"/>
          </a:p>
        </p:txBody>
      </p:sp>
      <p:sp>
        <p:nvSpPr>
          <p:cNvPr id="7" name="Shape 4"/>
          <p:cNvSpPr/>
          <p:nvPr/>
        </p:nvSpPr>
        <p:spPr>
          <a:xfrm>
            <a:off x="8811341" y="1050554"/>
            <a:ext cx="209580" cy="209580"/>
          </a:xfrm>
          <a:prstGeom prst="rect">
            <a:avLst/>
          </a:prstGeom>
          <a:solidFill>
            <a:srgbClr val="9DB8DA"/>
          </a:solidFill>
          <a:ln/>
        </p:spPr>
        <p:txBody>
          <a:bodyPr/>
          <a:lstStyle/>
          <a:p>
            <a:endParaRPr lang="ko-KR" altLang="en-US"/>
          </a:p>
        </p:txBody>
      </p:sp>
      <p:sp>
        <p:nvSpPr>
          <p:cNvPr id="8" name="Shape 5"/>
          <p:cNvSpPr/>
          <p:nvPr/>
        </p:nvSpPr>
        <p:spPr>
          <a:xfrm>
            <a:off x="9097091" y="1050554"/>
            <a:ext cx="209580" cy="209580"/>
          </a:xfrm>
          <a:prstGeom prst="rect">
            <a:avLst/>
          </a:prstGeom>
          <a:solidFill>
            <a:srgbClr val="5B6470"/>
          </a:solidFill>
          <a:ln/>
        </p:spPr>
        <p:txBody>
          <a:bodyPr/>
          <a:lstStyle/>
          <a:p>
            <a:endParaRPr lang="ko-KR" altLang="en-US"/>
          </a:p>
        </p:txBody>
      </p:sp>
      <p:sp>
        <p:nvSpPr>
          <p:cNvPr id="9" name="Shape 6"/>
          <p:cNvSpPr/>
          <p:nvPr/>
        </p:nvSpPr>
        <p:spPr>
          <a:xfrm>
            <a:off x="9387596" y="1055309"/>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37" name="Shape 34"/>
          <p:cNvSpPr/>
          <p:nvPr/>
        </p:nvSpPr>
        <p:spPr>
          <a:xfrm>
            <a:off x="6086521" y="1502999"/>
            <a:ext cx="9510" cy="2047890"/>
          </a:xfrm>
          <a:prstGeom prst="rect">
            <a:avLst/>
          </a:prstGeom>
          <a:solidFill>
            <a:srgbClr val="D5D9DE"/>
          </a:solidFill>
          <a:ln/>
        </p:spPr>
        <p:txBody>
          <a:bodyPr/>
          <a:lstStyle/>
          <a:p>
            <a:endParaRPr lang="ko-KR" altLang="en-US"/>
          </a:p>
        </p:txBody>
      </p:sp>
      <p:sp>
        <p:nvSpPr>
          <p:cNvPr id="38" name="03 분할 규칙 텍스트 9"/>
          <p:cNvSpPr txBox="1"/>
          <p:nvPr/>
        </p:nvSpPr>
        <p:spPr>
          <a:xfrm>
            <a:off x="613837" y="1498244"/>
            <a:ext cx="2140610" cy="314371"/>
          </a:xfrm>
          <a:prstGeom prst="rect">
            <a:avLst/>
          </a:prstGeom>
          <a:noFill/>
          <a:ln/>
        </p:spPr>
        <p:txBody>
          <a:bodyPr wrap="none" lIns="0" tIns="0" rIns="0" bIns="0" rtlCol="0" anchor="ctr"/>
          <a:lstStyle/>
          <a:p>
            <a:pPr marL="0" indent="0" algn="l">
              <a:buNone/>
            </a:pPr>
            <a:r>
              <a:rPr lang="ko-KR" altLang="en-US" sz="1650" b="1" dirty="0">
                <a:solidFill>
                  <a:srgbClr val="1F5FA8"/>
                </a:solidFill>
                <a:latin typeface="Noto Sans KR" pitchFamily="34" charset="0"/>
                <a:ea typeface="Noto Sans KR" pitchFamily="34" charset="-127"/>
                <a:cs typeface="Noto Sans KR" pitchFamily="34" charset="-120"/>
              </a:rPr>
              <a:t>① 게시글 묶음 만들기</a:t>
            </a:r>
            <a:endParaRPr lang="en-US" sz="1650" dirty="0"/>
          </a:p>
        </p:txBody>
      </p:sp>
      <p:sp>
        <p:nvSpPr>
          <p:cNvPr id="39" name="03 분할 규칙 텍스트 10"/>
          <p:cNvSpPr txBox="1"/>
          <p:nvPr/>
        </p:nvSpPr>
        <p:spPr>
          <a:xfrm>
            <a:off x="613837" y="1895917"/>
            <a:ext cx="94448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train (학습용)</a:t>
            </a:r>
            <a:endParaRPr lang="en-US" sz="1125" dirty="0"/>
          </a:p>
        </p:txBody>
      </p:sp>
      <p:sp>
        <p:nvSpPr>
          <p:cNvPr id="40" name="Shape 37"/>
          <p:cNvSpPr/>
          <p:nvPr/>
        </p:nvSpPr>
        <p:spPr>
          <a:xfrm>
            <a:off x="618592" y="2145914"/>
            <a:ext cx="3133740" cy="752460"/>
          </a:xfrm>
          <a:prstGeom prst="rect">
            <a:avLst/>
          </a:prstGeom>
          <a:ln w="9525">
            <a:solidFill>
              <a:srgbClr val="C9CED4"/>
            </a:solidFill>
            <a:prstDash val="solid"/>
          </a:ln>
        </p:spPr>
        <p:txBody>
          <a:bodyPr/>
          <a:lstStyle/>
          <a:p>
            <a:endParaRPr lang="ko-KR" altLang="en-US"/>
          </a:p>
        </p:txBody>
      </p:sp>
      <p:sp>
        <p:nvSpPr>
          <p:cNvPr id="41" name="Shape 38"/>
          <p:cNvSpPr/>
          <p:nvPr/>
        </p:nvSpPr>
        <p:spPr>
          <a:xfrm>
            <a:off x="756666" y="2284080"/>
            <a:ext cx="209580" cy="209580"/>
          </a:xfrm>
          <a:prstGeom prst="rect">
            <a:avLst/>
          </a:prstGeom>
          <a:solidFill>
            <a:srgbClr val="1F5FA8"/>
          </a:solidFill>
          <a:ln/>
        </p:spPr>
        <p:txBody>
          <a:bodyPr/>
          <a:lstStyle/>
          <a:p>
            <a:endParaRPr lang="ko-KR" altLang="en-US"/>
          </a:p>
        </p:txBody>
      </p:sp>
      <p:sp>
        <p:nvSpPr>
          <p:cNvPr id="42" name="Shape 39"/>
          <p:cNvSpPr/>
          <p:nvPr/>
        </p:nvSpPr>
        <p:spPr>
          <a:xfrm>
            <a:off x="1023396" y="2284080"/>
            <a:ext cx="209580" cy="209580"/>
          </a:xfrm>
          <a:prstGeom prst="rect">
            <a:avLst/>
          </a:prstGeom>
          <a:solidFill>
            <a:srgbClr val="1F5FA8"/>
          </a:solidFill>
          <a:ln/>
        </p:spPr>
        <p:txBody>
          <a:bodyPr/>
          <a:lstStyle/>
          <a:p>
            <a:endParaRPr lang="ko-KR" altLang="en-US"/>
          </a:p>
        </p:txBody>
      </p:sp>
      <p:sp>
        <p:nvSpPr>
          <p:cNvPr id="43" name="Shape 40"/>
          <p:cNvSpPr/>
          <p:nvPr/>
        </p:nvSpPr>
        <p:spPr>
          <a:xfrm>
            <a:off x="1290036" y="2284080"/>
            <a:ext cx="209580" cy="209580"/>
          </a:xfrm>
          <a:prstGeom prst="rect">
            <a:avLst/>
          </a:prstGeom>
          <a:solidFill>
            <a:srgbClr val="1F5FA8"/>
          </a:solidFill>
          <a:ln/>
        </p:spPr>
        <p:txBody>
          <a:bodyPr/>
          <a:lstStyle/>
          <a:p>
            <a:endParaRPr lang="ko-KR" altLang="en-US"/>
          </a:p>
        </p:txBody>
      </p:sp>
      <p:sp>
        <p:nvSpPr>
          <p:cNvPr id="44" name="Shape 41"/>
          <p:cNvSpPr/>
          <p:nvPr/>
        </p:nvSpPr>
        <p:spPr>
          <a:xfrm>
            <a:off x="1556766" y="2284080"/>
            <a:ext cx="209580" cy="209580"/>
          </a:xfrm>
          <a:prstGeom prst="rect">
            <a:avLst/>
          </a:prstGeom>
          <a:solidFill>
            <a:srgbClr val="1F5FA8"/>
          </a:solidFill>
          <a:ln/>
        </p:spPr>
        <p:txBody>
          <a:bodyPr/>
          <a:lstStyle/>
          <a:p>
            <a:endParaRPr lang="ko-KR" altLang="en-US"/>
          </a:p>
        </p:txBody>
      </p:sp>
      <p:sp>
        <p:nvSpPr>
          <p:cNvPr id="45" name="Shape 42"/>
          <p:cNvSpPr/>
          <p:nvPr/>
        </p:nvSpPr>
        <p:spPr>
          <a:xfrm>
            <a:off x="1823496" y="2284080"/>
            <a:ext cx="209580" cy="209580"/>
          </a:xfrm>
          <a:prstGeom prst="rect">
            <a:avLst/>
          </a:prstGeom>
          <a:solidFill>
            <a:srgbClr val="1F5FA8"/>
          </a:solidFill>
          <a:ln/>
        </p:spPr>
        <p:txBody>
          <a:bodyPr/>
          <a:lstStyle/>
          <a:p>
            <a:endParaRPr lang="ko-KR" altLang="en-US"/>
          </a:p>
        </p:txBody>
      </p:sp>
      <p:sp>
        <p:nvSpPr>
          <p:cNvPr id="46" name="Shape 43"/>
          <p:cNvSpPr/>
          <p:nvPr/>
        </p:nvSpPr>
        <p:spPr>
          <a:xfrm>
            <a:off x="2090136" y="2284080"/>
            <a:ext cx="209580" cy="209580"/>
          </a:xfrm>
          <a:prstGeom prst="rect">
            <a:avLst/>
          </a:prstGeom>
          <a:solidFill>
            <a:srgbClr val="9DB8DA"/>
          </a:solidFill>
          <a:ln/>
        </p:spPr>
        <p:txBody>
          <a:bodyPr/>
          <a:lstStyle/>
          <a:p>
            <a:endParaRPr lang="ko-KR" altLang="en-US"/>
          </a:p>
        </p:txBody>
      </p:sp>
      <p:sp>
        <p:nvSpPr>
          <p:cNvPr id="47" name="Shape 44"/>
          <p:cNvSpPr/>
          <p:nvPr/>
        </p:nvSpPr>
        <p:spPr>
          <a:xfrm>
            <a:off x="2356866" y="2284080"/>
            <a:ext cx="209580" cy="209580"/>
          </a:xfrm>
          <a:prstGeom prst="rect">
            <a:avLst/>
          </a:prstGeom>
          <a:solidFill>
            <a:srgbClr val="9DB8DA"/>
          </a:solidFill>
          <a:ln/>
        </p:spPr>
        <p:txBody>
          <a:bodyPr/>
          <a:lstStyle/>
          <a:p>
            <a:endParaRPr lang="ko-KR" altLang="en-US"/>
          </a:p>
        </p:txBody>
      </p:sp>
      <p:sp>
        <p:nvSpPr>
          <p:cNvPr id="48" name="Shape 45"/>
          <p:cNvSpPr/>
          <p:nvPr/>
        </p:nvSpPr>
        <p:spPr>
          <a:xfrm>
            <a:off x="2623596" y="2284080"/>
            <a:ext cx="209580" cy="209580"/>
          </a:xfrm>
          <a:prstGeom prst="rect">
            <a:avLst/>
          </a:prstGeom>
          <a:solidFill>
            <a:srgbClr val="9DB8DA"/>
          </a:solidFill>
          <a:ln/>
        </p:spPr>
        <p:txBody>
          <a:bodyPr/>
          <a:lstStyle/>
          <a:p>
            <a:endParaRPr lang="ko-KR" altLang="en-US"/>
          </a:p>
        </p:txBody>
      </p:sp>
      <p:sp>
        <p:nvSpPr>
          <p:cNvPr id="49" name="Shape 46"/>
          <p:cNvSpPr/>
          <p:nvPr/>
        </p:nvSpPr>
        <p:spPr>
          <a:xfrm>
            <a:off x="2890236" y="2284080"/>
            <a:ext cx="209580" cy="209580"/>
          </a:xfrm>
          <a:prstGeom prst="rect">
            <a:avLst/>
          </a:prstGeom>
          <a:solidFill>
            <a:srgbClr val="9DB8DA"/>
          </a:solidFill>
          <a:ln/>
        </p:spPr>
        <p:txBody>
          <a:bodyPr/>
          <a:lstStyle/>
          <a:p>
            <a:endParaRPr lang="ko-KR" altLang="en-US"/>
          </a:p>
        </p:txBody>
      </p:sp>
      <p:sp>
        <p:nvSpPr>
          <p:cNvPr id="50" name="Shape 47"/>
          <p:cNvSpPr/>
          <p:nvPr/>
        </p:nvSpPr>
        <p:spPr>
          <a:xfrm>
            <a:off x="3156966" y="2284080"/>
            <a:ext cx="209580" cy="209580"/>
          </a:xfrm>
          <a:prstGeom prst="rect">
            <a:avLst/>
          </a:prstGeom>
          <a:solidFill>
            <a:srgbClr val="9DB8DA"/>
          </a:solidFill>
          <a:ln/>
        </p:spPr>
        <p:txBody>
          <a:bodyPr/>
          <a:lstStyle/>
          <a:p>
            <a:endParaRPr lang="ko-KR" altLang="en-US"/>
          </a:p>
        </p:txBody>
      </p:sp>
      <p:sp>
        <p:nvSpPr>
          <p:cNvPr id="51" name="Shape 48"/>
          <p:cNvSpPr/>
          <p:nvPr/>
        </p:nvSpPr>
        <p:spPr>
          <a:xfrm>
            <a:off x="756666" y="2550810"/>
            <a:ext cx="209580" cy="209580"/>
          </a:xfrm>
          <a:prstGeom prst="rect">
            <a:avLst/>
          </a:prstGeom>
          <a:solidFill>
            <a:srgbClr val="5B6470"/>
          </a:solidFill>
          <a:ln/>
        </p:spPr>
        <p:txBody>
          <a:bodyPr/>
          <a:lstStyle/>
          <a:p>
            <a:endParaRPr lang="ko-KR" altLang="en-US"/>
          </a:p>
        </p:txBody>
      </p:sp>
      <p:sp>
        <p:nvSpPr>
          <p:cNvPr id="52" name="Shape 49"/>
          <p:cNvSpPr/>
          <p:nvPr/>
        </p:nvSpPr>
        <p:spPr>
          <a:xfrm>
            <a:off x="1023396" y="2550810"/>
            <a:ext cx="209580" cy="209580"/>
          </a:xfrm>
          <a:prstGeom prst="rect">
            <a:avLst/>
          </a:prstGeom>
          <a:solidFill>
            <a:srgbClr val="5B6470"/>
          </a:solidFill>
          <a:ln/>
        </p:spPr>
        <p:txBody>
          <a:bodyPr/>
          <a:lstStyle/>
          <a:p>
            <a:endParaRPr lang="ko-KR" altLang="en-US"/>
          </a:p>
        </p:txBody>
      </p:sp>
      <p:sp>
        <p:nvSpPr>
          <p:cNvPr id="53" name="Shape 50"/>
          <p:cNvSpPr/>
          <p:nvPr/>
        </p:nvSpPr>
        <p:spPr>
          <a:xfrm>
            <a:off x="1290036" y="2550810"/>
            <a:ext cx="209580" cy="209580"/>
          </a:xfrm>
          <a:prstGeom prst="rect">
            <a:avLst/>
          </a:prstGeom>
          <a:solidFill>
            <a:srgbClr val="5B6470"/>
          </a:solidFill>
          <a:ln/>
        </p:spPr>
        <p:txBody>
          <a:bodyPr/>
          <a:lstStyle/>
          <a:p>
            <a:endParaRPr lang="ko-KR" altLang="en-US"/>
          </a:p>
        </p:txBody>
      </p:sp>
      <p:sp>
        <p:nvSpPr>
          <p:cNvPr id="54" name="Shape 51"/>
          <p:cNvSpPr/>
          <p:nvPr/>
        </p:nvSpPr>
        <p:spPr>
          <a:xfrm>
            <a:off x="1556766" y="2550810"/>
            <a:ext cx="209580" cy="209580"/>
          </a:xfrm>
          <a:prstGeom prst="rect">
            <a:avLst/>
          </a:prstGeom>
          <a:solidFill>
            <a:srgbClr val="5B6470"/>
          </a:solidFill>
          <a:ln/>
        </p:spPr>
        <p:txBody>
          <a:bodyPr/>
          <a:lstStyle/>
          <a:p>
            <a:endParaRPr lang="ko-KR" altLang="en-US"/>
          </a:p>
        </p:txBody>
      </p:sp>
      <p:sp>
        <p:nvSpPr>
          <p:cNvPr id="55" name="Shape 52"/>
          <p:cNvSpPr/>
          <p:nvPr/>
        </p:nvSpPr>
        <p:spPr>
          <a:xfrm>
            <a:off x="1823496" y="2550810"/>
            <a:ext cx="209580" cy="209580"/>
          </a:xfrm>
          <a:prstGeom prst="rect">
            <a:avLst/>
          </a:prstGeom>
          <a:solidFill>
            <a:srgbClr val="5B6470"/>
          </a:solidFill>
          <a:ln/>
        </p:spPr>
        <p:txBody>
          <a:bodyPr/>
          <a:lstStyle/>
          <a:p>
            <a:endParaRPr lang="ko-KR" altLang="en-US"/>
          </a:p>
        </p:txBody>
      </p:sp>
      <p:sp>
        <p:nvSpPr>
          <p:cNvPr id="56" name="Shape 53"/>
          <p:cNvSpPr/>
          <p:nvPr/>
        </p:nvSpPr>
        <p:spPr>
          <a:xfrm>
            <a:off x="2090136" y="2550810"/>
            <a:ext cx="209580" cy="209580"/>
          </a:xfrm>
          <a:prstGeom prst="rect">
            <a:avLst/>
          </a:prstGeom>
          <a:solidFill>
            <a:srgbClr val="5B6470"/>
          </a:solidFill>
          <a:ln/>
        </p:spPr>
        <p:txBody>
          <a:bodyPr/>
          <a:lstStyle/>
          <a:p>
            <a:endParaRPr lang="ko-KR" altLang="en-US"/>
          </a:p>
        </p:txBody>
      </p:sp>
      <p:sp>
        <p:nvSpPr>
          <p:cNvPr id="57" name="03 분할 규칙 텍스트 11"/>
          <p:cNvSpPr txBox="1"/>
          <p:nvPr/>
        </p:nvSpPr>
        <p:spPr>
          <a:xfrm>
            <a:off x="3947556" y="1895917"/>
            <a:ext cx="87462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test (평가용)</a:t>
            </a:r>
            <a:endParaRPr lang="en-US" sz="1125" dirty="0"/>
          </a:p>
        </p:txBody>
      </p:sp>
      <p:sp>
        <p:nvSpPr>
          <p:cNvPr id="58" name="Shape 55"/>
          <p:cNvSpPr/>
          <p:nvPr/>
        </p:nvSpPr>
        <p:spPr>
          <a:xfrm>
            <a:off x="3952311" y="2145914"/>
            <a:ext cx="1419240" cy="485821"/>
          </a:xfrm>
          <a:prstGeom prst="rect">
            <a:avLst/>
          </a:prstGeom>
          <a:ln w="9525">
            <a:solidFill>
              <a:srgbClr val="1F5FA8"/>
            </a:solidFill>
            <a:prstDash val="solid"/>
          </a:ln>
        </p:spPr>
        <p:txBody>
          <a:bodyPr/>
          <a:lstStyle/>
          <a:p>
            <a:endParaRPr lang="ko-KR" altLang="en-US"/>
          </a:p>
        </p:txBody>
      </p:sp>
      <p:sp>
        <p:nvSpPr>
          <p:cNvPr id="59" name="Shape 56"/>
          <p:cNvSpPr/>
          <p:nvPr/>
        </p:nvSpPr>
        <p:spPr>
          <a:xfrm>
            <a:off x="4095140" y="2288835"/>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60" name="Shape 57"/>
          <p:cNvSpPr/>
          <p:nvPr/>
        </p:nvSpPr>
        <p:spPr>
          <a:xfrm>
            <a:off x="4361871" y="2288835"/>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61" name="Shape 58"/>
          <p:cNvSpPr/>
          <p:nvPr/>
        </p:nvSpPr>
        <p:spPr>
          <a:xfrm>
            <a:off x="4628601" y="2288835"/>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62" name="Shape 59"/>
          <p:cNvSpPr/>
          <p:nvPr/>
        </p:nvSpPr>
        <p:spPr>
          <a:xfrm>
            <a:off x="4895240" y="2288835"/>
            <a:ext cx="200071" cy="200071"/>
          </a:xfrm>
          <a:prstGeom prst="rect">
            <a:avLst/>
          </a:prstGeom>
          <a:solidFill>
            <a:srgbClr val="FFFFFF"/>
          </a:solidFill>
          <a:ln w="9525">
            <a:solidFill>
              <a:srgbClr val="5B6470"/>
            </a:solidFill>
            <a:prstDash val="solid"/>
          </a:ln>
        </p:spPr>
        <p:txBody>
          <a:bodyPr/>
          <a:lstStyle/>
          <a:p>
            <a:endParaRPr lang="ko-KR" altLang="en-US"/>
          </a:p>
        </p:txBody>
      </p:sp>
      <p:sp>
        <p:nvSpPr>
          <p:cNvPr id="63" name="03 분할 규칙 텍스트 12"/>
          <p:cNvSpPr txBox="1"/>
          <p:nvPr/>
        </p:nvSpPr>
        <p:spPr>
          <a:xfrm>
            <a:off x="613837" y="3010388"/>
            <a:ext cx="2432761" cy="300015"/>
          </a:xfrm>
          <a:prstGeom prst="rect">
            <a:avLst/>
          </a:prstGeom>
          <a:noFill/>
          <a:ln/>
        </p:spPr>
        <p:txBody>
          <a:bodyPr wrap="none" lIns="0" tIns="0" rIns="0" bIns="0" rtlCol="0" anchor="ctr"/>
          <a:lstStyle/>
          <a:p>
            <a:pPr marL="0" indent="0" algn="l">
              <a:buNone/>
            </a:pPr>
            <a:r>
              <a:rPr lang="ko-KR" altLang="en-US" sz="1575" dirty="0">
                <a:solidFill>
                  <a:srgbClr val="1B1F24"/>
                </a:solidFill>
                <a:latin typeface="Noto Sans KR" pitchFamily="34" charset="0"/>
                <a:ea typeface="Noto Sans KR" pitchFamily="34" charset="-127"/>
                <a:cs typeface="Noto Sans KR" pitchFamily="34" charset="-120"/>
              </a:rPr>
              <a:t>test는 처음 보는 게시글만</a:t>
            </a:r>
            <a:endParaRPr lang="en-US" sz="1575" dirty="0"/>
          </a:p>
        </p:txBody>
      </p:sp>
      <p:sp>
        <p:nvSpPr>
          <p:cNvPr id="64" name="03 분할 규칙 텍스트 13"/>
          <p:cNvSpPr txBox="1"/>
          <p:nvPr/>
        </p:nvSpPr>
        <p:spPr>
          <a:xfrm>
            <a:off x="613837" y="3322290"/>
            <a:ext cx="4479920"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같은 맥락 문장을 쓰는 게시글(Set)끼리 합침: 101개 → 77 묶음</a:t>
            </a:r>
            <a:endParaRPr lang="en-US" sz="1200" dirty="0"/>
          </a:p>
        </p:txBody>
      </p:sp>
      <p:sp>
        <p:nvSpPr>
          <p:cNvPr id="65" name="Shape 62"/>
          <p:cNvSpPr/>
          <p:nvPr/>
        </p:nvSpPr>
        <p:spPr>
          <a:xfrm>
            <a:off x="609630" y="3765225"/>
            <a:ext cx="10972800" cy="0"/>
          </a:xfrm>
          <a:prstGeom prst="line">
            <a:avLst/>
          </a:prstGeom>
          <a:noFill/>
          <a:ln w="9525">
            <a:solidFill>
              <a:srgbClr val="D5D9DE"/>
            </a:solidFill>
            <a:prstDash val="solid"/>
          </a:ln>
        </p:spPr>
        <p:txBody>
          <a:bodyPr/>
          <a:lstStyle/>
          <a:p>
            <a:endParaRPr lang="ko-KR" altLang="en-US"/>
          </a:p>
        </p:txBody>
      </p:sp>
      <p:sp>
        <p:nvSpPr>
          <p:cNvPr id="66" name="03 분할 규칙 텍스트 14"/>
          <p:cNvSpPr txBox="1"/>
          <p:nvPr/>
        </p:nvSpPr>
        <p:spPr>
          <a:xfrm>
            <a:off x="609630" y="3917564"/>
            <a:ext cx="1809872" cy="285750"/>
          </a:xfrm>
          <a:prstGeom prst="rect">
            <a:avLst/>
          </a:prstGeom>
          <a:noFill/>
          <a:ln/>
        </p:spPr>
        <p:txBody>
          <a:bodyPr wrap="none" lIns="0" tIns="0" rIns="0" bIns="0" rtlCol="0" anchor="ctr"/>
          <a:lstStyle/>
          <a:p>
            <a:pPr marL="0" indent="0" algn="l">
              <a:buNone/>
            </a:pPr>
            <a:r>
              <a:rPr lang="ko-KR" altLang="en-US" sz="1500" b="1" dirty="0">
                <a:solidFill>
                  <a:srgbClr val="1B1F24"/>
                </a:solidFill>
                <a:latin typeface="Noto Sans KR" pitchFamily="34" charset="0"/>
                <a:ea typeface="Noto Sans KR" pitchFamily="34" charset="-127"/>
                <a:cs typeface="Noto Sans KR" pitchFamily="34" charset="-120"/>
              </a:rPr>
              <a:t>② test 정하기 · 5-fold</a:t>
            </a:r>
            <a:endParaRPr lang="en-US" sz="1500" dirty="0"/>
          </a:p>
        </p:txBody>
      </p:sp>
      <p:sp>
        <p:nvSpPr>
          <p:cNvPr id="67" name="03 분할 규칙 텍스트 15"/>
          <p:cNvSpPr txBox="1"/>
          <p:nvPr/>
        </p:nvSpPr>
        <p:spPr>
          <a:xfrm>
            <a:off x="609630" y="4210538"/>
            <a:ext cx="3060588"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묶음 단위로 5등분 · 혐오 비율 유지 · seed 42</a:t>
            </a:r>
            <a:endParaRPr lang="en-US" sz="1125" dirty="0"/>
          </a:p>
        </p:txBody>
      </p:sp>
      <p:sp>
        <p:nvSpPr>
          <p:cNvPr id="68" name="Shape 65"/>
          <p:cNvSpPr/>
          <p:nvPr/>
        </p:nvSpPr>
        <p:spPr>
          <a:xfrm>
            <a:off x="609630" y="4512930"/>
            <a:ext cx="914400" cy="190470"/>
          </a:xfrm>
          <a:prstGeom prst="rect">
            <a:avLst/>
          </a:prstGeom>
          <a:solidFill>
            <a:srgbClr val="1F5FA8"/>
          </a:solidFill>
          <a:ln/>
        </p:spPr>
        <p:txBody>
          <a:bodyPr/>
          <a:lstStyle/>
          <a:p>
            <a:endParaRPr lang="ko-KR" altLang="en-US"/>
          </a:p>
        </p:txBody>
      </p:sp>
      <p:sp>
        <p:nvSpPr>
          <p:cNvPr id="69" name="03 분할 규칙 텍스트 16"/>
          <p:cNvSpPr txBox="1"/>
          <p:nvPr/>
        </p:nvSpPr>
        <p:spPr>
          <a:xfrm>
            <a:off x="855330" y="4515307"/>
            <a:ext cx="422819" cy="185715"/>
          </a:xfrm>
          <a:prstGeom prst="rect">
            <a:avLst/>
          </a:prstGeom>
          <a:noFill/>
          <a:ln/>
        </p:spPr>
        <p:txBody>
          <a:bodyPr wrap="none" lIns="0" tIns="0" rIns="0" bIns="0" rtlCol="0" anchor="ctr"/>
          <a:lstStyle/>
          <a:p>
            <a:pPr marL="0" indent="0" algn="ctr">
              <a:buNone/>
            </a:pPr>
            <a:r>
              <a:rPr lang="ko-KR" altLang="en-US" sz="975" b="1" dirty="0">
                <a:solidFill>
                  <a:srgbClr val="FFFFFF"/>
                </a:solidFill>
                <a:latin typeface="Noto Sans KR" pitchFamily="34" charset="0"/>
                <a:ea typeface="Noto Sans KR" pitchFamily="34" charset="-127"/>
                <a:cs typeface="Noto Sans KR" pitchFamily="34" charset="-120"/>
              </a:rPr>
              <a:t>test</a:t>
            </a:r>
            <a:endParaRPr lang="en-US" sz="975" dirty="0"/>
          </a:p>
        </p:txBody>
      </p:sp>
      <p:sp>
        <p:nvSpPr>
          <p:cNvPr id="70" name="Shape 67"/>
          <p:cNvSpPr/>
          <p:nvPr/>
        </p:nvSpPr>
        <p:spPr>
          <a:xfrm>
            <a:off x="1571671" y="4512930"/>
            <a:ext cx="914400" cy="190470"/>
          </a:xfrm>
          <a:prstGeom prst="rect">
            <a:avLst/>
          </a:prstGeom>
          <a:solidFill>
            <a:srgbClr val="E3E6EA"/>
          </a:solidFill>
          <a:ln/>
        </p:spPr>
        <p:txBody>
          <a:bodyPr/>
          <a:lstStyle/>
          <a:p>
            <a:endParaRPr lang="ko-KR" altLang="en-US"/>
          </a:p>
        </p:txBody>
      </p:sp>
      <p:sp>
        <p:nvSpPr>
          <p:cNvPr id="71" name="03 분할 규칙 텍스트 17"/>
          <p:cNvSpPr txBox="1"/>
          <p:nvPr/>
        </p:nvSpPr>
        <p:spPr>
          <a:xfrm>
            <a:off x="1798168"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72" name="Shape 69"/>
          <p:cNvSpPr/>
          <p:nvPr/>
        </p:nvSpPr>
        <p:spPr>
          <a:xfrm>
            <a:off x="2533620" y="4512930"/>
            <a:ext cx="914400" cy="190470"/>
          </a:xfrm>
          <a:prstGeom prst="rect">
            <a:avLst/>
          </a:prstGeom>
          <a:solidFill>
            <a:srgbClr val="E3E6EA"/>
          </a:solidFill>
          <a:ln/>
        </p:spPr>
        <p:txBody>
          <a:bodyPr/>
          <a:lstStyle/>
          <a:p>
            <a:endParaRPr lang="ko-KR" altLang="en-US"/>
          </a:p>
        </p:txBody>
      </p:sp>
      <p:sp>
        <p:nvSpPr>
          <p:cNvPr id="73" name="03 분할 규칙 텍스트 18"/>
          <p:cNvSpPr txBox="1"/>
          <p:nvPr/>
        </p:nvSpPr>
        <p:spPr>
          <a:xfrm>
            <a:off x="2760208"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74" name="Shape 71"/>
          <p:cNvSpPr/>
          <p:nvPr/>
        </p:nvSpPr>
        <p:spPr>
          <a:xfrm>
            <a:off x="3495660" y="4512930"/>
            <a:ext cx="914400" cy="190470"/>
          </a:xfrm>
          <a:prstGeom prst="rect">
            <a:avLst/>
          </a:prstGeom>
          <a:solidFill>
            <a:srgbClr val="E3E6EA"/>
          </a:solidFill>
          <a:ln/>
        </p:spPr>
        <p:txBody>
          <a:bodyPr/>
          <a:lstStyle/>
          <a:p>
            <a:endParaRPr lang="ko-KR" altLang="en-US"/>
          </a:p>
        </p:txBody>
      </p:sp>
      <p:sp>
        <p:nvSpPr>
          <p:cNvPr id="75" name="03 분할 규칙 텍스트 19"/>
          <p:cNvSpPr txBox="1"/>
          <p:nvPr/>
        </p:nvSpPr>
        <p:spPr>
          <a:xfrm>
            <a:off x="3722157"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76" name="Shape 73"/>
          <p:cNvSpPr/>
          <p:nvPr/>
        </p:nvSpPr>
        <p:spPr>
          <a:xfrm>
            <a:off x="4457700" y="4512930"/>
            <a:ext cx="914400" cy="190470"/>
          </a:xfrm>
          <a:prstGeom prst="rect">
            <a:avLst/>
          </a:prstGeom>
          <a:solidFill>
            <a:srgbClr val="E3E6EA"/>
          </a:solidFill>
          <a:ln/>
        </p:spPr>
        <p:txBody>
          <a:bodyPr/>
          <a:lstStyle/>
          <a:p>
            <a:endParaRPr lang="ko-KR" altLang="en-US"/>
          </a:p>
        </p:txBody>
      </p:sp>
      <p:sp>
        <p:nvSpPr>
          <p:cNvPr id="77" name="03 분할 규칙 텍스트 20"/>
          <p:cNvSpPr txBox="1"/>
          <p:nvPr/>
        </p:nvSpPr>
        <p:spPr>
          <a:xfrm>
            <a:off x="4684197"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78" name="Shape 75"/>
          <p:cNvSpPr/>
          <p:nvPr/>
        </p:nvSpPr>
        <p:spPr>
          <a:xfrm>
            <a:off x="609630" y="4741530"/>
            <a:ext cx="914400" cy="190470"/>
          </a:xfrm>
          <a:prstGeom prst="rect">
            <a:avLst/>
          </a:prstGeom>
          <a:solidFill>
            <a:srgbClr val="E3E6EA"/>
          </a:solidFill>
          <a:ln/>
        </p:spPr>
        <p:txBody>
          <a:bodyPr/>
          <a:lstStyle/>
          <a:p>
            <a:endParaRPr lang="ko-KR" altLang="en-US"/>
          </a:p>
        </p:txBody>
      </p:sp>
      <p:sp>
        <p:nvSpPr>
          <p:cNvPr id="79" name="03 분할 규칙 텍스트 21"/>
          <p:cNvSpPr txBox="1"/>
          <p:nvPr/>
        </p:nvSpPr>
        <p:spPr>
          <a:xfrm>
            <a:off x="836127"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80" name="Shape 77"/>
          <p:cNvSpPr/>
          <p:nvPr/>
        </p:nvSpPr>
        <p:spPr>
          <a:xfrm>
            <a:off x="1571671" y="4741530"/>
            <a:ext cx="914400" cy="190470"/>
          </a:xfrm>
          <a:prstGeom prst="rect">
            <a:avLst/>
          </a:prstGeom>
          <a:solidFill>
            <a:srgbClr val="1F5FA8"/>
          </a:solidFill>
          <a:ln/>
        </p:spPr>
        <p:txBody>
          <a:bodyPr/>
          <a:lstStyle/>
          <a:p>
            <a:endParaRPr lang="ko-KR" altLang="en-US"/>
          </a:p>
        </p:txBody>
      </p:sp>
      <p:sp>
        <p:nvSpPr>
          <p:cNvPr id="81" name="03 분할 규칙 텍스트 22"/>
          <p:cNvSpPr txBox="1"/>
          <p:nvPr/>
        </p:nvSpPr>
        <p:spPr>
          <a:xfrm>
            <a:off x="1817370" y="4743907"/>
            <a:ext cx="422819" cy="185715"/>
          </a:xfrm>
          <a:prstGeom prst="rect">
            <a:avLst/>
          </a:prstGeom>
          <a:noFill/>
          <a:ln/>
        </p:spPr>
        <p:txBody>
          <a:bodyPr wrap="none" lIns="0" tIns="0" rIns="0" bIns="0" rtlCol="0" anchor="ctr"/>
          <a:lstStyle/>
          <a:p>
            <a:pPr marL="0" indent="0" algn="ctr">
              <a:buNone/>
            </a:pPr>
            <a:r>
              <a:rPr lang="ko-KR" altLang="en-US" sz="975" b="1" dirty="0">
                <a:solidFill>
                  <a:srgbClr val="FFFFFF"/>
                </a:solidFill>
                <a:latin typeface="Noto Sans KR" pitchFamily="34" charset="0"/>
                <a:ea typeface="Noto Sans KR" pitchFamily="34" charset="-127"/>
                <a:cs typeface="Noto Sans KR" pitchFamily="34" charset="-120"/>
              </a:rPr>
              <a:t>test</a:t>
            </a:r>
            <a:endParaRPr lang="en-US" sz="975" dirty="0"/>
          </a:p>
        </p:txBody>
      </p:sp>
      <p:sp>
        <p:nvSpPr>
          <p:cNvPr id="82" name="Shape 79"/>
          <p:cNvSpPr/>
          <p:nvPr/>
        </p:nvSpPr>
        <p:spPr>
          <a:xfrm>
            <a:off x="2533620" y="4741530"/>
            <a:ext cx="914400" cy="190470"/>
          </a:xfrm>
          <a:prstGeom prst="rect">
            <a:avLst/>
          </a:prstGeom>
          <a:solidFill>
            <a:srgbClr val="E3E6EA"/>
          </a:solidFill>
          <a:ln/>
        </p:spPr>
        <p:txBody>
          <a:bodyPr/>
          <a:lstStyle/>
          <a:p>
            <a:endParaRPr lang="ko-KR" altLang="en-US"/>
          </a:p>
        </p:txBody>
      </p:sp>
      <p:sp>
        <p:nvSpPr>
          <p:cNvPr id="83" name="03 분할 규칙 텍스트 23"/>
          <p:cNvSpPr txBox="1"/>
          <p:nvPr/>
        </p:nvSpPr>
        <p:spPr>
          <a:xfrm>
            <a:off x="2760208"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84" name="Shape 81"/>
          <p:cNvSpPr/>
          <p:nvPr/>
        </p:nvSpPr>
        <p:spPr>
          <a:xfrm>
            <a:off x="3495660" y="4741530"/>
            <a:ext cx="914400" cy="190470"/>
          </a:xfrm>
          <a:prstGeom prst="rect">
            <a:avLst/>
          </a:prstGeom>
          <a:solidFill>
            <a:srgbClr val="E3E6EA"/>
          </a:solidFill>
          <a:ln/>
        </p:spPr>
        <p:txBody>
          <a:bodyPr/>
          <a:lstStyle/>
          <a:p>
            <a:endParaRPr lang="ko-KR" altLang="en-US"/>
          </a:p>
        </p:txBody>
      </p:sp>
      <p:sp>
        <p:nvSpPr>
          <p:cNvPr id="85" name="03 분할 규칙 텍스트 24"/>
          <p:cNvSpPr txBox="1"/>
          <p:nvPr/>
        </p:nvSpPr>
        <p:spPr>
          <a:xfrm>
            <a:off x="3722157"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86" name="Shape 83"/>
          <p:cNvSpPr/>
          <p:nvPr/>
        </p:nvSpPr>
        <p:spPr>
          <a:xfrm>
            <a:off x="4457700" y="4741530"/>
            <a:ext cx="914400" cy="190470"/>
          </a:xfrm>
          <a:prstGeom prst="rect">
            <a:avLst/>
          </a:prstGeom>
          <a:solidFill>
            <a:srgbClr val="E3E6EA"/>
          </a:solidFill>
          <a:ln/>
        </p:spPr>
        <p:txBody>
          <a:bodyPr/>
          <a:lstStyle/>
          <a:p>
            <a:endParaRPr lang="ko-KR" altLang="en-US"/>
          </a:p>
        </p:txBody>
      </p:sp>
      <p:sp>
        <p:nvSpPr>
          <p:cNvPr id="87" name="03 분할 규칙 텍스트 25"/>
          <p:cNvSpPr txBox="1"/>
          <p:nvPr/>
        </p:nvSpPr>
        <p:spPr>
          <a:xfrm>
            <a:off x="4684197"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88" name="Shape 85"/>
          <p:cNvSpPr/>
          <p:nvPr/>
        </p:nvSpPr>
        <p:spPr>
          <a:xfrm>
            <a:off x="609630" y="4970130"/>
            <a:ext cx="914400" cy="190470"/>
          </a:xfrm>
          <a:prstGeom prst="rect">
            <a:avLst/>
          </a:prstGeom>
          <a:solidFill>
            <a:srgbClr val="E3E6EA"/>
          </a:solidFill>
          <a:ln/>
        </p:spPr>
        <p:txBody>
          <a:bodyPr/>
          <a:lstStyle/>
          <a:p>
            <a:endParaRPr lang="ko-KR" altLang="en-US"/>
          </a:p>
        </p:txBody>
      </p:sp>
      <p:sp>
        <p:nvSpPr>
          <p:cNvPr id="89" name="03 분할 규칙 텍스트 26"/>
          <p:cNvSpPr txBox="1"/>
          <p:nvPr/>
        </p:nvSpPr>
        <p:spPr>
          <a:xfrm>
            <a:off x="836127"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90" name="Shape 87"/>
          <p:cNvSpPr/>
          <p:nvPr/>
        </p:nvSpPr>
        <p:spPr>
          <a:xfrm>
            <a:off x="1571671" y="4970130"/>
            <a:ext cx="914400" cy="190470"/>
          </a:xfrm>
          <a:prstGeom prst="rect">
            <a:avLst/>
          </a:prstGeom>
          <a:solidFill>
            <a:srgbClr val="E3E6EA"/>
          </a:solidFill>
          <a:ln/>
        </p:spPr>
        <p:txBody>
          <a:bodyPr/>
          <a:lstStyle/>
          <a:p>
            <a:endParaRPr lang="ko-KR" altLang="en-US"/>
          </a:p>
        </p:txBody>
      </p:sp>
      <p:sp>
        <p:nvSpPr>
          <p:cNvPr id="91" name="03 분할 규칙 텍스트 27"/>
          <p:cNvSpPr txBox="1"/>
          <p:nvPr/>
        </p:nvSpPr>
        <p:spPr>
          <a:xfrm>
            <a:off x="1798168"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92" name="Shape 89"/>
          <p:cNvSpPr/>
          <p:nvPr/>
        </p:nvSpPr>
        <p:spPr>
          <a:xfrm>
            <a:off x="2533620" y="4970130"/>
            <a:ext cx="914400" cy="190470"/>
          </a:xfrm>
          <a:prstGeom prst="rect">
            <a:avLst/>
          </a:prstGeom>
          <a:solidFill>
            <a:srgbClr val="1F5FA8"/>
          </a:solidFill>
          <a:ln/>
        </p:spPr>
        <p:txBody>
          <a:bodyPr/>
          <a:lstStyle/>
          <a:p>
            <a:endParaRPr lang="ko-KR" altLang="en-US"/>
          </a:p>
        </p:txBody>
      </p:sp>
      <p:sp>
        <p:nvSpPr>
          <p:cNvPr id="93" name="03 분할 규칙 텍스트 28"/>
          <p:cNvSpPr txBox="1"/>
          <p:nvPr/>
        </p:nvSpPr>
        <p:spPr>
          <a:xfrm>
            <a:off x="2779410" y="4972507"/>
            <a:ext cx="422819" cy="185715"/>
          </a:xfrm>
          <a:prstGeom prst="rect">
            <a:avLst/>
          </a:prstGeom>
          <a:noFill/>
          <a:ln/>
        </p:spPr>
        <p:txBody>
          <a:bodyPr wrap="none" lIns="0" tIns="0" rIns="0" bIns="0" rtlCol="0" anchor="ctr"/>
          <a:lstStyle/>
          <a:p>
            <a:pPr marL="0" indent="0" algn="ctr">
              <a:buNone/>
            </a:pPr>
            <a:r>
              <a:rPr lang="ko-KR" altLang="en-US" sz="975" b="1" dirty="0">
                <a:solidFill>
                  <a:srgbClr val="FFFFFF"/>
                </a:solidFill>
                <a:latin typeface="Noto Sans KR" pitchFamily="34" charset="0"/>
                <a:ea typeface="Noto Sans KR" pitchFamily="34" charset="-127"/>
                <a:cs typeface="Noto Sans KR" pitchFamily="34" charset="-120"/>
              </a:rPr>
              <a:t>test</a:t>
            </a:r>
            <a:endParaRPr lang="en-US" sz="975" dirty="0"/>
          </a:p>
        </p:txBody>
      </p:sp>
      <p:sp>
        <p:nvSpPr>
          <p:cNvPr id="94" name="Shape 91"/>
          <p:cNvSpPr/>
          <p:nvPr/>
        </p:nvSpPr>
        <p:spPr>
          <a:xfrm>
            <a:off x="3495660" y="4970130"/>
            <a:ext cx="914400" cy="190470"/>
          </a:xfrm>
          <a:prstGeom prst="rect">
            <a:avLst/>
          </a:prstGeom>
          <a:solidFill>
            <a:srgbClr val="E3E6EA"/>
          </a:solidFill>
          <a:ln/>
        </p:spPr>
        <p:txBody>
          <a:bodyPr/>
          <a:lstStyle/>
          <a:p>
            <a:endParaRPr lang="ko-KR" altLang="en-US"/>
          </a:p>
        </p:txBody>
      </p:sp>
      <p:sp>
        <p:nvSpPr>
          <p:cNvPr id="95" name="03 분할 규칙 텍스트 29"/>
          <p:cNvSpPr txBox="1"/>
          <p:nvPr/>
        </p:nvSpPr>
        <p:spPr>
          <a:xfrm>
            <a:off x="3722157"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96" name="Shape 93"/>
          <p:cNvSpPr/>
          <p:nvPr/>
        </p:nvSpPr>
        <p:spPr>
          <a:xfrm>
            <a:off x="4457700" y="4970130"/>
            <a:ext cx="914400" cy="190470"/>
          </a:xfrm>
          <a:prstGeom prst="rect">
            <a:avLst/>
          </a:prstGeom>
          <a:solidFill>
            <a:srgbClr val="E3E6EA"/>
          </a:solidFill>
          <a:ln/>
        </p:spPr>
        <p:txBody>
          <a:bodyPr/>
          <a:lstStyle/>
          <a:p>
            <a:endParaRPr lang="ko-KR" altLang="en-US"/>
          </a:p>
        </p:txBody>
      </p:sp>
      <p:sp>
        <p:nvSpPr>
          <p:cNvPr id="97" name="03 분할 규칙 텍스트 30"/>
          <p:cNvSpPr txBox="1"/>
          <p:nvPr/>
        </p:nvSpPr>
        <p:spPr>
          <a:xfrm>
            <a:off x="4684197"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98" name="Shape 95"/>
          <p:cNvSpPr/>
          <p:nvPr/>
        </p:nvSpPr>
        <p:spPr>
          <a:xfrm>
            <a:off x="609630" y="5198730"/>
            <a:ext cx="914400" cy="190470"/>
          </a:xfrm>
          <a:prstGeom prst="rect">
            <a:avLst/>
          </a:prstGeom>
          <a:solidFill>
            <a:srgbClr val="E3E6EA"/>
          </a:solidFill>
          <a:ln/>
        </p:spPr>
        <p:txBody>
          <a:bodyPr/>
          <a:lstStyle/>
          <a:p>
            <a:endParaRPr lang="ko-KR" altLang="en-US"/>
          </a:p>
        </p:txBody>
      </p:sp>
      <p:sp>
        <p:nvSpPr>
          <p:cNvPr id="99" name="03 분할 규칙 텍스트 31"/>
          <p:cNvSpPr txBox="1"/>
          <p:nvPr/>
        </p:nvSpPr>
        <p:spPr>
          <a:xfrm>
            <a:off x="836127"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00" name="Shape 97"/>
          <p:cNvSpPr/>
          <p:nvPr/>
        </p:nvSpPr>
        <p:spPr>
          <a:xfrm>
            <a:off x="1571671" y="5198730"/>
            <a:ext cx="914400" cy="190470"/>
          </a:xfrm>
          <a:prstGeom prst="rect">
            <a:avLst/>
          </a:prstGeom>
          <a:solidFill>
            <a:srgbClr val="E3E6EA"/>
          </a:solidFill>
          <a:ln/>
        </p:spPr>
        <p:txBody>
          <a:bodyPr/>
          <a:lstStyle/>
          <a:p>
            <a:endParaRPr lang="ko-KR" altLang="en-US"/>
          </a:p>
        </p:txBody>
      </p:sp>
      <p:sp>
        <p:nvSpPr>
          <p:cNvPr id="101" name="03 분할 규칙 텍스트 32"/>
          <p:cNvSpPr txBox="1"/>
          <p:nvPr/>
        </p:nvSpPr>
        <p:spPr>
          <a:xfrm>
            <a:off x="1798168"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02" name="Shape 99"/>
          <p:cNvSpPr/>
          <p:nvPr/>
        </p:nvSpPr>
        <p:spPr>
          <a:xfrm>
            <a:off x="2533620" y="5198730"/>
            <a:ext cx="914400" cy="190470"/>
          </a:xfrm>
          <a:prstGeom prst="rect">
            <a:avLst/>
          </a:prstGeom>
          <a:solidFill>
            <a:srgbClr val="E3E6EA"/>
          </a:solidFill>
          <a:ln/>
        </p:spPr>
        <p:txBody>
          <a:bodyPr/>
          <a:lstStyle/>
          <a:p>
            <a:endParaRPr lang="ko-KR" altLang="en-US"/>
          </a:p>
        </p:txBody>
      </p:sp>
      <p:sp>
        <p:nvSpPr>
          <p:cNvPr id="103" name="03 분할 규칙 텍스트 33"/>
          <p:cNvSpPr txBox="1"/>
          <p:nvPr/>
        </p:nvSpPr>
        <p:spPr>
          <a:xfrm>
            <a:off x="2760208"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04" name="Shape 101"/>
          <p:cNvSpPr/>
          <p:nvPr/>
        </p:nvSpPr>
        <p:spPr>
          <a:xfrm>
            <a:off x="3495660" y="5198730"/>
            <a:ext cx="914400" cy="190470"/>
          </a:xfrm>
          <a:prstGeom prst="rect">
            <a:avLst/>
          </a:prstGeom>
          <a:solidFill>
            <a:srgbClr val="1F5FA8"/>
          </a:solidFill>
          <a:ln/>
        </p:spPr>
        <p:txBody>
          <a:bodyPr/>
          <a:lstStyle/>
          <a:p>
            <a:endParaRPr lang="ko-KR" altLang="en-US"/>
          </a:p>
        </p:txBody>
      </p:sp>
      <p:sp>
        <p:nvSpPr>
          <p:cNvPr id="105" name="03 분할 규칙 텍스트 34"/>
          <p:cNvSpPr txBox="1"/>
          <p:nvPr/>
        </p:nvSpPr>
        <p:spPr>
          <a:xfrm>
            <a:off x="3741359" y="5201107"/>
            <a:ext cx="422819" cy="185715"/>
          </a:xfrm>
          <a:prstGeom prst="rect">
            <a:avLst/>
          </a:prstGeom>
          <a:noFill/>
          <a:ln/>
        </p:spPr>
        <p:txBody>
          <a:bodyPr wrap="none" lIns="0" tIns="0" rIns="0" bIns="0" rtlCol="0" anchor="ctr"/>
          <a:lstStyle/>
          <a:p>
            <a:pPr marL="0" indent="0" algn="ctr">
              <a:buNone/>
            </a:pPr>
            <a:r>
              <a:rPr lang="ko-KR" altLang="en-US" sz="975" b="1" dirty="0">
                <a:solidFill>
                  <a:srgbClr val="FFFFFF"/>
                </a:solidFill>
                <a:latin typeface="Noto Sans KR" pitchFamily="34" charset="0"/>
                <a:ea typeface="Noto Sans KR" pitchFamily="34" charset="-127"/>
                <a:cs typeface="Noto Sans KR" pitchFamily="34" charset="-120"/>
              </a:rPr>
              <a:t>test</a:t>
            </a:r>
            <a:endParaRPr lang="en-US" sz="975" dirty="0"/>
          </a:p>
        </p:txBody>
      </p:sp>
      <p:sp>
        <p:nvSpPr>
          <p:cNvPr id="106" name="Shape 103"/>
          <p:cNvSpPr/>
          <p:nvPr/>
        </p:nvSpPr>
        <p:spPr>
          <a:xfrm>
            <a:off x="4457700" y="5198730"/>
            <a:ext cx="914400" cy="190470"/>
          </a:xfrm>
          <a:prstGeom prst="rect">
            <a:avLst/>
          </a:prstGeom>
          <a:solidFill>
            <a:srgbClr val="E3E6EA"/>
          </a:solidFill>
          <a:ln/>
        </p:spPr>
        <p:txBody>
          <a:bodyPr/>
          <a:lstStyle/>
          <a:p>
            <a:endParaRPr lang="ko-KR" altLang="en-US"/>
          </a:p>
        </p:txBody>
      </p:sp>
      <p:sp>
        <p:nvSpPr>
          <p:cNvPr id="107" name="03 분할 규칙 텍스트 35"/>
          <p:cNvSpPr txBox="1"/>
          <p:nvPr/>
        </p:nvSpPr>
        <p:spPr>
          <a:xfrm>
            <a:off x="4684197"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08" name="Shape 105"/>
          <p:cNvSpPr/>
          <p:nvPr/>
        </p:nvSpPr>
        <p:spPr>
          <a:xfrm>
            <a:off x="609630" y="5427330"/>
            <a:ext cx="914400" cy="190470"/>
          </a:xfrm>
          <a:prstGeom prst="rect">
            <a:avLst/>
          </a:prstGeom>
          <a:solidFill>
            <a:srgbClr val="E3E6EA"/>
          </a:solidFill>
          <a:ln/>
        </p:spPr>
        <p:txBody>
          <a:bodyPr/>
          <a:lstStyle/>
          <a:p>
            <a:endParaRPr lang="ko-KR" altLang="en-US"/>
          </a:p>
        </p:txBody>
      </p:sp>
      <p:sp>
        <p:nvSpPr>
          <p:cNvPr id="109" name="03 분할 규칙 텍스트 36"/>
          <p:cNvSpPr txBox="1"/>
          <p:nvPr/>
        </p:nvSpPr>
        <p:spPr>
          <a:xfrm>
            <a:off x="836127" y="54297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10" name="Shape 107"/>
          <p:cNvSpPr/>
          <p:nvPr/>
        </p:nvSpPr>
        <p:spPr>
          <a:xfrm>
            <a:off x="1571671" y="5427330"/>
            <a:ext cx="914400" cy="190470"/>
          </a:xfrm>
          <a:prstGeom prst="rect">
            <a:avLst/>
          </a:prstGeom>
          <a:solidFill>
            <a:srgbClr val="E3E6EA"/>
          </a:solidFill>
          <a:ln/>
        </p:spPr>
        <p:txBody>
          <a:bodyPr/>
          <a:lstStyle/>
          <a:p>
            <a:endParaRPr lang="ko-KR" altLang="en-US"/>
          </a:p>
        </p:txBody>
      </p:sp>
      <p:sp>
        <p:nvSpPr>
          <p:cNvPr id="111" name="03 분할 규칙 텍스트 37"/>
          <p:cNvSpPr txBox="1"/>
          <p:nvPr/>
        </p:nvSpPr>
        <p:spPr>
          <a:xfrm>
            <a:off x="1798168" y="54297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12" name="Shape 109"/>
          <p:cNvSpPr/>
          <p:nvPr/>
        </p:nvSpPr>
        <p:spPr>
          <a:xfrm>
            <a:off x="2533620" y="5427330"/>
            <a:ext cx="914400" cy="190470"/>
          </a:xfrm>
          <a:prstGeom prst="rect">
            <a:avLst/>
          </a:prstGeom>
          <a:solidFill>
            <a:srgbClr val="E3E6EA"/>
          </a:solidFill>
          <a:ln/>
        </p:spPr>
        <p:txBody>
          <a:bodyPr/>
          <a:lstStyle/>
          <a:p>
            <a:endParaRPr lang="ko-KR" altLang="en-US"/>
          </a:p>
        </p:txBody>
      </p:sp>
      <p:sp>
        <p:nvSpPr>
          <p:cNvPr id="113" name="03 분할 규칙 텍스트 38"/>
          <p:cNvSpPr txBox="1"/>
          <p:nvPr/>
        </p:nvSpPr>
        <p:spPr>
          <a:xfrm>
            <a:off x="2760208" y="54297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14" name="Shape 111"/>
          <p:cNvSpPr/>
          <p:nvPr/>
        </p:nvSpPr>
        <p:spPr>
          <a:xfrm>
            <a:off x="3495660" y="5427330"/>
            <a:ext cx="914400" cy="190470"/>
          </a:xfrm>
          <a:prstGeom prst="rect">
            <a:avLst/>
          </a:prstGeom>
          <a:solidFill>
            <a:srgbClr val="E3E6EA"/>
          </a:solidFill>
          <a:ln/>
        </p:spPr>
        <p:txBody>
          <a:bodyPr/>
          <a:lstStyle/>
          <a:p>
            <a:endParaRPr lang="ko-KR" altLang="en-US"/>
          </a:p>
        </p:txBody>
      </p:sp>
      <p:sp>
        <p:nvSpPr>
          <p:cNvPr id="115" name="03 분할 규칙 텍스트 39"/>
          <p:cNvSpPr txBox="1"/>
          <p:nvPr/>
        </p:nvSpPr>
        <p:spPr>
          <a:xfrm>
            <a:off x="3722157" y="54297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16" name="Shape 113"/>
          <p:cNvSpPr/>
          <p:nvPr/>
        </p:nvSpPr>
        <p:spPr>
          <a:xfrm>
            <a:off x="4457700" y="5427330"/>
            <a:ext cx="914400" cy="190470"/>
          </a:xfrm>
          <a:prstGeom prst="rect">
            <a:avLst/>
          </a:prstGeom>
          <a:solidFill>
            <a:srgbClr val="1F5FA8"/>
          </a:solidFill>
          <a:ln/>
        </p:spPr>
        <p:txBody>
          <a:bodyPr/>
          <a:lstStyle/>
          <a:p>
            <a:endParaRPr lang="ko-KR" altLang="en-US"/>
          </a:p>
        </p:txBody>
      </p:sp>
      <p:sp>
        <p:nvSpPr>
          <p:cNvPr id="117" name="03 분할 규칙 텍스트 40"/>
          <p:cNvSpPr txBox="1"/>
          <p:nvPr/>
        </p:nvSpPr>
        <p:spPr>
          <a:xfrm>
            <a:off x="4703399" y="5429707"/>
            <a:ext cx="422819" cy="185715"/>
          </a:xfrm>
          <a:prstGeom prst="rect">
            <a:avLst/>
          </a:prstGeom>
          <a:noFill/>
          <a:ln/>
        </p:spPr>
        <p:txBody>
          <a:bodyPr wrap="none" lIns="0" tIns="0" rIns="0" bIns="0" rtlCol="0" anchor="ctr"/>
          <a:lstStyle/>
          <a:p>
            <a:pPr marL="0" indent="0" algn="ctr">
              <a:buNone/>
            </a:pPr>
            <a:r>
              <a:rPr lang="ko-KR" altLang="en-US" sz="975" b="1" dirty="0">
                <a:solidFill>
                  <a:srgbClr val="FFFFFF"/>
                </a:solidFill>
                <a:latin typeface="Noto Sans KR" pitchFamily="34" charset="0"/>
                <a:ea typeface="Noto Sans KR" pitchFamily="34" charset="-127"/>
                <a:cs typeface="Noto Sans KR" pitchFamily="34" charset="-120"/>
              </a:rPr>
              <a:t>test</a:t>
            </a:r>
            <a:endParaRPr lang="en-US" sz="975" dirty="0"/>
          </a:p>
        </p:txBody>
      </p:sp>
      <p:sp>
        <p:nvSpPr>
          <p:cNvPr id="118" name="03 분할 규칙 텍스트 41"/>
          <p:cNvSpPr txBox="1"/>
          <p:nvPr/>
        </p:nvSpPr>
        <p:spPr>
          <a:xfrm>
            <a:off x="609630" y="5694060"/>
            <a:ext cx="3835451" cy="228600"/>
          </a:xfrm>
          <a:prstGeom prst="rect">
            <a:avLst/>
          </a:prstGeom>
          <a:noFill/>
          <a:ln/>
        </p:spPr>
        <p:txBody>
          <a:bodyPr wrap="none" lIns="0" tIns="0" rIns="0" bIns="0" rtlCol="0" anchor="ctr"/>
          <a:lstStyle/>
          <a:p>
            <a:pPr marL="0" indent="0" algn="l">
              <a:buNone/>
            </a:pPr>
            <a:r>
              <a:rPr lang="ko-KR" altLang="en-US" sz="1200" dirty="0">
                <a:solidFill>
                  <a:srgbClr val="3A424C"/>
                </a:solidFill>
                <a:latin typeface="Noto Sans KR" pitchFamily="34" charset="0"/>
                <a:ea typeface="Noto Sans KR" pitchFamily="34" charset="-127"/>
                <a:cs typeface="Noto Sans KR" pitchFamily="34" charset="-120"/>
              </a:rPr>
              <a:t>5번 돌아가며 1조각씩 평가해 평균 ± 표준편차로 보고</a:t>
            </a:r>
            <a:endParaRPr lang="en-US" sz="1200" dirty="0"/>
          </a:p>
        </p:txBody>
      </p:sp>
      <p:sp>
        <p:nvSpPr>
          <p:cNvPr id="119" name="Shape 116"/>
          <p:cNvSpPr/>
          <p:nvPr/>
        </p:nvSpPr>
        <p:spPr>
          <a:xfrm>
            <a:off x="6086521" y="3922410"/>
            <a:ext cx="9510" cy="2000250"/>
          </a:xfrm>
          <a:prstGeom prst="rect">
            <a:avLst/>
          </a:prstGeom>
          <a:solidFill>
            <a:srgbClr val="D5D9DE"/>
          </a:solidFill>
          <a:ln/>
        </p:spPr>
        <p:txBody>
          <a:bodyPr/>
          <a:lstStyle/>
          <a:p>
            <a:endParaRPr lang="ko-KR" altLang="en-US"/>
          </a:p>
        </p:txBody>
      </p:sp>
      <p:sp>
        <p:nvSpPr>
          <p:cNvPr id="120" name="03 분할 규칙 텍스트 42"/>
          <p:cNvSpPr txBox="1"/>
          <p:nvPr/>
        </p:nvSpPr>
        <p:spPr>
          <a:xfrm>
            <a:off x="6429421" y="3917564"/>
            <a:ext cx="3252429" cy="285750"/>
          </a:xfrm>
          <a:prstGeom prst="rect">
            <a:avLst/>
          </a:prstGeom>
          <a:noFill/>
          <a:ln/>
        </p:spPr>
        <p:txBody>
          <a:bodyPr wrap="none" lIns="0" tIns="0" rIns="0" bIns="0" rtlCol="0" anchor="ctr"/>
          <a:lstStyle/>
          <a:p>
            <a:pPr marL="0" indent="0" algn="l">
              <a:buNone/>
            </a:pPr>
            <a:r>
              <a:rPr lang="ko-KR" altLang="en-US" sz="1500" b="1" dirty="0">
                <a:solidFill>
                  <a:srgbClr val="1B1F24"/>
                </a:solidFill>
                <a:latin typeface="Noto Sans KR" pitchFamily="34" charset="0"/>
                <a:ea typeface="Noto Sans KR" pitchFamily="34" charset="-127"/>
                <a:cs typeface="Noto Sans KR" pitchFamily="34" charset="-120"/>
              </a:rPr>
              <a:t>③ validation 정하기 · train 안 4-fold</a:t>
            </a:r>
            <a:endParaRPr lang="en-US" sz="1500" dirty="0"/>
          </a:p>
        </p:txBody>
      </p:sp>
      <p:sp>
        <p:nvSpPr>
          <p:cNvPr id="121" name="03 분할 규칙 텍스트 43"/>
          <p:cNvSpPr txBox="1"/>
          <p:nvPr/>
        </p:nvSpPr>
        <p:spPr>
          <a:xfrm>
            <a:off x="6429421" y="4210538"/>
            <a:ext cx="3997482"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test를 뺀 train을 다시 묶음 단위로 4조각 (조각당 약 600행)</a:t>
            </a:r>
            <a:endParaRPr lang="en-US" sz="1125" dirty="0"/>
          </a:p>
        </p:txBody>
      </p:sp>
      <p:sp>
        <p:nvSpPr>
          <p:cNvPr id="122" name="Shape 119"/>
          <p:cNvSpPr/>
          <p:nvPr/>
        </p:nvSpPr>
        <p:spPr>
          <a:xfrm>
            <a:off x="6429421" y="4512930"/>
            <a:ext cx="1143000" cy="190470"/>
          </a:xfrm>
          <a:prstGeom prst="rect">
            <a:avLst/>
          </a:prstGeom>
          <a:solidFill>
            <a:srgbClr val="9DB8DA"/>
          </a:solidFill>
          <a:ln/>
        </p:spPr>
        <p:txBody>
          <a:bodyPr/>
          <a:lstStyle/>
          <a:p>
            <a:endParaRPr lang="ko-KR" altLang="en-US"/>
          </a:p>
        </p:txBody>
      </p:sp>
      <p:sp>
        <p:nvSpPr>
          <p:cNvPr id="123" name="03 분할 규칙 텍스트 44"/>
          <p:cNvSpPr txBox="1"/>
          <p:nvPr/>
        </p:nvSpPr>
        <p:spPr>
          <a:xfrm>
            <a:off x="6597853" y="4515307"/>
            <a:ext cx="806044" cy="185715"/>
          </a:xfrm>
          <a:prstGeom prst="rect">
            <a:avLst/>
          </a:prstGeom>
          <a:noFill/>
          <a:ln/>
        </p:spPr>
        <p:txBody>
          <a:bodyPr wrap="none" lIns="0" tIns="0" rIns="0" bIns="0" rtlCol="0" anchor="ctr"/>
          <a:lstStyle/>
          <a:p>
            <a:pPr marL="0" indent="0" algn="ctr">
              <a:buNone/>
            </a:pPr>
            <a:r>
              <a:rPr lang="ko-KR" altLang="en-US" sz="975" b="1" dirty="0">
                <a:solidFill>
                  <a:srgbClr val="1B1F24"/>
                </a:solidFill>
                <a:latin typeface="Noto Sans KR" pitchFamily="34" charset="0"/>
                <a:ea typeface="Noto Sans KR" pitchFamily="34" charset="-127"/>
                <a:cs typeface="Noto Sans KR" pitchFamily="34" charset="-120"/>
              </a:rPr>
              <a:t>validation</a:t>
            </a:r>
            <a:endParaRPr lang="en-US" sz="975" dirty="0"/>
          </a:p>
        </p:txBody>
      </p:sp>
      <p:sp>
        <p:nvSpPr>
          <p:cNvPr id="124" name="Shape 121"/>
          <p:cNvSpPr/>
          <p:nvPr/>
        </p:nvSpPr>
        <p:spPr>
          <a:xfrm>
            <a:off x="7619970" y="4512930"/>
            <a:ext cx="1143000" cy="190470"/>
          </a:xfrm>
          <a:prstGeom prst="rect">
            <a:avLst/>
          </a:prstGeom>
          <a:solidFill>
            <a:srgbClr val="E3E6EA"/>
          </a:solidFill>
          <a:ln/>
        </p:spPr>
        <p:txBody>
          <a:bodyPr/>
          <a:lstStyle/>
          <a:p>
            <a:endParaRPr lang="ko-KR" altLang="en-US"/>
          </a:p>
        </p:txBody>
      </p:sp>
      <p:sp>
        <p:nvSpPr>
          <p:cNvPr id="125" name="03 분할 규칙 텍스트 45"/>
          <p:cNvSpPr txBox="1"/>
          <p:nvPr/>
        </p:nvSpPr>
        <p:spPr>
          <a:xfrm>
            <a:off x="7960858"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26" name="Shape 123"/>
          <p:cNvSpPr/>
          <p:nvPr/>
        </p:nvSpPr>
        <p:spPr>
          <a:xfrm>
            <a:off x="8810610" y="4512930"/>
            <a:ext cx="1143000" cy="190470"/>
          </a:xfrm>
          <a:prstGeom prst="rect">
            <a:avLst/>
          </a:prstGeom>
          <a:solidFill>
            <a:srgbClr val="E3E6EA"/>
          </a:solidFill>
          <a:ln/>
        </p:spPr>
        <p:txBody>
          <a:bodyPr/>
          <a:lstStyle/>
          <a:p>
            <a:endParaRPr lang="ko-KR" altLang="en-US"/>
          </a:p>
        </p:txBody>
      </p:sp>
      <p:sp>
        <p:nvSpPr>
          <p:cNvPr id="127" name="03 분할 규칙 텍스트 46"/>
          <p:cNvSpPr txBox="1"/>
          <p:nvPr/>
        </p:nvSpPr>
        <p:spPr>
          <a:xfrm>
            <a:off x="9151407"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28" name="Shape 125"/>
          <p:cNvSpPr/>
          <p:nvPr/>
        </p:nvSpPr>
        <p:spPr>
          <a:xfrm>
            <a:off x="10001250" y="4512930"/>
            <a:ext cx="1143000" cy="190470"/>
          </a:xfrm>
          <a:prstGeom prst="rect">
            <a:avLst/>
          </a:prstGeom>
          <a:solidFill>
            <a:srgbClr val="E3E6EA"/>
          </a:solidFill>
          <a:ln/>
        </p:spPr>
        <p:txBody>
          <a:bodyPr/>
          <a:lstStyle/>
          <a:p>
            <a:endParaRPr lang="ko-KR" altLang="en-US"/>
          </a:p>
        </p:txBody>
      </p:sp>
      <p:sp>
        <p:nvSpPr>
          <p:cNvPr id="129" name="03 분할 규칙 텍스트 47"/>
          <p:cNvSpPr txBox="1"/>
          <p:nvPr/>
        </p:nvSpPr>
        <p:spPr>
          <a:xfrm>
            <a:off x="10342047" y="45153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30" name="Shape 127"/>
          <p:cNvSpPr/>
          <p:nvPr/>
        </p:nvSpPr>
        <p:spPr>
          <a:xfrm>
            <a:off x="6429421" y="4741530"/>
            <a:ext cx="1143000" cy="190470"/>
          </a:xfrm>
          <a:prstGeom prst="rect">
            <a:avLst/>
          </a:prstGeom>
          <a:solidFill>
            <a:srgbClr val="E3E6EA"/>
          </a:solidFill>
          <a:ln/>
        </p:spPr>
        <p:txBody>
          <a:bodyPr/>
          <a:lstStyle/>
          <a:p>
            <a:endParaRPr lang="ko-KR" altLang="en-US"/>
          </a:p>
        </p:txBody>
      </p:sp>
      <p:sp>
        <p:nvSpPr>
          <p:cNvPr id="131" name="03 분할 규칙 텍스트 48"/>
          <p:cNvSpPr txBox="1"/>
          <p:nvPr/>
        </p:nvSpPr>
        <p:spPr>
          <a:xfrm>
            <a:off x="6770218"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32" name="Shape 129"/>
          <p:cNvSpPr/>
          <p:nvPr/>
        </p:nvSpPr>
        <p:spPr>
          <a:xfrm>
            <a:off x="7619970" y="4741530"/>
            <a:ext cx="1143000" cy="190470"/>
          </a:xfrm>
          <a:prstGeom prst="rect">
            <a:avLst/>
          </a:prstGeom>
          <a:solidFill>
            <a:srgbClr val="9DB8DA"/>
          </a:solidFill>
          <a:ln/>
        </p:spPr>
        <p:txBody>
          <a:bodyPr/>
          <a:lstStyle/>
          <a:p>
            <a:endParaRPr lang="ko-KR" altLang="en-US"/>
          </a:p>
        </p:txBody>
      </p:sp>
      <p:sp>
        <p:nvSpPr>
          <p:cNvPr id="133" name="03 분할 규칙 텍스트 49"/>
          <p:cNvSpPr txBox="1"/>
          <p:nvPr/>
        </p:nvSpPr>
        <p:spPr>
          <a:xfrm>
            <a:off x="7788493" y="4743907"/>
            <a:ext cx="806044" cy="185715"/>
          </a:xfrm>
          <a:prstGeom prst="rect">
            <a:avLst/>
          </a:prstGeom>
          <a:noFill/>
          <a:ln/>
        </p:spPr>
        <p:txBody>
          <a:bodyPr wrap="none" lIns="0" tIns="0" rIns="0" bIns="0" rtlCol="0" anchor="ctr"/>
          <a:lstStyle/>
          <a:p>
            <a:pPr marL="0" indent="0" algn="ctr">
              <a:buNone/>
            </a:pPr>
            <a:r>
              <a:rPr lang="ko-KR" altLang="en-US" sz="975" b="1" dirty="0">
                <a:solidFill>
                  <a:srgbClr val="1B1F24"/>
                </a:solidFill>
                <a:latin typeface="Noto Sans KR" pitchFamily="34" charset="0"/>
                <a:ea typeface="Noto Sans KR" pitchFamily="34" charset="-127"/>
                <a:cs typeface="Noto Sans KR" pitchFamily="34" charset="-120"/>
              </a:rPr>
              <a:t>validation</a:t>
            </a:r>
            <a:endParaRPr lang="en-US" sz="975" dirty="0"/>
          </a:p>
        </p:txBody>
      </p:sp>
      <p:sp>
        <p:nvSpPr>
          <p:cNvPr id="134" name="Shape 131"/>
          <p:cNvSpPr/>
          <p:nvPr/>
        </p:nvSpPr>
        <p:spPr>
          <a:xfrm>
            <a:off x="8810610" y="4741530"/>
            <a:ext cx="1143000" cy="190470"/>
          </a:xfrm>
          <a:prstGeom prst="rect">
            <a:avLst/>
          </a:prstGeom>
          <a:solidFill>
            <a:srgbClr val="E3E6EA"/>
          </a:solidFill>
          <a:ln/>
        </p:spPr>
        <p:txBody>
          <a:bodyPr/>
          <a:lstStyle/>
          <a:p>
            <a:endParaRPr lang="ko-KR" altLang="en-US"/>
          </a:p>
        </p:txBody>
      </p:sp>
      <p:sp>
        <p:nvSpPr>
          <p:cNvPr id="135" name="03 분할 규칙 텍스트 50"/>
          <p:cNvSpPr txBox="1"/>
          <p:nvPr/>
        </p:nvSpPr>
        <p:spPr>
          <a:xfrm>
            <a:off x="9151407"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36" name="Shape 133"/>
          <p:cNvSpPr/>
          <p:nvPr/>
        </p:nvSpPr>
        <p:spPr>
          <a:xfrm>
            <a:off x="10001250" y="4741530"/>
            <a:ext cx="1143000" cy="190470"/>
          </a:xfrm>
          <a:prstGeom prst="rect">
            <a:avLst/>
          </a:prstGeom>
          <a:solidFill>
            <a:srgbClr val="E3E6EA"/>
          </a:solidFill>
          <a:ln/>
        </p:spPr>
        <p:txBody>
          <a:bodyPr/>
          <a:lstStyle/>
          <a:p>
            <a:endParaRPr lang="ko-KR" altLang="en-US"/>
          </a:p>
        </p:txBody>
      </p:sp>
      <p:sp>
        <p:nvSpPr>
          <p:cNvPr id="137" name="03 분할 규칙 텍스트 51"/>
          <p:cNvSpPr txBox="1"/>
          <p:nvPr/>
        </p:nvSpPr>
        <p:spPr>
          <a:xfrm>
            <a:off x="10342047" y="47439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38" name="Shape 135"/>
          <p:cNvSpPr/>
          <p:nvPr/>
        </p:nvSpPr>
        <p:spPr>
          <a:xfrm>
            <a:off x="6429421" y="4970130"/>
            <a:ext cx="1143000" cy="190470"/>
          </a:xfrm>
          <a:prstGeom prst="rect">
            <a:avLst/>
          </a:prstGeom>
          <a:solidFill>
            <a:srgbClr val="E3E6EA"/>
          </a:solidFill>
          <a:ln/>
        </p:spPr>
        <p:txBody>
          <a:bodyPr/>
          <a:lstStyle/>
          <a:p>
            <a:endParaRPr lang="ko-KR" altLang="en-US"/>
          </a:p>
        </p:txBody>
      </p:sp>
      <p:sp>
        <p:nvSpPr>
          <p:cNvPr id="139" name="03 분할 규칙 텍스트 52"/>
          <p:cNvSpPr txBox="1"/>
          <p:nvPr/>
        </p:nvSpPr>
        <p:spPr>
          <a:xfrm>
            <a:off x="6770218"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40" name="Shape 137"/>
          <p:cNvSpPr/>
          <p:nvPr/>
        </p:nvSpPr>
        <p:spPr>
          <a:xfrm>
            <a:off x="7619970" y="4970130"/>
            <a:ext cx="1143000" cy="190470"/>
          </a:xfrm>
          <a:prstGeom prst="rect">
            <a:avLst/>
          </a:prstGeom>
          <a:solidFill>
            <a:srgbClr val="E3E6EA"/>
          </a:solidFill>
          <a:ln/>
        </p:spPr>
        <p:txBody>
          <a:bodyPr/>
          <a:lstStyle/>
          <a:p>
            <a:endParaRPr lang="ko-KR" altLang="en-US"/>
          </a:p>
        </p:txBody>
      </p:sp>
      <p:sp>
        <p:nvSpPr>
          <p:cNvPr id="141" name="03 분할 규칙 텍스트 53"/>
          <p:cNvSpPr txBox="1"/>
          <p:nvPr/>
        </p:nvSpPr>
        <p:spPr>
          <a:xfrm>
            <a:off x="7960858"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42" name="Shape 139"/>
          <p:cNvSpPr/>
          <p:nvPr/>
        </p:nvSpPr>
        <p:spPr>
          <a:xfrm>
            <a:off x="8810610" y="4970130"/>
            <a:ext cx="1143000" cy="190470"/>
          </a:xfrm>
          <a:prstGeom prst="rect">
            <a:avLst/>
          </a:prstGeom>
          <a:solidFill>
            <a:srgbClr val="9DB8DA"/>
          </a:solidFill>
          <a:ln/>
        </p:spPr>
        <p:txBody>
          <a:bodyPr/>
          <a:lstStyle/>
          <a:p>
            <a:endParaRPr lang="ko-KR" altLang="en-US"/>
          </a:p>
        </p:txBody>
      </p:sp>
      <p:sp>
        <p:nvSpPr>
          <p:cNvPr id="143" name="03 분할 규칙 텍스트 54"/>
          <p:cNvSpPr txBox="1"/>
          <p:nvPr/>
        </p:nvSpPr>
        <p:spPr>
          <a:xfrm>
            <a:off x="8979134" y="4972507"/>
            <a:ext cx="806044" cy="185715"/>
          </a:xfrm>
          <a:prstGeom prst="rect">
            <a:avLst/>
          </a:prstGeom>
          <a:noFill/>
          <a:ln/>
        </p:spPr>
        <p:txBody>
          <a:bodyPr wrap="none" lIns="0" tIns="0" rIns="0" bIns="0" rtlCol="0" anchor="ctr"/>
          <a:lstStyle/>
          <a:p>
            <a:pPr marL="0" indent="0" algn="ctr">
              <a:buNone/>
            </a:pPr>
            <a:r>
              <a:rPr lang="ko-KR" altLang="en-US" sz="975" b="1" dirty="0">
                <a:solidFill>
                  <a:srgbClr val="1B1F24"/>
                </a:solidFill>
                <a:latin typeface="Noto Sans KR" pitchFamily="34" charset="0"/>
                <a:ea typeface="Noto Sans KR" pitchFamily="34" charset="-127"/>
                <a:cs typeface="Noto Sans KR" pitchFamily="34" charset="-120"/>
              </a:rPr>
              <a:t>validation</a:t>
            </a:r>
            <a:endParaRPr lang="en-US" sz="975" dirty="0"/>
          </a:p>
        </p:txBody>
      </p:sp>
      <p:sp>
        <p:nvSpPr>
          <p:cNvPr id="144" name="Shape 141"/>
          <p:cNvSpPr/>
          <p:nvPr/>
        </p:nvSpPr>
        <p:spPr>
          <a:xfrm>
            <a:off x="10001250" y="4970130"/>
            <a:ext cx="1143000" cy="190470"/>
          </a:xfrm>
          <a:prstGeom prst="rect">
            <a:avLst/>
          </a:prstGeom>
          <a:solidFill>
            <a:srgbClr val="E3E6EA"/>
          </a:solidFill>
          <a:ln/>
        </p:spPr>
        <p:txBody>
          <a:bodyPr/>
          <a:lstStyle/>
          <a:p>
            <a:endParaRPr lang="ko-KR" altLang="en-US"/>
          </a:p>
        </p:txBody>
      </p:sp>
      <p:sp>
        <p:nvSpPr>
          <p:cNvPr id="145" name="03 분할 규칙 텍스트 55"/>
          <p:cNvSpPr txBox="1"/>
          <p:nvPr/>
        </p:nvSpPr>
        <p:spPr>
          <a:xfrm>
            <a:off x="10342047" y="49725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46" name="Shape 143"/>
          <p:cNvSpPr/>
          <p:nvPr/>
        </p:nvSpPr>
        <p:spPr>
          <a:xfrm>
            <a:off x="6429421" y="5198730"/>
            <a:ext cx="1143000" cy="190470"/>
          </a:xfrm>
          <a:prstGeom prst="rect">
            <a:avLst/>
          </a:prstGeom>
          <a:solidFill>
            <a:srgbClr val="E3E6EA"/>
          </a:solidFill>
          <a:ln/>
        </p:spPr>
        <p:txBody>
          <a:bodyPr/>
          <a:lstStyle/>
          <a:p>
            <a:endParaRPr lang="ko-KR" altLang="en-US"/>
          </a:p>
        </p:txBody>
      </p:sp>
      <p:sp>
        <p:nvSpPr>
          <p:cNvPr id="147" name="03 분할 규칙 텍스트 56"/>
          <p:cNvSpPr txBox="1"/>
          <p:nvPr/>
        </p:nvSpPr>
        <p:spPr>
          <a:xfrm>
            <a:off x="6770218"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48" name="Shape 145"/>
          <p:cNvSpPr/>
          <p:nvPr/>
        </p:nvSpPr>
        <p:spPr>
          <a:xfrm>
            <a:off x="7619970" y="5198730"/>
            <a:ext cx="1143000" cy="190470"/>
          </a:xfrm>
          <a:prstGeom prst="rect">
            <a:avLst/>
          </a:prstGeom>
          <a:solidFill>
            <a:srgbClr val="E3E6EA"/>
          </a:solidFill>
          <a:ln/>
        </p:spPr>
        <p:txBody>
          <a:bodyPr/>
          <a:lstStyle/>
          <a:p>
            <a:endParaRPr lang="ko-KR" altLang="en-US"/>
          </a:p>
        </p:txBody>
      </p:sp>
      <p:sp>
        <p:nvSpPr>
          <p:cNvPr id="149" name="03 분할 규칙 텍스트 57"/>
          <p:cNvSpPr txBox="1"/>
          <p:nvPr/>
        </p:nvSpPr>
        <p:spPr>
          <a:xfrm>
            <a:off x="7960858"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50" name="Shape 147"/>
          <p:cNvSpPr/>
          <p:nvPr/>
        </p:nvSpPr>
        <p:spPr>
          <a:xfrm>
            <a:off x="8810610" y="5198730"/>
            <a:ext cx="1143000" cy="190470"/>
          </a:xfrm>
          <a:prstGeom prst="rect">
            <a:avLst/>
          </a:prstGeom>
          <a:solidFill>
            <a:srgbClr val="E3E6EA"/>
          </a:solidFill>
          <a:ln/>
        </p:spPr>
        <p:txBody>
          <a:bodyPr/>
          <a:lstStyle/>
          <a:p>
            <a:endParaRPr lang="ko-KR" altLang="en-US"/>
          </a:p>
        </p:txBody>
      </p:sp>
      <p:sp>
        <p:nvSpPr>
          <p:cNvPr id="151" name="03 분할 규칙 텍스트 58"/>
          <p:cNvSpPr txBox="1"/>
          <p:nvPr/>
        </p:nvSpPr>
        <p:spPr>
          <a:xfrm>
            <a:off x="9151407" y="5201107"/>
            <a:ext cx="461223" cy="185715"/>
          </a:xfrm>
          <a:prstGeom prst="rect">
            <a:avLst/>
          </a:prstGeom>
          <a:noFill/>
          <a:ln/>
        </p:spPr>
        <p:txBody>
          <a:bodyPr wrap="none" lIns="0" tIns="0" rIns="0" bIns="0" rtlCol="0" anchor="ctr"/>
          <a:lstStyle/>
          <a:p>
            <a:pPr marL="0" indent="0" algn="ctr">
              <a:buNone/>
            </a:pPr>
            <a:r>
              <a:rPr lang="ko-KR" altLang="en-US" sz="975" dirty="0">
                <a:solidFill>
                  <a:srgbClr val="5B6470"/>
                </a:solidFill>
                <a:latin typeface="Noto Sans KR" pitchFamily="34" charset="0"/>
                <a:ea typeface="Noto Sans KR" pitchFamily="34" charset="-127"/>
                <a:cs typeface="Noto Sans KR" pitchFamily="34" charset="-120"/>
              </a:rPr>
              <a:t>train</a:t>
            </a:r>
            <a:endParaRPr lang="en-US" sz="975" dirty="0"/>
          </a:p>
        </p:txBody>
      </p:sp>
      <p:sp>
        <p:nvSpPr>
          <p:cNvPr id="152" name="Shape 149"/>
          <p:cNvSpPr/>
          <p:nvPr/>
        </p:nvSpPr>
        <p:spPr>
          <a:xfrm>
            <a:off x="10001250" y="5198730"/>
            <a:ext cx="1143000" cy="190470"/>
          </a:xfrm>
          <a:prstGeom prst="rect">
            <a:avLst/>
          </a:prstGeom>
          <a:solidFill>
            <a:srgbClr val="9DB8DA"/>
          </a:solidFill>
          <a:ln/>
        </p:spPr>
        <p:txBody>
          <a:bodyPr/>
          <a:lstStyle/>
          <a:p>
            <a:endParaRPr lang="ko-KR" altLang="en-US"/>
          </a:p>
        </p:txBody>
      </p:sp>
      <p:sp>
        <p:nvSpPr>
          <p:cNvPr id="153" name="03 분할 규칙 텍스트 59"/>
          <p:cNvSpPr txBox="1"/>
          <p:nvPr/>
        </p:nvSpPr>
        <p:spPr>
          <a:xfrm>
            <a:off x="10169682" y="5201107"/>
            <a:ext cx="806044" cy="185715"/>
          </a:xfrm>
          <a:prstGeom prst="rect">
            <a:avLst/>
          </a:prstGeom>
          <a:noFill/>
          <a:ln/>
        </p:spPr>
        <p:txBody>
          <a:bodyPr wrap="none" lIns="0" tIns="0" rIns="0" bIns="0" rtlCol="0" anchor="ctr"/>
          <a:lstStyle/>
          <a:p>
            <a:pPr marL="0" indent="0" algn="ctr">
              <a:buNone/>
            </a:pPr>
            <a:r>
              <a:rPr lang="ko-KR" altLang="en-US" sz="975" b="1" dirty="0">
                <a:solidFill>
                  <a:srgbClr val="1B1F24"/>
                </a:solidFill>
                <a:latin typeface="Noto Sans KR" pitchFamily="34" charset="0"/>
                <a:ea typeface="Noto Sans KR" pitchFamily="34" charset="-127"/>
                <a:cs typeface="Noto Sans KR" pitchFamily="34" charset="-120"/>
              </a:rPr>
              <a:t>validation</a:t>
            </a:r>
            <a:endParaRPr lang="en-US" sz="975" dirty="0"/>
          </a:p>
        </p:txBody>
      </p:sp>
      <p:sp>
        <p:nvSpPr>
          <p:cNvPr id="154" name="03 분할 규칙 텍스트 60"/>
          <p:cNvSpPr txBox="1"/>
          <p:nvPr/>
        </p:nvSpPr>
        <p:spPr>
          <a:xfrm>
            <a:off x="6429421" y="5465460"/>
            <a:ext cx="5578663" cy="228600"/>
          </a:xfrm>
          <a:prstGeom prst="rect">
            <a:avLst/>
          </a:prstGeom>
          <a:noFill/>
          <a:ln/>
        </p:spPr>
        <p:txBody>
          <a:bodyPr wrap="none" lIns="0" tIns="0" rIns="0" bIns="0" rtlCol="0" anchor="ctr"/>
          <a:lstStyle/>
          <a:p>
            <a:pPr marL="0" indent="0" algn="l">
              <a:buNone/>
            </a:pPr>
            <a:r>
              <a:rPr lang="ko-KR" altLang="en-US" sz="1200" dirty="0">
                <a:solidFill>
                  <a:srgbClr val="3A424C"/>
                </a:solidFill>
                <a:latin typeface="Noto Sans KR" pitchFamily="34" charset="0"/>
                <a:ea typeface="Noto Sans KR" pitchFamily="34" charset="-127"/>
                <a:cs typeface="Noto Sans KR" pitchFamily="34" charset="-120"/>
              </a:rPr>
              <a:t>파라미터 튜닝 때만 사용, 고른 뒤에는 train 전체로 다시 학습, test는 쓰지 않음</a:t>
            </a:r>
            <a:endParaRPr lang="en-US" sz="1200" dirty="0"/>
          </a:p>
        </p:txBody>
      </p:sp>
      <p:sp>
        <p:nvSpPr>
          <p:cNvPr id="155" name="03 분할 규칙 텍스트 61"/>
          <p:cNvSpPr txBox="1"/>
          <p:nvPr/>
        </p:nvSpPr>
        <p:spPr>
          <a:xfrm>
            <a:off x="609630" y="6384158"/>
            <a:ext cx="9755185"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 묶음 크기 1~296행 → fold별 test 묶음 7~23개로 불균등 · 모든 모델이 같은 5개 fold 사용 · 입력은 맥락과 댓글만 (Type·출처·보조 라벨 제외)</a:t>
            </a:r>
            <a:endParaRPr lang="en-US" sz="1125" dirty="0"/>
          </a:p>
        </p:txBody>
      </p:sp>
      <p:sp>
        <p:nvSpPr>
          <p:cNvPr id="156" name="03 분할 규칙 텍스트 62"/>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3</a:t>
            </a:r>
            <a:endParaRPr lang="en-US" sz="1125" dirty="0"/>
          </a:p>
        </p:txBody>
      </p:sp>
      <p:sp>
        <p:nvSpPr>
          <p:cNvPr id="157" name="03 분할 규칙 텍스트 12"/>
          <p:cNvSpPr txBox="1"/>
          <p:nvPr/>
        </p:nvSpPr>
        <p:spPr>
          <a:xfrm>
            <a:off x="6428232" y="1783080"/>
            <a:ext cx="4114800" cy="685800"/>
          </a:xfrm>
          <a:prstGeom prst="rect">
            <a:avLst/>
          </a:prstGeom>
          <a:noFill/>
          <a:ln/>
        </p:spPr>
        <p:txBody>
          <a:bodyPr wrap="none" lIns="0" tIns="0" rIns="0" bIns="0" rtlCol="0" anchor="ctr"/>
          <a:lstStyle/>
          <a:p>
            <a:pPr marL="0" indent="0" algn="l">
              <a:buNone/>
            </a:pPr>
            <a:r>
              <a:rPr lang="ko-KR" altLang="en-US" sz="4000" b="1" dirty="0">
                <a:solidFill>
                  <a:srgbClr val="1B1F24"/>
                </a:solidFill>
                <a:latin typeface="Noto Sans KR" pitchFamily="34" charset="0"/>
                <a:ea typeface="Noto Sans KR" pitchFamily="34" charset="-127"/>
                <a:cs typeface="Noto Sans KR" pitchFamily="34" charset="-120"/>
              </a:rPr>
              <a:t>97.2% → </a:t>
            </a:r>
            <a:r>
              <a:rPr lang="ko-KR" altLang="en-US" sz="4000" b="1" dirty="0">
                <a:solidFill>
                  <a:srgbClr val="1F5FA8"/>
                </a:solidFill>
                <a:latin typeface="Noto Sans KR" pitchFamily="34" charset="0"/>
                <a:ea typeface="Noto Sans KR" pitchFamily="34" charset="-127"/>
                <a:cs typeface="Noto Sans KR" pitchFamily="34" charset="-120"/>
              </a:rPr>
              <a:t>0%</a:t>
            </a:r>
            <a:endParaRPr lang="en-US" sz="1575" dirty="0"/>
          </a:p>
        </p:txBody>
      </p:sp>
      <p:sp>
        <p:nvSpPr>
          <p:cNvPr id="158" name="03 분할 규칙 텍스트 13"/>
          <p:cNvSpPr txBox="1"/>
          <p:nvPr/>
        </p:nvSpPr>
        <p:spPr>
          <a:xfrm>
            <a:off x="6428232" y="2606040"/>
            <a:ext cx="4479920"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test 게시글 맥락 중 train에 이미 있던 비율 (행 단위 → 묶음 단위)</a:t>
            </a:r>
            <a:endParaRPr lang="en-US" sz="1200" dirty="0"/>
          </a:p>
        </p:txBody>
      </p:sp>
      <p:sp>
        <p:nvSpPr>
          <p:cNvPr id="159" name="03 분할 규칙 텍스트 12"/>
          <p:cNvSpPr txBox="1"/>
          <p:nvPr/>
        </p:nvSpPr>
        <p:spPr>
          <a:xfrm>
            <a:off x="6428232" y="3008376"/>
            <a:ext cx="2432761" cy="300015"/>
          </a:xfrm>
          <a:prstGeom prst="rect">
            <a:avLst/>
          </a:prstGeom>
          <a:noFill/>
          <a:ln/>
        </p:spPr>
        <p:txBody>
          <a:bodyPr wrap="none" lIns="0" tIns="0" rIns="0" bIns="0" rtlCol="0" anchor="ctr"/>
          <a:lstStyle/>
          <a:p>
            <a:pPr marL="0" indent="0" algn="l">
              <a:buNone/>
            </a:pPr>
            <a:r>
              <a:rPr lang="ko-KR" altLang="en-US" sz="1575" dirty="0">
                <a:solidFill>
                  <a:srgbClr val="1B1F24"/>
                </a:solidFill>
                <a:latin typeface="Noto Sans KR" pitchFamily="34" charset="0"/>
                <a:ea typeface="Noto Sans KR" pitchFamily="34" charset="-127"/>
                <a:cs typeface="Noto Sans KR" pitchFamily="34" charset="-120"/>
              </a:rPr>
              <a:t>처음 보는 게시글에서의 성능만 평가</a:t>
            </a:r>
            <a:endParaRPr lang="en-US" sz="15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05 평가 지표와 성공 기준 텍스트 1"/>
          <p:cNvSpPr txBox="1"/>
          <p:nvPr/>
        </p:nvSpPr>
        <p:spPr>
          <a:xfrm>
            <a:off x="609630" y="381030"/>
            <a:ext cx="3502609"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평가 지표와 성공 기준</a:t>
            </a:r>
            <a:endParaRPr lang="en-US" sz="2700" dirty="0"/>
          </a:p>
        </p:txBody>
      </p:sp>
      <p:sp>
        <p:nvSpPr>
          <p:cNvPr id="39" name="05 평가 지표와 성공 기준 텍스트 23"/>
          <p:cNvSpPr txBox="1"/>
          <p:nvPr/>
        </p:nvSpPr>
        <p:spPr>
          <a:xfrm>
            <a:off x="609630" y="6384158"/>
            <a:ext cx="10058400"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 F1: 정밀도(혐오라고 한 것 중 맞은 비율)와 재현율의 조화평균 · 5번 = 5-fold의 각 조각 · p: 이 정도 차이가 우연히 날 확률 (대응표본 t-검정)</a:t>
            </a:r>
            <a:endParaRPr lang="en-US" sz="1125" dirty="0"/>
          </a:p>
        </p:txBody>
      </p:sp>
      <p:sp>
        <p:nvSpPr>
          <p:cNvPr id="40" name="05 평가 지표와 성공 기준 텍스트 24"/>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4</a:t>
            </a:r>
            <a:endParaRPr lang="en-US" sz="1125" dirty="0"/>
          </a:p>
        </p:txBody>
      </p:sp>
      <p:sp>
        <p:nvSpPr>
          <p:cNvPr id="41" name="부제"/>
          <p:cNvSpPr txBox="1"/>
          <p:nvPr/>
        </p:nvSpPr>
        <p:spPr>
          <a:xfrm>
            <a:off x="612648" y="978408"/>
            <a:ext cx="10972800" cy="292608"/>
          </a:xfrm>
          <a:prstGeom prst="rect">
            <a:avLst/>
          </a:prstGeom>
          <a:noFill/>
        </p:spPr>
        <p:txBody>
          <a:bodyPr wrap="square" lIns="0" tIns="0" rIns="0" bIns="0" anchor="t">
            <a:spAutoFit/>
          </a:bodyPr>
          <a:lstStyle/>
          <a:p>
            <a:pPr algn="l"/>
            <a:r>
              <a:rPr sz="1400" b="0">
                <a:solidFill>
                  <a:srgbClr val="3A424C"/>
                </a:solidFill>
                <a:latin typeface="Noto Sans KR"/>
                <a:ea typeface="Noto Sans KR"/>
                <a:cs typeface="Noto Sans KR"/>
              </a:rPr>
              <a:t>모델 점수를 무엇으로 매기고, 몇 점이 넘어야 성공으로 볼지</a:t>
            </a:r>
          </a:p>
        </p:txBody>
      </p:sp>
      <p:sp>
        <p:nvSpPr>
          <p:cNvPr id="42" name="macro-F1 카드"/>
          <p:cNvSpPr/>
          <p:nvPr/>
        </p:nvSpPr>
        <p:spPr>
          <a:xfrm>
            <a:off x="612648" y="1463040"/>
            <a:ext cx="5330952"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841248" y="1664208"/>
            <a:ext cx="822960" cy="256032"/>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Noto Sans KR"/>
                <a:ea typeface="Noto Sans KR"/>
                <a:cs typeface="Noto Sans KR"/>
              </a:rPr>
              <a:t>주 지표</a:t>
            </a:r>
          </a:p>
        </p:txBody>
      </p:sp>
      <p:sp>
        <p:nvSpPr>
          <p:cNvPr id="44" name="TextBox 43"/>
          <p:cNvSpPr txBox="1"/>
          <p:nvPr/>
        </p:nvSpPr>
        <p:spPr>
          <a:xfrm>
            <a:off x="1801368" y="1618488"/>
            <a:ext cx="3931920" cy="365760"/>
          </a:xfrm>
          <a:prstGeom prst="rect">
            <a:avLst/>
          </a:prstGeom>
          <a:noFill/>
        </p:spPr>
        <p:txBody>
          <a:bodyPr wrap="square" lIns="0" tIns="0" rIns="0" bIns="0" anchor="t">
            <a:spAutoFit/>
          </a:bodyPr>
          <a:lstStyle/>
          <a:p>
            <a:pPr algn="l"/>
            <a:r>
              <a:rPr sz="2000" b="1">
                <a:solidFill>
                  <a:srgbClr val="1F5FA8"/>
                </a:solidFill>
                <a:latin typeface="Noto Sans KR"/>
                <a:ea typeface="Noto Sans KR"/>
                <a:cs typeface="Noto Sans KR"/>
              </a:rPr>
              <a:t>macro-F1</a:t>
            </a:r>
            <a:r>
              <a:rPr sz="1200" b="1">
                <a:solidFill>
                  <a:srgbClr val="1F5FA8"/>
                </a:solidFill>
                <a:latin typeface="Noto Sans KR"/>
                <a:ea typeface="Noto Sans KR"/>
                <a:cs typeface="Noto Sans KR"/>
              </a:rPr>
              <a:t>*</a:t>
            </a:r>
          </a:p>
        </p:txBody>
      </p:sp>
      <p:sp>
        <p:nvSpPr>
          <p:cNvPr id="45" name="TextBox 44"/>
          <p:cNvSpPr txBox="1"/>
          <p:nvPr/>
        </p:nvSpPr>
        <p:spPr>
          <a:xfrm>
            <a:off x="841248" y="2084832"/>
            <a:ext cx="4873752" cy="548640"/>
          </a:xfrm>
          <a:prstGeom prst="rect">
            <a:avLst/>
          </a:prstGeom>
          <a:noFill/>
        </p:spPr>
        <p:txBody>
          <a:bodyPr wrap="square" lIns="0" tIns="0" rIns="0" bIns="0" anchor="t">
            <a:spAutoFit/>
          </a:bodyPr>
          <a:lstStyle/>
          <a:p>
            <a:pPr algn="l"/>
            <a:r>
              <a:rPr sz="1400" b="0">
                <a:solidFill>
                  <a:srgbClr val="1B1F24"/>
                </a:solidFill>
                <a:latin typeface="Noto Sans KR"/>
                <a:ea typeface="Noto Sans KR"/>
                <a:cs typeface="Noto Sans KR"/>
              </a:rPr>
              <a:t>혐오·비혐오를 </a:t>
            </a:r>
            <a:r>
              <a:rPr sz="1400" b="1">
                <a:solidFill>
                  <a:srgbClr val="1B1F24"/>
                </a:solidFill>
                <a:latin typeface="Noto Sans KR"/>
                <a:ea typeface="Noto Sans KR"/>
                <a:cs typeface="Noto Sans KR"/>
              </a:rPr>
              <a:t>따로 채점해서 평균</a:t>
            </a:r>
          </a:p>
          <a:p>
            <a:pPr algn="l">
              <a:spcBef>
                <a:spcPts val="300"/>
              </a:spcBef>
            </a:pPr>
            <a:r>
              <a:rPr sz="1200" b="0">
                <a:solidFill>
                  <a:srgbClr val="5B6470"/>
                </a:solidFill>
                <a:latin typeface="Noto Sans KR"/>
                <a:ea typeface="Noto Sans KR"/>
                <a:cs typeface="Noto Sans KR"/>
              </a:rPr>
              <a:t>수가 적은 혐오도 똑같은 비중으로 반영됨</a:t>
            </a:r>
          </a:p>
        </p:txBody>
      </p:sp>
      <p:sp>
        <p:nvSpPr>
          <p:cNvPr id="46" name="TextBox 45"/>
          <p:cNvSpPr txBox="1"/>
          <p:nvPr/>
        </p:nvSpPr>
        <p:spPr>
          <a:xfrm>
            <a:off x="841248" y="2724912"/>
            <a:ext cx="2103120" cy="228600"/>
          </a:xfrm>
          <a:prstGeom prst="rect">
            <a:avLst/>
          </a:prstGeom>
          <a:noFill/>
        </p:spPr>
        <p:txBody>
          <a:bodyPr wrap="square" lIns="0" tIns="0" rIns="0" bIns="0" anchor="t">
            <a:spAutoFit/>
          </a:bodyPr>
          <a:lstStyle/>
          <a:p>
            <a:pPr algn="l"/>
            <a:r>
              <a:rPr sz="1200" b="0">
                <a:solidFill>
                  <a:srgbClr val="5B6470"/>
                </a:solidFill>
                <a:latin typeface="Noto Sans KR"/>
                <a:ea typeface="Noto Sans KR"/>
                <a:cs typeface="Noto Sans KR"/>
              </a:rPr>
              <a:t>전부 "비혐오"로 찍으면</a:t>
            </a:r>
          </a:p>
        </p:txBody>
      </p:sp>
      <p:sp>
        <p:nvSpPr>
          <p:cNvPr id="47" name="TextBox 46"/>
          <p:cNvSpPr txBox="1"/>
          <p:nvPr/>
        </p:nvSpPr>
        <p:spPr>
          <a:xfrm>
            <a:off x="2944368" y="2670048"/>
            <a:ext cx="685800" cy="228600"/>
          </a:xfrm>
          <a:prstGeom prst="rect">
            <a:avLst/>
          </a:prstGeom>
          <a:noFill/>
        </p:spPr>
        <p:txBody>
          <a:bodyPr wrap="square" lIns="0" tIns="0" rIns="0" bIns="0" anchor="t">
            <a:spAutoFit/>
          </a:bodyPr>
          <a:lstStyle/>
          <a:p>
            <a:pPr algn="l"/>
            <a:r>
              <a:rPr sz="1100" b="0">
                <a:solidFill>
                  <a:srgbClr val="5B6470"/>
                </a:solidFill>
                <a:latin typeface="Noto Sans KR"/>
                <a:ea typeface="Noto Sans KR"/>
                <a:cs typeface="Noto Sans KR"/>
              </a:rPr>
              <a:t>정확도</a:t>
            </a:r>
          </a:p>
        </p:txBody>
      </p:sp>
      <p:sp>
        <p:nvSpPr>
          <p:cNvPr id="48" name="Rectangle 47"/>
          <p:cNvSpPr/>
          <p:nvPr/>
        </p:nvSpPr>
        <p:spPr>
          <a:xfrm>
            <a:off x="3630168" y="2697480"/>
            <a:ext cx="1463040" cy="182880"/>
          </a:xfrm>
          <a:prstGeom prst="rect">
            <a:avLst/>
          </a:prstGeom>
          <a:solidFill>
            <a:srgbClr val="D5D9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57216" y="2670048"/>
            <a:ext cx="548640" cy="228600"/>
          </a:xfrm>
          <a:prstGeom prst="rect">
            <a:avLst/>
          </a:prstGeom>
          <a:noFill/>
        </p:spPr>
        <p:txBody>
          <a:bodyPr wrap="square" lIns="0" tIns="0" rIns="0" bIns="0" anchor="t">
            <a:spAutoFit/>
          </a:bodyPr>
          <a:lstStyle/>
          <a:p>
            <a:pPr algn="l"/>
            <a:r>
              <a:rPr sz="1200" b="1">
                <a:solidFill>
                  <a:srgbClr val="1B1F24"/>
                </a:solidFill>
                <a:latin typeface="Noto Sans KR"/>
                <a:ea typeface="Noto Sans KR"/>
                <a:cs typeface="Noto Sans KR"/>
              </a:rPr>
              <a:t>0.745</a:t>
            </a:r>
          </a:p>
        </p:txBody>
      </p:sp>
      <p:sp>
        <p:nvSpPr>
          <p:cNvPr id="50" name="TextBox 49"/>
          <p:cNvSpPr txBox="1"/>
          <p:nvPr/>
        </p:nvSpPr>
        <p:spPr>
          <a:xfrm>
            <a:off x="2944368" y="2944368"/>
            <a:ext cx="685800" cy="228600"/>
          </a:xfrm>
          <a:prstGeom prst="rect">
            <a:avLst/>
          </a:prstGeom>
          <a:noFill/>
        </p:spPr>
        <p:txBody>
          <a:bodyPr wrap="square" lIns="0" tIns="0" rIns="0" bIns="0" anchor="t">
            <a:spAutoFit/>
          </a:bodyPr>
          <a:lstStyle/>
          <a:p>
            <a:pPr algn="l"/>
            <a:r>
              <a:rPr sz="1100" b="0">
                <a:solidFill>
                  <a:srgbClr val="5B6470"/>
                </a:solidFill>
                <a:latin typeface="Noto Sans KR"/>
                <a:ea typeface="Noto Sans KR"/>
                <a:cs typeface="Noto Sans KR"/>
              </a:rPr>
              <a:t>macro-F1</a:t>
            </a:r>
          </a:p>
        </p:txBody>
      </p:sp>
      <p:sp>
        <p:nvSpPr>
          <p:cNvPr id="51" name="Rectangle 50"/>
          <p:cNvSpPr/>
          <p:nvPr/>
        </p:nvSpPr>
        <p:spPr>
          <a:xfrm>
            <a:off x="3630168" y="2971800"/>
            <a:ext cx="841248" cy="182880"/>
          </a:xfrm>
          <a:prstGeom prst="rect">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535424" y="2944368"/>
            <a:ext cx="1188720" cy="228600"/>
          </a:xfrm>
          <a:prstGeom prst="rect">
            <a:avLst/>
          </a:prstGeom>
          <a:noFill/>
        </p:spPr>
        <p:txBody>
          <a:bodyPr wrap="square" lIns="0" tIns="0" rIns="0" bIns="0" anchor="t">
            <a:spAutoFit/>
          </a:bodyPr>
          <a:lstStyle/>
          <a:p>
            <a:pPr algn="l"/>
            <a:r>
              <a:rPr sz="1200" b="1">
                <a:solidFill>
                  <a:srgbClr val="1F5FA8"/>
                </a:solidFill>
                <a:latin typeface="Noto Sans KR"/>
                <a:ea typeface="Noto Sans KR"/>
                <a:cs typeface="Noto Sans KR"/>
              </a:rPr>
              <a:t>0.427</a:t>
            </a:r>
          </a:p>
        </p:txBody>
      </p:sp>
      <p:sp>
        <p:nvSpPr>
          <p:cNvPr id="53" name="Recall 카드"/>
          <p:cNvSpPr/>
          <p:nvPr/>
        </p:nvSpPr>
        <p:spPr>
          <a:xfrm>
            <a:off x="6245352" y="1463040"/>
            <a:ext cx="5330952" cy="1874519"/>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473952" y="1664208"/>
            <a:ext cx="822960" cy="256032"/>
          </a:xfrm>
          <a:prstGeom prst="roundRect">
            <a:avLst>
              <a:gd name="adj" fmla="val 50000"/>
            </a:avLst>
          </a:prstGeom>
          <a:solidFill>
            <a:srgbClr val="5B647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Noto Sans KR"/>
                <a:ea typeface="Noto Sans KR"/>
                <a:cs typeface="Noto Sans KR"/>
              </a:rPr>
              <a:t>보조 지표</a:t>
            </a:r>
          </a:p>
        </p:txBody>
      </p:sp>
      <p:sp>
        <p:nvSpPr>
          <p:cNvPr id="55" name="TextBox 54"/>
          <p:cNvSpPr txBox="1"/>
          <p:nvPr/>
        </p:nvSpPr>
        <p:spPr>
          <a:xfrm>
            <a:off x="7434072" y="1618488"/>
            <a:ext cx="3931920" cy="365760"/>
          </a:xfrm>
          <a:prstGeom prst="rect">
            <a:avLst/>
          </a:prstGeom>
          <a:noFill/>
        </p:spPr>
        <p:txBody>
          <a:bodyPr wrap="square" lIns="0" tIns="0" rIns="0" bIns="0" anchor="t">
            <a:spAutoFit/>
          </a:bodyPr>
          <a:lstStyle/>
          <a:p>
            <a:pPr algn="l"/>
            <a:r>
              <a:rPr sz="2000" b="1">
                <a:solidFill>
                  <a:srgbClr val="1B1F24"/>
                </a:solidFill>
                <a:latin typeface="Noto Sans KR"/>
                <a:ea typeface="Noto Sans KR"/>
                <a:cs typeface="Noto Sans KR"/>
              </a:rPr>
              <a:t>혐오 Recall</a:t>
            </a:r>
            <a:r>
              <a:rPr sz="1200" b="0">
                <a:solidFill>
                  <a:srgbClr val="5B6470"/>
                </a:solidFill>
                <a:latin typeface="Noto Sans KR"/>
                <a:ea typeface="Noto Sans KR"/>
                <a:cs typeface="Noto Sans KR"/>
              </a:rPr>
              <a:t>  재현율</a:t>
            </a:r>
          </a:p>
        </p:txBody>
      </p:sp>
      <p:sp>
        <p:nvSpPr>
          <p:cNvPr id="56" name="TextBox 55"/>
          <p:cNvSpPr txBox="1"/>
          <p:nvPr/>
        </p:nvSpPr>
        <p:spPr>
          <a:xfrm>
            <a:off x="6473952" y="2084832"/>
            <a:ext cx="4873752" cy="548640"/>
          </a:xfrm>
          <a:prstGeom prst="rect">
            <a:avLst/>
          </a:prstGeom>
          <a:noFill/>
        </p:spPr>
        <p:txBody>
          <a:bodyPr wrap="square" lIns="0" tIns="0" rIns="0" bIns="0" anchor="t">
            <a:spAutoFit/>
          </a:bodyPr>
          <a:lstStyle/>
          <a:p>
            <a:pPr algn="l"/>
            <a:r>
              <a:rPr sz="1400" b="0">
                <a:solidFill>
                  <a:srgbClr val="1B1F24"/>
                </a:solidFill>
                <a:latin typeface="Noto Sans KR"/>
                <a:ea typeface="Noto Sans KR"/>
                <a:cs typeface="Noto Sans KR"/>
              </a:rPr>
              <a:t>실제 혐오 댓글 중 </a:t>
            </a:r>
            <a:r>
              <a:rPr sz="1400" b="1">
                <a:solidFill>
                  <a:srgbClr val="1B1F24"/>
                </a:solidFill>
                <a:latin typeface="Noto Sans KR"/>
                <a:ea typeface="Noto Sans KR"/>
                <a:cs typeface="Noto Sans KR"/>
              </a:rPr>
              <a:t>몇 %를 잡아냈나</a:t>
            </a:r>
          </a:p>
          <a:p>
            <a:pPr algn="l">
              <a:spcBef>
                <a:spcPts val="300"/>
              </a:spcBef>
            </a:pPr>
            <a:r>
              <a:rPr sz="1200" b="0">
                <a:solidFill>
                  <a:srgbClr val="5B6470"/>
                </a:solidFill>
                <a:latin typeface="Noto Sans KR"/>
                <a:ea typeface="Noto Sans KR"/>
                <a:cs typeface="Noto Sans KR"/>
              </a:rPr>
              <a:t>예: 혐오 100개 중 80개를 잡으면 0.80</a:t>
            </a:r>
          </a:p>
        </p:txBody>
      </p:sp>
      <p:sp>
        <p:nvSpPr>
          <p:cNvPr id="57" name="TextBox 56"/>
          <p:cNvSpPr txBox="1"/>
          <p:nvPr/>
        </p:nvSpPr>
        <p:spPr>
          <a:xfrm>
            <a:off x="6473952" y="2724912"/>
            <a:ext cx="4873752" cy="457200"/>
          </a:xfrm>
          <a:prstGeom prst="rect">
            <a:avLst/>
          </a:prstGeom>
          <a:noFill/>
        </p:spPr>
        <p:txBody>
          <a:bodyPr wrap="square" lIns="0" tIns="0" rIns="0" bIns="0" anchor="t">
            <a:spAutoFit/>
          </a:bodyPr>
          <a:lstStyle/>
          <a:p>
            <a:pPr algn="l"/>
            <a:r>
              <a:rPr sz="1200" b="0">
                <a:solidFill>
                  <a:srgbClr val="5B6470"/>
                </a:solidFill>
                <a:latin typeface="Noto Sans KR"/>
                <a:ea typeface="Noto Sans KR"/>
                <a:cs typeface="Noto Sans KR"/>
              </a:rPr>
              <a:t>혐오를 놓치는 것이 이 과제에서 가장 피해야 할 실수</a:t>
            </a:r>
          </a:p>
        </p:txBody>
      </p:sp>
      <p:sp>
        <p:nvSpPr>
          <p:cNvPr id="58" name="TextBox 57"/>
          <p:cNvSpPr txBox="1"/>
          <p:nvPr/>
        </p:nvSpPr>
        <p:spPr>
          <a:xfrm>
            <a:off x="612648" y="3566160"/>
            <a:ext cx="2743200" cy="274320"/>
          </a:xfrm>
          <a:prstGeom prst="rect">
            <a:avLst/>
          </a:prstGeom>
          <a:noFill/>
        </p:spPr>
        <p:txBody>
          <a:bodyPr wrap="square" lIns="0" tIns="0" rIns="0" bIns="0" anchor="t">
            <a:spAutoFit/>
          </a:bodyPr>
          <a:lstStyle/>
          <a:p>
            <a:pPr algn="l"/>
            <a:r>
              <a:rPr sz="1300" b="1">
                <a:solidFill>
                  <a:srgbClr val="5B6470"/>
                </a:solidFill>
                <a:latin typeface="Noto Sans KR"/>
                <a:ea typeface="Noto Sans KR"/>
                <a:cs typeface="Noto Sans KR"/>
              </a:rPr>
              <a:t>넘어야 할 선</a:t>
            </a:r>
          </a:p>
        </p:txBody>
      </p:sp>
      <p:sp>
        <p:nvSpPr>
          <p:cNvPr id="59" name="Rounded Rectangle 58"/>
          <p:cNvSpPr/>
          <p:nvPr/>
        </p:nvSpPr>
        <p:spPr>
          <a:xfrm>
            <a:off x="612648" y="3913632"/>
            <a:ext cx="1965960" cy="658368"/>
          </a:xfrm>
          <a:prstGeom prst="roundRect">
            <a:avLst>
              <a:gd name="adj" fmla="val 8000"/>
            </a:avLst>
          </a:prstGeom>
          <a:solidFill>
            <a:srgbClr val="FFFFFF"/>
          </a:solidFill>
          <a:ln w="9525">
            <a:solidFill>
              <a:srgbClr val="C9CED4"/>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300" b="0">
                <a:solidFill>
                  <a:srgbClr val="1B1F24"/>
                </a:solidFill>
                <a:latin typeface="Noto Sans KR"/>
                <a:ea typeface="Noto Sans KR"/>
                <a:cs typeface="Noto Sans KR"/>
              </a:rPr>
              <a:t>같은 댓글</a:t>
            </a:r>
          </a:p>
        </p:txBody>
      </p:sp>
      <p:sp>
        <p:nvSpPr>
          <p:cNvPr id="60" name="TextBox 59"/>
          <p:cNvSpPr txBox="1"/>
          <p:nvPr/>
        </p:nvSpPr>
        <p:spPr>
          <a:xfrm>
            <a:off x="2578608" y="3913632"/>
            <a:ext cx="365760" cy="658368"/>
          </a:xfrm>
          <a:prstGeom prst="rect">
            <a:avLst/>
          </a:prstGeom>
          <a:noFill/>
        </p:spPr>
        <p:txBody>
          <a:bodyPr wrap="square" lIns="0" tIns="0" rIns="0" bIns="0" anchor="ctr">
            <a:spAutoFit/>
          </a:bodyPr>
          <a:lstStyle/>
          <a:p>
            <a:pPr algn="ctr"/>
            <a:r>
              <a:rPr sz="1600" b="0">
                <a:solidFill>
                  <a:srgbClr val="8C949D"/>
                </a:solidFill>
                <a:latin typeface="Noto Sans KR"/>
                <a:ea typeface="Noto Sans KR"/>
                <a:cs typeface="Noto Sans KR"/>
              </a:rPr>
              <a:t>→</a:t>
            </a:r>
          </a:p>
        </p:txBody>
      </p:sp>
      <p:sp>
        <p:nvSpPr>
          <p:cNvPr id="61" name="Rounded Rectangle 60"/>
          <p:cNvSpPr/>
          <p:nvPr/>
        </p:nvSpPr>
        <p:spPr>
          <a:xfrm>
            <a:off x="2944368" y="3913632"/>
            <a:ext cx="1965960" cy="658368"/>
          </a:xfrm>
          <a:prstGeom prst="roundRect">
            <a:avLst>
              <a:gd name="adj" fmla="val 8000"/>
            </a:avLst>
          </a:prstGeom>
          <a:solidFill>
            <a:srgbClr val="FFFFFF"/>
          </a:solidFill>
          <a:ln w="9525">
            <a:solidFill>
              <a:srgbClr val="C9CED4"/>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300" b="0">
                <a:solidFill>
                  <a:srgbClr val="1B1F24"/>
                </a:solidFill>
                <a:latin typeface="Noto Sans KR"/>
                <a:ea typeface="Noto Sans KR"/>
                <a:cs typeface="Noto Sans KR"/>
              </a:rPr>
              <a:t>댓글만 보는 모델은</a:t>
            </a:r>
          </a:p>
          <a:p>
            <a:pPr algn="ctr"/>
            <a:r>
              <a:rPr sz="1300" b="0">
                <a:solidFill>
                  <a:srgbClr val="1B1F24"/>
                </a:solidFill>
                <a:latin typeface="Noto Sans KR"/>
                <a:ea typeface="Noto Sans KR"/>
                <a:cs typeface="Noto Sans KR"/>
              </a:rPr>
              <a:t>늘 같은 답</a:t>
            </a:r>
          </a:p>
        </p:txBody>
      </p:sp>
      <p:sp>
        <p:nvSpPr>
          <p:cNvPr id="62" name="TextBox 61"/>
          <p:cNvSpPr txBox="1"/>
          <p:nvPr/>
        </p:nvSpPr>
        <p:spPr>
          <a:xfrm>
            <a:off x="4910327" y="3913632"/>
            <a:ext cx="365760" cy="658368"/>
          </a:xfrm>
          <a:prstGeom prst="rect">
            <a:avLst/>
          </a:prstGeom>
          <a:noFill/>
        </p:spPr>
        <p:txBody>
          <a:bodyPr wrap="square" lIns="0" tIns="0" rIns="0" bIns="0" anchor="ctr">
            <a:spAutoFit/>
          </a:bodyPr>
          <a:lstStyle/>
          <a:p>
            <a:pPr algn="ctr"/>
            <a:r>
              <a:rPr sz="1600" b="0">
                <a:solidFill>
                  <a:srgbClr val="8C949D"/>
                </a:solidFill>
                <a:latin typeface="Noto Sans KR"/>
                <a:ea typeface="Noto Sans KR"/>
                <a:cs typeface="Noto Sans KR"/>
              </a:rPr>
              <a:t>→</a:t>
            </a:r>
          </a:p>
        </p:txBody>
      </p:sp>
      <p:sp>
        <p:nvSpPr>
          <p:cNvPr id="63" name="Rounded Rectangle 62"/>
          <p:cNvSpPr/>
          <p:nvPr/>
        </p:nvSpPr>
        <p:spPr>
          <a:xfrm>
            <a:off x="5276088" y="3913632"/>
            <a:ext cx="1965960" cy="658368"/>
          </a:xfrm>
          <a:prstGeom prst="roundRect">
            <a:avLst>
              <a:gd name="adj" fmla="val 8000"/>
            </a:avLst>
          </a:prstGeom>
          <a:solidFill>
            <a:srgbClr val="FFFFFF"/>
          </a:solidFill>
          <a:ln w="9525">
            <a:solidFill>
              <a:srgbClr val="C9CED4"/>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sz="1300" b="0">
                <a:solidFill>
                  <a:srgbClr val="1B1F24"/>
                </a:solidFill>
                <a:latin typeface="Noto Sans KR"/>
                <a:ea typeface="Noto Sans KR"/>
                <a:cs typeface="Noto Sans KR"/>
              </a:rPr>
              <a:t>764쌍마다</a:t>
            </a:r>
          </a:p>
          <a:p>
            <a:pPr algn="ctr"/>
            <a:r>
              <a:rPr sz="1300" b="0">
                <a:solidFill>
                  <a:srgbClr val="1B1F24"/>
                </a:solidFill>
                <a:latin typeface="Noto Sans KR"/>
                <a:ea typeface="Noto Sans KR"/>
                <a:cs typeface="Noto Sans KR"/>
              </a:rPr>
              <a:t>하나는 틀림</a:t>
            </a:r>
          </a:p>
        </p:txBody>
      </p:sp>
      <p:sp>
        <p:nvSpPr>
          <p:cNvPr id="64" name="TextBox 63"/>
          <p:cNvSpPr txBox="1"/>
          <p:nvPr/>
        </p:nvSpPr>
        <p:spPr>
          <a:xfrm>
            <a:off x="7242048" y="3913632"/>
            <a:ext cx="365760" cy="658368"/>
          </a:xfrm>
          <a:prstGeom prst="rect">
            <a:avLst/>
          </a:prstGeom>
          <a:noFill/>
        </p:spPr>
        <p:txBody>
          <a:bodyPr wrap="square" lIns="0" tIns="0" rIns="0" bIns="0" anchor="ctr">
            <a:spAutoFit/>
          </a:bodyPr>
          <a:lstStyle/>
          <a:p>
            <a:pPr algn="ctr"/>
            <a:r>
              <a:rPr sz="1600" b="0">
                <a:solidFill>
                  <a:srgbClr val="8C949D"/>
                </a:solidFill>
                <a:latin typeface="Noto Sans KR"/>
                <a:ea typeface="Noto Sans KR"/>
                <a:cs typeface="Noto Sans KR"/>
              </a:rPr>
              <a:t>→</a:t>
            </a:r>
          </a:p>
        </p:txBody>
      </p:sp>
      <p:sp>
        <p:nvSpPr>
          <p:cNvPr id="65" name="Rounded Rectangle 64"/>
          <p:cNvSpPr/>
          <p:nvPr/>
        </p:nvSpPr>
        <p:spPr>
          <a:xfrm>
            <a:off x="7607808" y="3913632"/>
            <a:ext cx="2286000" cy="658368"/>
          </a:xfrm>
          <a:prstGeom prst="roundRect">
            <a:avLst>
              <a:gd name="adj" fmla="val 8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0">
                <a:solidFill>
                  <a:srgbClr val="FFFFFF"/>
                </a:solidFill>
                <a:latin typeface="Noto Sans KR"/>
                <a:ea typeface="Noto Sans KR"/>
                <a:cs typeface="Noto Sans KR"/>
              </a:rPr>
              <a:t>최고점 </a:t>
            </a:r>
            <a:r>
              <a:rPr sz="2000" b="1">
                <a:solidFill>
                  <a:srgbClr val="FFFFFF"/>
                </a:solidFill>
                <a:latin typeface="Noto Sans KR"/>
                <a:ea typeface="Noto Sans KR"/>
                <a:cs typeface="Noto Sans KR"/>
              </a:rPr>
              <a:t>0.730</a:t>
            </a:r>
          </a:p>
        </p:txBody>
      </p:sp>
      <p:sp>
        <p:nvSpPr>
          <p:cNvPr id="66" name="TextBox 65"/>
          <p:cNvSpPr txBox="1"/>
          <p:nvPr/>
        </p:nvSpPr>
        <p:spPr>
          <a:xfrm>
            <a:off x="10076688" y="3913632"/>
            <a:ext cx="1499616" cy="658368"/>
          </a:xfrm>
          <a:prstGeom prst="rect">
            <a:avLst/>
          </a:prstGeom>
          <a:noFill/>
        </p:spPr>
        <p:txBody>
          <a:bodyPr wrap="square" lIns="0" tIns="0" rIns="0" bIns="0" anchor="ctr">
            <a:spAutoFit/>
          </a:bodyPr>
          <a:lstStyle/>
          <a:p>
            <a:pPr algn="l"/>
            <a:r>
              <a:rPr sz="1200" b="0">
                <a:solidFill>
                  <a:srgbClr val="1B1F24"/>
                </a:solidFill>
                <a:latin typeface="Noto Sans KR"/>
                <a:ea typeface="Noto Sans KR"/>
                <a:cs typeface="Noto Sans KR"/>
              </a:rPr>
              <a:t>이 선을 넘어야</a:t>
            </a:r>
          </a:p>
          <a:p>
            <a:pPr algn="l">
              <a:spcBef>
                <a:spcPts val="300"/>
              </a:spcBef>
            </a:pPr>
            <a:r>
              <a:rPr sz="1300" b="1">
                <a:solidFill>
                  <a:srgbClr val="1F5FA8"/>
                </a:solidFill>
                <a:latin typeface="Noto Sans KR"/>
                <a:ea typeface="Noto Sans KR"/>
                <a:cs typeface="Noto Sans KR"/>
              </a:rPr>
              <a:t>"맥락 덕분"</a:t>
            </a:r>
          </a:p>
        </p:txBody>
      </p:sp>
      <p:sp>
        <p:nvSpPr>
          <p:cNvPr id="67" name="TextBox 66"/>
          <p:cNvSpPr txBox="1"/>
          <p:nvPr/>
        </p:nvSpPr>
        <p:spPr>
          <a:xfrm>
            <a:off x="612648" y="4892040"/>
            <a:ext cx="5486400" cy="274320"/>
          </a:xfrm>
          <a:prstGeom prst="rect">
            <a:avLst/>
          </a:prstGeom>
          <a:noFill/>
        </p:spPr>
        <p:txBody>
          <a:bodyPr wrap="square" lIns="0" tIns="0" rIns="0" bIns="0" anchor="t">
            <a:spAutoFit/>
          </a:bodyPr>
          <a:lstStyle/>
          <a:p>
            <a:pPr algn="l"/>
            <a:r>
              <a:rPr sz="1300" b="1">
                <a:solidFill>
                  <a:srgbClr val="5B6470"/>
                </a:solidFill>
                <a:latin typeface="Noto Sans KR"/>
                <a:ea typeface="Noto Sans KR"/>
                <a:cs typeface="Noto Sans KR"/>
              </a:rPr>
              <a:t>성공 기준 </a:t>
            </a:r>
            <a:r>
              <a:rPr sz="1200" b="0">
                <a:solidFill>
                  <a:srgbClr val="5B6470"/>
                </a:solidFill>
                <a:latin typeface="Noto Sans KR"/>
                <a:ea typeface="Noto Sans KR"/>
                <a:cs typeface="Noto Sans KR"/>
              </a:rPr>
              <a:t>· 맥락+댓글 모델이 세 가지를 모두 충족해야 성공</a:t>
            </a:r>
          </a:p>
        </p:txBody>
      </p:sp>
      <p:sp>
        <p:nvSpPr>
          <p:cNvPr id="68" name="Rounded Rectangle 67"/>
          <p:cNvSpPr/>
          <p:nvPr/>
        </p:nvSpPr>
        <p:spPr>
          <a:xfrm>
            <a:off x="612648" y="5239512"/>
            <a:ext cx="3505200" cy="841248"/>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795528" y="5376672"/>
            <a:ext cx="292608" cy="292608"/>
          </a:xfrm>
          <a:prstGeom prst="ellips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Noto Sans KR"/>
                <a:ea typeface="Noto Sans KR"/>
                <a:cs typeface="Noto Sans KR"/>
              </a:rPr>
              <a:t>1</a:t>
            </a:r>
          </a:p>
        </p:txBody>
      </p:sp>
      <p:sp>
        <p:nvSpPr>
          <p:cNvPr id="70" name="TextBox 69"/>
          <p:cNvSpPr txBox="1"/>
          <p:nvPr/>
        </p:nvSpPr>
        <p:spPr>
          <a:xfrm>
            <a:off x="1207008" y="5349240"/>
            <a:ext cx="2773680" cy="320040"/>
          </a:xfrm>
          <a:prstGeom prst="rect">
            <a:avLst/>
          </a:prstGeom>
          <a:noFill/>
        </p:spPr>
        <p:txBody>
          <a:bodyPr wrap="square" lIns="0" tIns="0" rIns="0" bIns="0" anchor="t">
            <a:spAutoFit/>
          </a:bodyPr>
          <a:lstStyle/>
          <a:p>
            <a:pPr algn="l"/>
            <a:r>
              <a:rPr sz="1400" b="1">
                <a:solidFill>
                  <a:srgbClr val="1B1F24"/>
                </a:solidFill>
                <a:latin typeface="Noto Sans KR"/>
                <a:ea typeface="Noto Sans KR"/>
                <a:cs typeface="Noto Sans KR"/>
              </a:rPr>
              <a:t>macro-F1 0.73 이상</a:t>
            </a:r>
          </a:p>
        </p:txBody>
      </p:sp>
      <p:sp>
        <p:nvSpPr>
          <p:cNvPr id="71" name="TextBox 70"/>
          <p:cNvSpPr txBox="1"/>
          <p:nvPr/>
        </p:nvSpPr>
        <p:spPr>
          <a:xfrm>
            <a:off x="1207008" y="5696712"/>
            <a:ext cx="2773680" cy="274320"/>
          </a:xfrm>
          <a:prstGeom prst="rect">
            <a:avLst/>
          </a:prstGeom>
          <a:noFill/>
        </p:spPr>
        <p:txBody>
          <a:bodyPr wrap="square" lIns="0" tIns="0" rIns="0" bIns="0" anchor="t">
            <a:spAutoFit/>
          </a:bodyPr>
          <a:lstStyle/>
          <a:p>
            <a:pPr algn="l"/>
            <a:r>
              <a:rPr sz="1200" b="0">
                <a:solidFill>
                  <a:srgbClr val="5B6470"/>
                </a:solidFill>
                <a:latin typeface="Noto Sans KR"/>
                <a:ea typeface="Noto Sans KR"/>
                <a:cs typeface="Noto Sans KR"/>
              </a:rPr>
              <a:t>댓글만으로 낼 수 있는 최고점을 넘었나</a:t>
            </a:r>
          </a:p>
        </p:txBody>
      </p:sp>
      <p:sp>
        <p:nvSpPr>
          <p:cNvPr id="72" name="Rounded Rectangle 71"/>
          <p:cNvSpPr/>
          <p:nvPr/>
        </p:nvSpPr>
        <p:spPr>
          <a:xfrm>
            <a:off x="4346448" y="5239512"/>
            <a:ext cx="3505200" cy="841248"/>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529328" y="5376672"/>
            <a:ext cx="292608" cy="292608"/>
          </a:xfrm>
          <a:prstGeom prst="ellips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Noto Sans KR"/>
                <a:ea typeface="Noto Sans KR"/>
                <a:cs typeface="Noto Sans KR"/>
              </a:rPr>
              <a:t>2</a:t>
            </a:r>
          </a:p>
        </p:txBody>
      </p:sp>
      <p:sp>
        <p:nvSpPr>
          <p:cNvPr id="74" name="TextBox 73"/>
          <p:cNvSpPr txBox="1"/>
          <p:nvPr/>
        </p:nvSpPr>
        <p:spPr>
          <a:xfrm>
            <a:off x="4940808" y="5349240"/>
            <a:ext cx="2773680" cy="320040"/>
          </a:xfrm>
          <a:prstGeom prst="rect">
            <a:avLst/>
          </a:prstGeom>
          <a:noFill/>
        </p:spPr>
        <p:txBody>
          <a:bodyPr wrap="square" lIns="0" tIns="0" rIns="0" bIns="0" anchor="t">
            <a:spAutoFit/>
          </a:bodyPr>
          <a:lstStyle/>
          <a:p>
            <a:pPr algn="l"/>
            <a:r>
              <a:rPr sz="1400" b="1">
                <a:solidFill>
                  <a:srgbClr val="1B1F24"/>
                </a:solidFill>
                <a:latin typeface="Noto Sans KR"/>
                <a:ea typeface="Noto Sans KR"/>
                <a:cs typeface="Noto Sans KR"/>
              </a:rPr>
              <a:t>5번 중 4번 이상 개선 · p &lt; 0.05</a:t>
            </a:r>
          </a:p>
        </p:txBody>
      </p:sp>
      <p:sp>
        <p:nvSpPr>
          <p:cNvPr id="75" name="TextBox 74"/>
          <p:cNvSpPr txBox="1"/>
          <p:nvPr/>
        </p:nvSpPr>
        <p:spPr>
          <a:xfrm>
            <a:off x="4940808" y="5696712"/>
            <a:ext cx="2773680" cy="274320"/>
          </a:xfrm>
          <a:prstGeom prst="rect">
            <a:avLst/>
          </a:prstGeom>
          <a:noFill/>
        </p:spPr>
        <p:txBody>
          <a:bodyPr wrap="square" lIns="0" tIns="0" rIns="0" bIns="0" anchor="t">
            <a:spAutoFit/>
          </a:bodyPr>
          <a:lstStyle/>
          <a:p>
            <a:pPr algn="l"/>
            <a:r>
              <a:rPr sz="1200" b="0">
                <a:solidFill>
                  <a:srgbClr val="5B6470"/>
                </a:solidFill>
                <a:latin typeface="Noto Sans KR"/>
                <a:ea typeface="Noto Sans KR"/>
                <a:cs typeface="Noto Sans KR"/>
              </a:rPr>
              <a:t>운 좋은 한두 번이 아니라 꾸준히 좋아졌나</a:t>
            </a:r>
          </a:p>
        </p:txBody>
      </p:sp>
      <p:sp>
        <p:nvSpPr>
          <p:cNvPr id="76" name="Rounded Rectangle 75"/>
          <p:cNvSpPr/>
          <p:nvPr/>
        </p:nvSpPr>
        <p:spPr>
          <a:xfrm>
            <a:off x="8080248" y="5239512"/>
            <a:ext cx="3505200" cy="841248"/>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8263128" y="5376672"/>
            <a:ext cx="292608" cy="292608"/>
          </a:xfrm>
          <a:prstGeom prst="ellips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Noto Sans KR"/>
                <a:ea typeface="Noto Sans KR"/>
                <a:cs typeface="Noto Sans KR"/>
              </a:rPr>
              <a:t>3</a:t>
            </a:r>
          </a:p>
        </p:txBody>
      </p:sp>
      <p:sp>
        <p:nvSpPr>
          <p:cNvPr id="78" name="TextBox 77"/>
          <p:cNvSpPr txBox="1"/>
          <p:nvPr/>
        </p:nvSpPr>
        <p:spPr>
          <a:xfrm>
            <a:off x="8674608" y="5349240"/>
            <a:ext cx="2773680" cy="320040"/>
          </a:xfrm>
          <a:prstGeom prst="rect">
            <a:avLst/>
          </a:prstGeom>
          <a:noFill/>
        </p:spPr>
        <p:txBody>
          <a:bodyPr wrap="square" lIns="0" tIns="0" rIns="0" bIns="0" anchor="t">
            <a:spAutoFit/>
          </a:bodyPr>
          <a:lstStyle/>
          <a:p>
            <a:pPr algn="l"/>
            <a:r>
              <a:rPr sz="1400" b="1">
                <a:solidFill>
                  <a:srgbClr val="1B1F24"/>
                </a:solidFill>
                <a:latin typeface="Noto Sans KR"/>
                <a:ea typeface="Noto Sans KR"/>
                <a:cs typeface="Noto Sans KR"/>
              </a:rPr>
              <a:t>혐오 Recall 하락 0.10 이하</a:t>
            </a:r>
          </a:p>
        </p:txBody>
      </p:sp>
      <p:sp>
        <p:nvSpPr>
          <p:cNvPr id="79" name="TextBox 78"/>
          <p:cNvSpPr txBox="1"/>
          <p:nvPr/>
        </p:nvSpPr>
        <p:spPr>
          <a:xfrm>
            <a:off x="8674608" y="5696712"/>
            <a:ext cx="2773680" cy="274320"/>
          </a:xfrm>
          <a:prstGeom prst="rect">
            <a:avLst/>
          </a:prstGeom>
          <a:noFill/>
        </p:spPr>
        <p:txBody>
          <a:bodyPr wrap="square" lIns="0" tIns="0" rIns="0" bIns="0" anchor="t">
            <a:spAutoFit/>
          </a:bodyPr>
          <a:lstStyle/>
          <a:p>
            <a:pPr algn="l"/>
            <a:r>
              <a:rPr sz="1200" b="0">
                <a:solidFill>
                  <a:srgbClr val="5B6470"/>
                </a:solidFill>
                <a:latin typeface="Noto Sans KR"/>
                <a:ea typeface="Noto Sans KR"/>
                <a:cs typeface="Noto Sans KR"/>
              </a:rPr>
              <a:t>점수가 올라도 혐오를 더 놓치지는 않았나</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06 베이스라인 결과 텍스트 1"/>
          <p:cNvSpPr txBox="1"/>
          <p:nvPr/>
        </p:nvSpPr>
        <p:spPr>
          <a:xfrm>
            <a:off x="609630" y="381030"/>
            <a:ext cx="2580803"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베이스라인 결과</a:t>
            </a:r>
            <a:endParaRPr lang="en-US" sz="2700" dirty="0"/>
          </a:p>
        </p:txBody>
      </p:sp>
      <p:sp>
        <p:nvSpPr>
          <p:cNvPr id="4" name="06 베이스라인 결과 텍스트 2"/>
          <p:cNvSpPr txBox="1"/>
          <p:nvPr/>
        </p:nvSpPr>
        <p:spPr>
          <a:xfrm>
            <a:off x="609630" y="1052932"/>
            <a:ext cx="2851374" cy="242865"/>
          </a:xfrm>
          <a:prstGeom prst="rect">
            <a:avLst/>
          </a:prstGeom>
          <a:noFill/>
          <a:ln/>
        </p:spPr>
        <p:txBody>
          <a:bodyPr wrap="none" lIns="0" tIns="0" rIns="0" bIns="0" rtlCol="0" anchor="ctr"/>
          <a:lstStyle/>
          <a:p>
            <a:pPr marL="0" indent="0" algn="l">
              <a:buNone/>
            </a:pPr>
            <a:r>
              <a:rPr lang="ko-KR" altLang="en-US" sz="1275" b="1" dirty="0">
                <a:solidFill>
                  <a:srgbClr val="1B1F24"/>
                </a:solidFill>
                <a:latin typeface="Noto Sans KR" pitchFamily="34" charset="0"/>
                <a:ea typeface="Noto Sans KR" pitchFamily="34" charset="-127"/>
                <a:cs typeface="Noto Sans KR" pitchFamily="34" charset="-120"/>
              </a:rPr>
              <a:t>macro-F1</a:t>
            </a:r>
            <a:r>
              <a:rPr lang="ko-KR" altLang="en-US" sz="1275" dirty="0">
                <a:solidFill>
                  <a:srgbClr val="3A424C"/>
                </a:solidFill>
                <a:latin typeface="Noto Sans KR" pitchFamily="34" charset="0"/>
                <a:ea typeface="Noto Sans KR" pitchFamily="34" charset="-127"/>
                <a:cs typeface="Noto Sans KR" pitchFamily="34" charset="-120"/>
              </a:rPr>
              <a:t> </a:t>
            </a:r>
            <a:r>
              <a:rPr lang="ko-KR" altLang="en-US" sz="1275" dirty="0">
                <a:solidFill>
                  <a:srgbClr val="5B6470"/>
                </a:solidFill>
                <a:latin typeface="Noto Sans KR" pitchFamily="34" charset="0"/>
                <a:ea typeface="Noto Sans KR" pitchFamily="34" charset="-127"/>
                <a:cs typeface="Noto Sans KR" pitchFamily="34" charset="-120"/>
              </a:rPr>
              <a:t>(5-fold 평균 ± 표준편차)</a:t>
            </a:r>
            <a:endParaRPr lang="en-US" sz="1275" dirty="0"/>
          </a:p>
        </p:txBody>
      </p:sp>
      <p:sp>
        <p:nvSpPr>
          <p:cNvPr id="5" name="06 베이스라인 결과 텍스트 3"/>
          <p:cNvSpPr txBox="1"/>
          <p:nvPr/>
        </p:nvSpPr>
        <p:spPr>
          <a:xfrm>
            <a:off x="3536442" y="1052932"/>
            <a:ext cx="542148" cy="242865"/>
          </a:xfrm>
          <a:prstGeom prst="rect">
            <a:avLst/>
          </a:prstGeom>
          <a:noFill/>
          <a:ln/>
        </p:spPr>
        <p:txBody>
          <a:bodyPr wrap="none" lIns="0" tIns="0" rIns="0" bIns="0" rtlCol="0" anchor="ctr"/>
          <a:lstStyle/>
          <a:p>
            <a:pPr marL="0" indent="0" algn="r">
              <a:buNone/>
            </a:pPr>
            <a:r>
              <a:rPr lang="ko-KR" altLang="en-US" sz="1275" dirty="0">
                <a:solidFill>
                  <a:srgbClr val="3A424C"/>
                </a:solidFill>
                <a:latin typeface="Noto Sans KR" pitchFamily="34" charset="0"/>
                <a:ea typeface="Noto Sans KR" pitchFamily="34" charset="-127"/>
                <a:cs typeface="Noto Sans KR" pitchFamily="34" charset="-120"/>
              </a:rPr>
              <a:t>댓글만</a:t>
            </a:r>
            <a:endParaRPr lang="en-US" sz="1275" dirty="0"/>
          </a:p>
        </p:txBody>
      </p:sp>
      <p:sp>
        <p:nvSpPr>
          <p:cNvPr id="6" name="Shape 3"/>
          <p:cNvSpPr/>
          <p:nvPr/>
        </p:nvSpPr>
        <p:spPr>
          <a:xfrm>
            <a:off x="3422142" y="1107704"/>
            <a:ext cx="133320" cy="133320"/>
          </a:xfrm>
          <a:prstGeom prst="rect">
            <a:avLst/>
          </a:prstGeom>
          <a:solidFill>
            <a:srgbClr val="8C949D"/>
          </a:solidFill>
          <a:ln/>
        </p:spPr>
        <p:txBody>
          <a:bodyPr/>
          <a:lstStyle/>
          <a:p>
            <a:endParaRPr lang="ko-KR" altLang="en-US"/>
          </a:p>
        </p:txBody>
      </p:sp>
      <p:sp>
        <p:nvSpPr>
          <p:cNvPr id="7" name="06 베이스라인 결과 텍스트 4"/>
          <p:cNvSpPr txBox="1"/>
          <p:nvPr/>
        </p:nvSpPr>
        <p:spPr>
          <a:xfrm>
            <a:off x="4459620" y="1052932"/>
            <a:ext cx="781080" cy="242865"/>
          </a:xfrm>
          <a:prstGeom prst="rect">
            <a:avLst/>
          </a:prstGeom>
          <a:noFill/>
          <a:ln/>
        </p:spPr>
        <p:txBody>
          <a:bodyPr wrap="none" lIns="0" tIns="0" rIns="0" bIns="0" rtlCol="0" anchor="ctr"/>
          <a:lstStyle/>
          <a:p>
            <a:pPr marL="0" indent="0" algn="r">
              <a:buNone/>
            </a:pPr>
            <a:r>
              <a:rPr lang="ko-KR" altLang="en-US" sz="1275" dirty="0">
                <a:solidFill>
                  <a:srgbClr val="3A424C"/>
                </a:solidFill>
                <a:latin typeface="Noto Sans KR" pitchFamily="34" charset="0"/>
                <a:ea typeface="Noto Sans KR" pitchFamily="34" charset="-127"/>
                <a:cs typeface="Noto Sans KR" pitchFamily="34" charset="-120"/>
              </a:rPr>
              <a:t>맥락+댓글</a:t>
            </a:r>
            <a:endParaRPr lang="en-US" sz="1275" dirty="0"/>
          </a:p>
        </p:txBody>
      </p:sp>
      <p:sp>
        <p:nvSpPr>
          <p:cNvPr id="8" name="Shape 5"/>
          <p:cNvSpPr/>
          <p:nvPr/>
        </p:nvSpPr>
        <p:spPr>
          <a:xfrm>
            <a:off x="4345320" y="1107704"/>
            <a:ext cx="133320" cy="133320"/>
          </a:xfrm>
          <a:prstGeom prst="rect">
            <a:avLst/>
          </a:prstGeom>
          <a:solidFill>
            <a:srgbClr val="1F5FA8"/>
          </a:solidFill>
          <a:ln/>
        </p:spPr>
        <p:txBody>
          <a:bodyPr/>
          <a:lstStyle/>
          <a:p>
            <a:endParaRPr lang="ko-KR" altLang="en-US"/>
          </a:p>
        </p:txBody>
      </p:sp>
      <p:sp>
        <p:nvSpPr>
          <p:cNvPr id="9" name="06 베이스라인 결과 텍스트 5"/>
          <p:cNvSpPr txBox="1"/>
          <p:nvPr/>
        </p:nvSpPr>
        <p:spPr>
          <a:xfrm>
            <a:off x="5507340" y="1052932"/>
            <a:ext cx="2391339" cy="242865"/>
          </a:xfrm>
          <a:prstGeom prst="rect">
            <a:avLst/>
          </a:prstGeom>
          <a:noFill/>
          <a:ln/>
        </p:spPr>
        <p:txBody>
          <a:bodyPr wrap="none" lIns="0" tIns="0" rIns="0" bIns="0" rtlCol="0" anchor="ctr"/>
          <a:lstStyle/>
          <a:p>
            <a:pPr marL="0" indent="0" algn="l">
              <a:buNone/>
            </a:pPr>
            <a:r>
              <a:rPr lang="ko-KR" altLang="en-US" sz="1275" dirty="0">
                <a:solidFill>
                  <a:srgbClr val="5B6470"/>
                </a:solidFill>
                <a:latin typeface="Noto Sans KR" pitchFamily="34" charset="0"/>
                <a:ea typeface="Noto Sans KR" pitchFamily="34" charset="-127"/>
                <a:cs typeface="Noto Sans KR" pitchFamily="34" charset="-120"/>
              </a:rPr>
              <a:t>맥락 효과 = 맥락+댓글 − 댓글만</a:t>
            </a:r>
            <a:endParaRPr lang="en-US" sz="1275" dirty="0"/>
          </a:p>
        </p:txBody>
      </p:sp>
      <p:sp>
        <p:nvSpPr>
          <p:cNvPr id="10" name="Shape 7"/>
          <p:cNvSpPr/>
          <p:nvPr/>
        </p:nvSpPr>
        <p:spPr>
          <a:xfrm>
            <a:off x="7815285" y="1426830"/>
            <a:ext cx="0" cy="2552730"/>
          </a:xfrm>
          <a:prstGeom prst="line">
            <a:avLst/>
          </a:prstGeom>
          <a:noFill/>
          <a:ln w="9525">
            <a:solidFill>
              <a:srgbClr val="1B1F24"/>
            </a:solidFill>
            <a:prstDash val="dash"/>
          </a:ln>
        </p:spPr>
        <p:txBody>
          <a:bodyPr/>
          <a:lstStyle/>
          <a:p>
            <a:endParaRPr lang="ko-KR" altLang="en-US"/>
          </a:p>
        </p:txBody>
      </p:sp>
      <p:sp>
        <p:nvSpPr>
          <p:cNvPr id="11" name="06 베이스라인 결과 텍스트 6"/>
          <p:cNvSpPr txBox="1"/>
          <p:nvPr/>
        </p:nvSpPr>
        <p:spPr>
          <a:xfrm>
            <a:off x="7905720" y="1426830"/>
            <a:ext cx="2706990" cy="228600"/>
          </a:xfrm>
          <a:prstGeom prst="rect">
            <a:avLst/>
          </a:prstGeom>
          <a:noFill/>
          <a:ln/>
        </p:spPr>
        <p:txBody>
          <a:bodyPr wrap="none" lIns="0" tIns="0" rIns="0" bIns="0" rtlCol="0" anchor="ctr"/>
          <a:lstStyle/>
          <a:p>
            <a:pPr marL="0" indent="0" algn="l">
              <a:buNone/>
            </a:pPr>
            <a:r>
              <a:rPr lang="ko-KR" altLang="en-US" sz="1200" dirty="0">
                <a:solidFill>
                  <a:srgbClr val="1B1F24"/>
                </a:solidFill>
                <a:latin typeface="Noto Sans KR" pitchFamily="34" charset="0"/>
                <a:ea typeface="Noto Sans KR" pitchFamily="34" charset="-127"/>
                <a:cs typeface="Noto Sans KR" pitchFamily="34" charset="-120"/>
              </a:rPr>
              <a:t>댓글만 보는 모델의 이론적 상한 0.730</a:t>
            </a:r>
            <a:endParaRPr lang="en-US" sz="1200" dirty="0"/>
          </a:p>
        </p:txBody>
      </p:sp>
      <p:sp>
        <p:nvSpPr>
          <p:cNvPr id="12" name="06 베이스라인 결과 텍스트 7"/>
          <p:cNvSpPr txBox="1"/>
          <p:nvPr/>
        </p:nvSpPr>
        <p:spPr>
          <a:xfrm>
            <a:off x="10668030" y="1426830"/>
            <a:ext cx="698876"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맥락 효과</a:t>
            </a:r>
            <a:endParaRPr lang="en-US" sz="1200" dirty="0"/>
          </a:p>
        </p:txBody>
      </p:sp>
      <p:sp>
        <p:nvSpPr>
          <p:cNvPr id="13" name="06 베이스라인 결과 텍스트 8"/>
          <p:cNvSpPr txBox="1"/>
          <p:nvPr/>
        </p:nvSpPr>
        <p:spPr>
          <a:xfrm>
            <a:off x="609630" y="1781617"/>
            <a:ext cx="1496690" cy="271485"/>
          </a:xfrm>
          <a:prstGeom prst="rect">
            <a:avLst/>
          </a:prstGeom>
          <a:noFill/>
          <a:ln/>
        </p:spPr>
        <p:txBody>
          <a:bodyPr wrap="none" lIns="0" tIns="0" rIns="0" bIns="0" rtlCol="0" anchor="ctr"/>
          <a:lstStyle/>
          <a:p>
            <a:pPr marL="0" indent="0" algn="l">
              <a:buNone/>
            </a:pPr>
            <a:r>
              <a:rPr lang="ko-KR" altLang="en-US" sz="1425" dirty="0">
                <a:solidFill>
                  <a:srgbClr val="3A424C"/>
                </a:solidFill>
                <a:latin typeface="Noto Sans KR" pitchFamily="34" charset="0"/>
                <a:ea typeface="Noto Sans KR" pitchFamily="34" charset="-127"/>
                <a:cs typeface="Noto Sans KR" pitchFamily="34" charset="-120"/>
              </a:rPr>
              <a:t>Dummy (무작위)</a:t>
            </a:r>
            <a:endParaRPr lang="en-US" sz="1425" dirty="0"/>
          </a:p>
        </p:txBody>
      </p:sp>
      <p:sp>
        <p:nvSpPr>
          <p:cNvPr id="14" name="06 베이스라인 결과 텍스트 9"/>
          <p:cNvSpPr txBox="1"/>
          <p:nvPr/>
        </p:nvSpPr>
        <p:spPr>
          <a:xfrm>
            <a:off x="609630" y="2041215"/>
            <a:ext cx="746059" cy="200071"/>
          </a:xfrm>
          <a:prstGeom prst="rect">
            <a:avLst/>
          </a:prstGeom>
          <a:noFill/>
          <a:ln/>
        </p:spPr>
        <p:txBody>
          <a:bodyPr wrap="none" lIns="0" tIns="0" rIns="0" bIns="0" rtlCol="0" anchor="ctr"/>
          <a:lstStyle/>
          <a:p>
            <a:pPr marL="0" indent="0" algn="l">
              <a:buNone/>
            </a:pPr>
            <a:r>
              <a:rPr lang="ko-KR" altLang="en-US" sz="1050" b="1" dirty="0">
                <a:solidFill>
                  <a:srgbClr val="5B6470"/>
                </a:solidFill>
                <a:latin typeface="Noto Sans KR" pitchFamily="34" charset="0"/>
                <a:ea typeface="Noto Sans KR" pitchFamily="34" charset="-127"/>
                <a:cs typeface="Noto Sans KR" pitchFamily="34" charset="-120"/>
              </a:rPr>
              <a:t>최소 기준선</a:t>
            </a:r>
            <a:endParaRPr lang="en-US" sz="1050" dirty="0"/>
          </a:p>
        </p:txBody>
      </p:sp>
      <p:sp>
        <p:nvSpPr>
          <p:cNvPr id="15" name="Shape 12"/>
          <p:cNvSpPr/>
          <p:nvPr/>
        </p:nvSpPr>
        <p:spPr>
          <a:xfrm>
            <a:off x="3086100" y="1869765"/>
            <a:ext cx="3209910" cy="285750"/>
          </a:xfrm>
          <a:prstGeom prst="rect">
            <a:avLst/>
          </a:prstGeom>
          <a:solidFill>
            <a:srgbClr val="D5D9DE"/>
          </a:solidFill>
          <a:ln/>
        </p:spPr>
        <p:txBody>
          <a:bodyPr/>
          <a:lstStyle/>
          <a:p>
            <a:endParaRPr lang="ko-KR" altLang="en-US"/>
          </a:p>
        </p:txBody>
      </p:sp>
      <p:sp>
        <p:nvSpPr>
          <p:cNvPr id="16" name="06 베이스라인 결과 텍스트 10"/>
          <p:cNvSpPr txBox="1"/>
          <p:nvPr/>
        </p:nvSpPr>
        <p:spPr>
          <a:xfrm>
            <a:off x="5106467" y="1891162"/>
            <a:ext cx="1094262" cy="242865"/>
          </a:xfrm>
          <a:prstGeom prst="rect">
            <a:avLst/>
          </a:prstGeom>
          <a:noFill/>
          <a:ln/>
        </p:spPr>
        <p:txBody>
          <a:bodyPr wrap="none" lIns="0" tIns="0" rIns="0" bIns="0" rtlCol="0" anchor="ctr"/>
          <a:lstStyle/>
          <a:p>
            <a:pPr marL="0" indent="0" algn="r">
              <a:buNone/>
            </a:pPr>
            <a:r>
              <a:rPr lang="ko-KR" altLang="en-US" sz="1275" b="1" dirty="0">
                <a:solidFill>
                  <a:srgbClr val="1B1F24"/>
                </a:solidFill>
                <a:latin typeface="Noto Sans KR" pitchFamily="34" charset="0"/>
                <a:ea typeface="Noto Sans KR" pitchFamily="34" charset="-127"/>
                <a:cs typeface="Noto Sans KR" pitchFamily="34" charset="-120"/>
              </a:rPr>
              <a:t>0.495</a:t>
            </a:r>
            <a:r>
              <a:rPr lang="ko-KR" altLang="en-US" sz="1050" dirty="0">
                <a:solidFill>
                  <a:srgbClr val="1B1F24"/>
                </a:solidFill>
                <a:latin typeface="Noto Sans KR" pitchFamily="34" charset="0"/>
                <a:ea typeface="Noto Sans KR" pitchFamily="34" charset="-127"/>
                <a:cs typeface="Noto Sans KR" pitchFamily="34" charset="-120"/>
              </a:rPr>
              <a:t>± 0.024</a:t>
            </a:r>
            <a:endParaRPr lang="en-US" sz="1275" dirty="0"/>
          </a:p>
        </p:txBody>
      </p:sp>
      <p:sp>
        <p:nvSpPr>
          <p:cNvPr id="17" name="06 베이스라인 결과 텍스트 11"/>
          <p:cNvSpPr txBox="1"/>
          <p:nvPr/>
        </p:nvSpPr>
        <p:spPr>
          <a:xfrm>
            <a:off x="609630" y="2576962"/>
            <a:ext cx="2059412"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TF-IDF + 로지스틱 회귀</a:t>
            </a:r>
            <a:endParaRPr lang="en-US" sz="1425" dirty="0"/>
          </a:p>
        </p:txBody>
      </p:sp>
      <p:sp>
        <p:nvSpPr>
          <p:cNvPr id="18" name="06 베이스라인 결과 텍스트 12"/>
          <p:cNvSpPr txBox="1"/>
          <p:nvPr/>
        </p:nvSpPr>
        <p:spPr>
          <a:xfrm>
            <a:off x="609630" y="2836560"/>
            <a:ext cx="708751" cy="200071"/>
          </a:xfrm>
          <a:prstGeom prst="rect">
            <a:avLst/>
          </a:prstGeom>
          <a:noFill/>
          <a:ln/>
        </p:spPr>
        <p:txBody>
          <a:bodyPr wrap="none" lIns="0" tIns="0" rIns="0" bIns="0" rtlCol="0" anchor="ctr"/>
          <a:lstStyle/>
          <a:p>
            <a:pPr marL="0" indent="0" algn="l">
              <a:buNone/>
            </a:pPr>
            <a:r>
              <a:rPr lang="ko-KR" altLang="en-US" sz="1050" b="1" dirty="0">
                <a:solidFill>
                  <a:srgbClr val="5B6470"/>
                </a:solidFill>
                <a:latin typeface="Noto Sans KR" pitchFamily="34" charset="0"/>
                <a:ea typeface="Noto Sans KR" pitchFamily="34" charset="-127"/>
                <a:cs typeface="Noto Sans KR" pitchFamily="34" charset="-120"/>
              </a:rPr>
              <a:t>베이스라인</a:t>
            </a:r>
            <a:endParaRPr lang="en-US" sz="1050" dirty="0"/>
          </a:p>
        </p:txBody>
      </p:sp>
      <p:sp>
        <p:nvSpPr>
          <p:cNvPr id="19" name="Shape 16"/>
          <p:cNvSpPr/>
          <p:nvPr/>
        </p:nvSpPr>
        <p:spPr>
          <a:xfrm>
            <a:off x="3086100" y="2503170"/>
            <a:ext cx="4190970" cy="285750"/>
          </a:xfrm>
          <a:prstGeom prst="rect">
            <a:avLst/>
          </a:prstGeom>
          <a:solidFill>
            <a:srgbClr val="8C949D"/>
          </a:solidFill>
          <a:ln/>
        </p:spPr>
        <p:txBody>
          <a:bodyPr/>
          <a:lstStyle/>
          <a:p>
            <a:endParaRPr lang="ko-KR" altLang="en-US"/>
          </a:p>
        </p:txBody>
      </p:sp>
      <p:sp>
        <p:nvSpPr>
          <p:cNvPr id="20" name="06 베이스라인 결과 텍스트 13"/>
          <p:cNvSpPr txBox="1"/>
          <p:nvPr/>
        </p:nvSpPr>
        <p:spPr>
          <a:xfrm>
            <a:off x="6087527" y="2524567"/>
            <a:ext cx="1094262" cy="242865"/>
          </a:xfrm>
          <a:prstGeom prst="rect">
            <a:avLst/>
          </a:prstGeom>
          <a:noFill/>
          <a:ln/>
        </p:spPr>
        <p:txBody>
          <a:bodyPr wrap="none" lIns="0" tIns="0" rIns="0" bIns="0" rtlCol="0" anchor="ctr"/>
          <a:lstStyle/>
          <a:p>
            <a:pPr marL="0" indent="0" algn="r">
              <a:buNone/>
            </a:pPr>
            <a:r>
              <a:rPr lang="ko-KR" altLang="en-US" sz="1275" b="1" dirty="0">
                <a:solidFill>
                  <a:srgbClr val="FFFFFF"/>
                </a:solidFill>
                <a:latin typeface="Noto Sans KR" pitchFamily="34" charset="0"/>
                <a:ea typeface="Noto Sans KR" pitchFamily="34" charset="-127"/>
                <a:cs typeface="Noto Sans KR" pitchFamily="34" charset="-120"/>
              </a:rPr>
              <a:t>0.647</a:t>
            </a:r>
            <a:r>
              <a:rPr lang="ko-KR" altLang="en-US" sz="1050" dirty="0">
                <a:solidFill>
                  <a:srgbClr val="FFFFFF"/>
                </a:solidFill>
                <a:latin typeface="Noto Sans KR" pitchFamily="34" charset="0"/>
                <a:ea typeface="Noto Sans KR" pitchFamily="34" charset="-127"/>
                <a:cs typeface="Noto Sans KR" pitchFamily="34" charset="-120"/>
              </a:rPr>
              <a:t>± 0.014</a:t>
            </a:r>
            <a:endParaRPr lang="en-US" sz="1275" dirty="0"/>
          </a:p>
        </p:txBody>
      </p:sp>
      <p:sp>
        <p:nvSpPr>
          <p:cNvPr id="21" name="Shape 18"/>
          <p:cNvSpPr/>
          <p:nvPr/>
        </p:nvSpPr>
        <p:spPr>
          <a:xfrm>
            <a:off x="3086100" y="2826959"/>
            <a:ext cx="4095780" cy="285750"/>
          </a:xfrm>
          <a:prstGeom prst="rect">
            <a:avLst/>
          </a:prstGeom>
          <a:solidFill>
            <a:srgbClr val="1F5FA8"/>
          </a:solidFill>
          <a:ln/>
        </p:spPr>
        <p:txBody>
          <a:bodyPr/>
          <a:lstStyle/>
          <a:p>
            <a:endParaRPr lang="ko-KR" altLang="en-US"/>
          </a:p>
        </p:txBody>
      </p:sp>
      <p:sp>
        <p:nvSpPr>
          <p:cNvPr id="22" name="06 베이스라인 결과 텍스트 14"/>
          <p:cNvSpPr txBox="1"/>
          <p:nvPr/>
        </p:nvSpPr>
        <p:spPr>
          <a:xfrm>
            <a:off x="5992338" y="2848447"/>
            <a:ext cx="1094262" cy="242865"/>
          </a:xfrm>
          <a:prstGeom prst="rect">
            <a:avLst/>
          </a:prstGeom>
          <a:noFill/>
          <a:ln/>
        </p:spPr>
        <p:txBody>
          <a:bodyPr wrap="none" lIns="0" tIns="0" rIns="0" bIns="0" rtlCol="0" anchor="ctr"/>
          <a:lstStyle/>
          <a:p>
            <a:pPr marL="0" indent="0" algn="r">
              <a:buNone/>
            </a:pPr>
            <a:r>
              <a:rPr lang="ko-KR" altLang="en-US" sz="1275" b="1" dirty="0">
                <a:solidFill>
                  <a:srgbClr val="FFFFFF"/>
                </a:solidFill>
                <a:latin typeface="Noto Sans KR" pitchFamily="34" charset="0"/>
                <a:ea typeface="Noto Sans KR" pitchFamily="34" charset="-127"/>
                <a:cs typeface="Noto Sans KR" pitchFamily="34" charset="-120"/>
              </a:rPr>
              <a:t>0.633</a:t>
            </a:r>
            <a:r>
              <a:rPr lang="ko-KR" altLang="en-US" sz="1050" dirty="0">
                <a:solidFill>
                  <a:srgbClr val="FFFFFF"/>
                </a:solidFill>
                <a:latin typeface="Noto Sans KR" pitchFamily="34" charset="0"/>
                <a:ea typeface="Noto Sans KR" pitchFamily="34" charset="-127"/>
                <a:cs typeface="Noto Sans KR" pitchFamily="34" charset="-120"/>
              </a:rPr>
              <a:t>± 0.033</a:t>
            </a:r>
            <a:endParaRPr lang="en-US" sz="1275" dirty="0"/>
          </a:p>
        </p:txBody>
      </p:sp>
      <p:sp>
        <p:nvSpPr>
          <p:cNvPr id="23" name="06 베이스라인 결과 텍스트 15"/>
          <p:cNvSpPr txBox="1"/>
          <p:nvPr/>
        </p:nvSpPr>
        <p:spPr>
          <a:xfrm>
            <a:off x="10610880" y="2657886"/>
            <a:ext cx="750357" cy="300015"/>
          </a:xfrm>
          <a:prstGeom prst="rect">
            <a:avLst/>
          </a:prstGeom>
          <a:noFill/>
          <a:ln/>
        </p:spPr>
        <p:txBody>
          <a:bodyPr wrap="none" lIns="0" tIns="0" rIns="0" bIns="0" rtlCol="0" anchor="ctr"/>
          <a:lstStyle/>
          <a:p>
            <a:pPr marL="0" indent="0" algn="l">
              <a:buNone/>
            </a:pPr>
            <a:r>
              <a:rPr lang="ko-KR" altLang="en-US" sz="1575" b="1" dirty="0">
                <a:solidFill>
                  <a:srgbClr val="5B6470"/>
                </a:solidFill>
                <a:latin typeface="Noto Sans KR" pitchFamily="34" charset="0"/>
                <a:ea typeface="Noto Sans KR" pitchFamily="34" charset="-127"/>
                <a:cs typeface="Noto Sans KR" pitchFamily="34" charset="-120"/>
              </a:rPr>
              <a:t>−0.014</a:t>
            </a:r>
            <a:endParaRPr lang="en-US" sz="1575" dirty="0"/>
          </a:p>
        </p:txBody>
      </p:sp>
      <p:sp>
        <p:nvSpPr>
          <p:cNvPr id="24" name="06 베이스라인 결과 텍스트 16"/>
          <p:cNvSpPr txBox="1"/>
          <p:nvPr/>
        </p:nvSpPr>
        <p:spPr>
          <a:xfrm>
            <a:off x="609630" y="3453232"/>
            <a:ext cx="1738366"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TF-IDF + 선형 SVM</a:t>
            </a:r>
            <a:endParaRPr lang="en-US" sz="1425" dirty="0"/>
          </a:p>
        </p:txBody>
      </p:sp>
      <p:sp>
        <p:nvSpPr>
          <p:cNvPr id="25" name="06 베이스라인 결과 텍스트 17"/>
          <p:cNvSpPr txBox="1"/>
          <p:nvPr/>
        </p:nvSpPr>
        <p:spPr>
          <a:xfrm>
            <a:off x="609630" y="3712830"/>
            <a:ext cx="708751" cy="200071"/>
          </a:xfrm>
          <a:prstGeom prst="rect">
            <a:avLst/>
          </a:prstGeom>
          <a:noFill/>
          <a:ln/>
        </p:spPr>
        <p:txBody>
          <a:bodyPr wrap="none" lIns="0" tIns="0" rIns="0" bIns="0" rtlCol="0" anchor="ctr"/>
          <a:lstStyle/>
          <a:p>
            <a:pPr marL="0" indent="0" algn="l">
              <a:buNone/>
            </a:pPr>
            <a:r>
              <a:rPr lang="ko-KR" altLang="en-US" sz="1050" b="1" dirty="0">
                <a:solidFill>
                  <a:srgbClr val="5B6470"/>
                </a:solidFill>
                <a:latin typeface="Noto Sans KR" pitchFamily="34" charset="0"/>
                <a:ea typeface="Noto Sans KR" pitchFamily="34" charset="-127"/>
                <a:cs typeface="Noto Sans KR" pitchFamily="34" charset="-120"/>
              </a:rPr>
              <a:t>베이스라인</a:t>
            </a:r>
            <a:endParaRPr lang="en-US" sz="1050" dirty="0"/>
          </a:p>
        </p:txBody>
      </p:sp>
      <p:sp>
        <p:nvSpPr>
          <p:cNvPr id="26" name="Shape 23"/>
          <p:cNvSpPr/>
          <p:nvPr/>
        </p:nvSpPr>
        <p:spPr>
          <a:xfrm>
            <a:off x="3086100" y="3379440"/>
            <a:ext cx="4171950" cy="285750"/>
          </a:xfrm>
          <a:prstGeom prst="rect">
            <a:avLst/>
          </a:prstGeom>
          <a:solidFill>
            <a:srgbClr val="8C949D"/>
          </a:solidFill>
          <a:ln/>
        </p:spPr>
        <p:txBody>
          <a:bodyPr/>
          <a:lstStyle/>
          <a:p>
            <a:endParaRPr lang="ko-KR" altLang="en-US"/>
          </a:p>
        </p:txBody>
      </p:sp>
      <p:sp>
        <p:nvSpPr>
          <p:cNvPr id="27" name="06 베이스라인 결과 텍스트 18"/>
          <p:cNvSpPr txBox="1"/>
          <p:nvPr/>
        </p:nvSpPr>
        <p:spPr>
          <a:xfrm>
            <a:off x="6068507" y="3400836"/>
            <a:ext cx="1094262" cy="242865"/>
          </a:xfrm>
          <a:prstGeom prst="rect">
            <a:avLst/>
          </a:prstGeom>
          <a:noFill/>
          <a:ln/>
        </p:spPr>
        <p:txBody>
          <a:bodyPr wrap="none" lIns="0" tIns="0" rIns="0" bIns="0" rtlCol="0" anchor="ctr"/>
          <a:lstStyle/>
          <a:p>
            <a:pPr marL="0" indent="0" algn="r">
              <a:buNone/>
            </a:pPr>
            <a:r>
              <a:rPr lang="ko-KR" altLang="en-US" sz="1275" b="1" dirty="0">
                <a:solidFill>
                  <a:srgbClr val="FFFFFF"/>
                </a:solidFill>
                <a:latin typeface="Noto Sans KR" pitchFamily="34" charset="0"/>
                <a:ea typeface="Noto Sans KR" pitchFamily="34" charset="-127"/>
                <a:cs typeface="Noto Sans KR" pitchFamily="34" charset="-120"/>
              </a:rPr>
              <a:t>0.644</a:t>
            </a:r>
            <a:r>
              <a:rPr lang="ko-KR" altLang="en-US" sz="1050" dirty="0">
                <a:solidFill>
                  <a:srgbClr val="FFFFFF"/>
                </a:solidFill>
                <a:latin typeface="Noto Sans KR" pitchFamily="34" charset="0"/>
                <a:ea typeface="Noto Sans KR" pitchFamily="34" charset="-127"/>
                <a:cs typeface="Noto Sans KR" pitchFamily="34" charset="-120"/>
              </a:rPr>
              <a:t>± 0.014</a:t>
            </a:r>
            <a:endParaRPr lang="en-US" sz="1275" dirty="0"/>
          </a:p>
        </p:txBody>
      </p:sp>
      <p:sp>
        <p:nvSpPr>
          <p:cNvPr id="28" name="Shape 25"/>
          <p:cNvSpPr/>
          <p:nvPr/>
        </p:nvSpPr>
        <p:spPr>
          <a:xfrm>
            <a:off x="3086100" y="3703320"/>
            <a:ext cx="4000500" cy="285750"/>
          </a:xfrm>
          <a:prstGeom prst="rect">
            <a:avLst/>
          </a:prstGeom>
          <a:solidFill>
            <a:srgbClr val="1F5FA8"/>
          </a:solidFill>
          <a:ln/>
        </p:spPr>
        <p:txBody>
          <a:bodyPr/>
          <a:lstStyle/>
          <a:p>
            <a:endParaRPr lang="ko-KR" altLang="en-US"/>
          </a:p>
        </p:txBody>
      </p:sp>
      <p:sp>
        <p:nvSpPr>
          <p:cNvPr id="29" name="06 베이스라인 결과 텍스트 19"/>
          <p:cNvSpPr txBox="1"/>
          <p:nvPr/>
        </p:nvSpPr>
        <p:spPr>
          <a:xfrm>
            <a:off x="5897057" y="3724717"/>
            <a:ext cx="1094262" cy="242865"/>
          </a:xfrm>
          <a:prstGeom prst="rect">
            <a:avLst/>
          </a:prstGeom>
          <a:noFill/>
          <a:ln/>
        </p:spPr>
        <p:txBody>
          <a:bodyPr wrap="none" lIns="0" tIns="0" rIns="0" bIns="0" rtlCol="0" anchor="ctr"/>
          <a:lstStyle/>
          <a:p>
            <a:pPr marL="0" indent="0" algn="r">
              <a:buNone/>
            </a:pPr>
            <a:r>
              <a:rPr lang="ko-KR" altLang="en-US" sz="1275" b="1" dirty="0">
                <a:solidFill>
                  <a:srgbClr val="FFFFFF"/>
                </a:solidFill>
                <a:latin typeface="Noto Sans KR" pitchFamily="34" charset="0"/>
                <a:ea typeface="Noto Sans KR" pitchFamily="34" charset="-127"/>
                <a:cs typeface="Noto Sans KR" pitchFamily="34" charset="-120"/>
              </a:rPr>
              <a:t>0.618</a:t>
            </a:r>
            <a:r>
              <a:rPr lang="ko-KR" altLang="en-US" sz="1050" dirty="0">
                <a:solidFill>
                  <a:srgbClr val="FFFFFF"/>
                </a:solidFill>
                <a:latin typeface="Noto Sans KR" pitchFamily="34" charset="0"/>
                <a:ea typeface="Noto Sans KR" pitchFamily="34" charset="-127"/>
                <a:cs typeface="Noto Sans KR" pitchFamily="34" charset="-120"/>
              </a:rPr>
              <a:t>± 0.034</a:t>
            </a:r>
            <a:endParaRPr lang="en-US" sz="1275" dirty="0"/>
          </a:p>
        </p:txBody>
      </p:sp>
      <p:sp>
        <p:nvSpPr>
          <p:cNvPr id="30" name="06 베이스라인 결과 텍스트 20"/>
          <p:cNvSpPr txBox="1"/>
          <p:nvPr/>
        </p:nvSpPr>
        <p:spPr>
          <a:xfrm>
            <a:off x="10610880" y="3534247"/>
            <a:ext cx="750357" cy="300015"/>
          </a:xfrm>
          <a:prstGeom prst="rect">
            <a:avLst/>
          </a:prstGeom>
          <a:noFill/>
          <a:ln/>
        </p:spPr>
        <p:txBody>
          <a:bodyPr wrap="none" lIns="0" tIns="0" rIns="0" bIns="0" rtlCol="0" anchor="ctr"/>
          <a:lstStyle/>
          <a:p>
            <a:pPr marL="0" indent="0" algn="l">
              <a:buNone/>
            </a:pPr>
            <a:r>
              <a:rPr lang="ko-KR" altLang="en-US" sz="1575" b="1" dirty="0">
                <a:solidFill>
                  <a:srgbClr val="5B6470"/>
                </a:solidFill>
                <a:latin typeface="Noto Sans KR" pitchFamily="34" charset="0"/>
                <a:ea typeface="Noto Sans KR" pitchFamily="34" charset="-127"/>
                <a:cs typeface="Noto Sans KR" pitchFamily="34" charset="-120"/>
              </a:rPr>
              <a:t>−0.026</a:t>
            </a:r>
            <a:endParaRPr lang="en-US" sz="1575" dirty="0"/>
          </a:p>
        </p:txBody>
      </p:sp>
      <p:sp>
        <p:nvSpPr>
          <p:cNvPr id="31" name="Shape 28"/>
          <p:cNvSpPr/>
          <p:nvPr/>
        </p:nvSpPr>
        <p:spPr>
          <a:xfrm>
            <a:off x="609630" y="4193804"/>
            <a:ext cx="10972800" cy="0"/>
          </a:xfrm>
          <a:prstGeom prst="line">
            <a:avLst/>
          </a:prstGeom>
          <a:noFill/>
          <a:ln w="9525">
            <a:solidFill>
              <a:srgbClr val="1B1F24"/>
            </a:solidFill>
            <a:prstDash val="solid"/>
          </a:ln>
        </p:spPr>
        <p:txBody>
          <a:bodyPr/>
          <a:lstStyle/>
          <a:p>
            <a:endParaRPr lang="ko-KR" altLang="en-US"/>
          </a:p>
        </p:txBody>
      </p:sp>
      <p:sp>
        <p:nvSpPr>
          <p:cNvPr id="32" name="Shape 29"/>
          <p:cNvSpPr/>
          <p:nvPr/>
        </p:nvSpPr>
        <p:spPr>
          <a:xfrm>
            <a:off x="609630" y="4612965"/>
            <a:ext cx="2476470" cy="0"/>
          </a:xfrm>
          <a:prstGeom prst="line">
            <a:avLst/>
          </a:prstGeom>
          <a:noFill/>
          <a:ln w="9525">
            <a:solidFill>
              <a:srgbClr val="C9CED4"/>
            </a:solidFill>
            <a:prstDash val="solid"/>
          </a:ln>
        </p:spPr>
        <p:txBody>
          <a:bodyPr/>
          <a:lstStyle/>
          <a:p>
            <a:endParaRPr lang="ko-KR" altLang="en-US"/>
          </a:p>
        </p:txBody>
      </p:sp>
      <p:sp>
        <p:nvSpPr>
          <p:cNvPr id="33" name="06 베이스라인 결과 텍스트 21"/>
          <p:cNvSpPr txBox="1"/>
          <p:nvPr/>
        </p:nvSpPr>
        <p:spPr>
          <a:xfrm>
            <a:off x="609630" y="4281952"/>
            <a:ext cx="1102766" cy="242865"/>
          </a:xfrm>
          <a:prstGeom prst="rect">
            <a:avLst/>
          </a:prstGeom>
          <a:noFill/>
          <a:ln/>
        </p:spPr>
        <p:txBody>
          <a:bodyPr wrap="none" lIns="0" tIns="0" rIns="0" bIns="0" rtlCol="0" anchor="ctr"/>
          <a:lstStyle/>
          <a:p>
            <a:pPr marL="0" indent="0" algn="l">
              <a:buNone/>
            </a:pPr>
            <a:r>
              <a:rPr lang="ko-KR" altLang="en-US" sz="1275" b="1" dirty="0">
                <a:solidFill>
                  <a:srgbClr val="3A424C"/>
                </a:solidFill>
                <a:latin typeface="Noto Sans KR" pitchFamily="34" charset="0"/>
                <a:ea typeface="Noto Sans KR" pitchFamily="34" charset="-127"/>
                <a:cs typeface="Noto Sans KR" pitchFamily="34" charset="-120"/>
              </a:rPr>
              <a:t>성공 기준 점검</a:t>
            </a:r>
            <a:endParaRPr lang="en-US" sz="1275" dirty="0"/>
          </a:p>
        </p:txBody>
      </p:sp>
      <p:sp>
        <p:nvSpPr>
          <p:cNvPr id="34" name="Shape 31"/>
          <p:cNvSpPr/>
          <p:nvPr/>
        </p:nvSpPr>
        <p:spPr>
          <a:xfrm>
            <a:off x="3390870" y="4612965"/>
            <a:ext cx="2527219" cy="0"/>
          </a:xfrm>
          <a:prstGeom prst="line">
            <a:avLst/>
          </a:prstGeom>
          <a:noFill/>
          <a:ln w="9525">
            <a:solidFill>
              <a:srgbClr val="C9CED4"/>
            </a:solidFill>
            <a:prstDash val="solid"/>
          </a:ln>
        </p:spPr>
        <p:txBody>
          <a:bodyPr/>
          <a:lstStyle/>
          <a:p>
            <a:endParaRPr lang="ko-KR" altLang="en-US"/>
          </a:p>
        </p:txBody>
      </p:sp>
      <p:sp>
        <p:nvSpPr>
          <p:cNvPr id="35" name="06 베이스라인 결과 텍스트 22"/>
          <p:cNvSpPr txBox="1"/>
          <p:nvPr/>
        </p:nvSpPr>
        <p:spPr>
          <a:xfrm>
            <a:off x="3390870" y="4281952"/>
            <a:ext cx="1663842" cy="242865"/>
          </a:xfrm>
          <a:prstGeom prst="rect">
            <a:avLst/>
          </a:prstGeom>
          <a:noFill/>
          <a:ln/>
        </p:spPr>
        <p:txBody>
          <a:bodyPr wrap="none" lIns="0" tIns="0" rIns="0" bIns="0" rtlCol="0" anchor="ctr"/>
          <a:lstStyle/>
          <a:p>
            <a:pPr marL="0" indent="0" algn="l">
              <a:buNone/>
            </a:pPr>
            <a:r>
              <a:rPr lang="ko-KR" altLang="en-US" sz="1275" b="1" dirty="0">
                <a:solidFill>
                  <a:srgbClr val="3A424C"/>
                </a:solidFill>
                <a:latin typeface="Noto Sans KR" pitchFamily="34" charset="0"/>
                <a:ea typeface="Noto Sans KR" pitchFamily="34" charset="-127"/>
                <a:cs typeface="Noto Sans KR" pitchFamily="34" charset="-120"/>
              </a:rPr>
              <a:t>macro-F1 0.73 이상</a:t>
            </a:r>
            <a:endParaRPr lang="en-US" sz="1275" dirty="0"/>
          </a:p>
        </p:txBody>
      </p:sp>
      <p:sp>
        <p:nvSpPr>
          <p:cNvPr id="36" name="Shape 33"/>
          <p:cNvSpPr/>
          <p:nvPr/>
        </p:nvSpPr>
        <p:spPr>
          <a:xfrm>
            <a:off x="6222949" y="4612965"/>
            <a:ext cx="2527219" cy="0"/>
          </a:xfrm>
          <a:prstGeom prst="line">
            <a:avLst/>
          </a:prstGeom>
          <a:noFill/>
          <a:ln w="9525">
            <a:solidFill>
              <a:srgbClr val="C9CED4"/>
            </a:solidFill>
            <a:prstDash val="solid"/>
          </a:ln>
        </p:spPr>
        <p:txBody>
          <a:bodyPr/>
          <a:lstStyle/>
          <a:p>
            <a:endParaRPr lang="ko-KR" altLang="en-US"/>
          </a:p>
        </p:txBody>
      </p:sp>
      <p:sp>
        <p:nvSpPr>
          <p:cNvPr id="37" name="06 베이스라인 결과 텍스트 23"/>
          <p:cNvSpPr txBox="1"/>
          <p:nvPr/>
        </p:nvSpPr>
        <p:spPr>
          <a:xfrm>
            <a:off x="6222949" y="4281952"/>
            <a:ext cx="2470343" cy="242865"/>
          </a:xfrm>
          <a:prstGeom prst="rect">
            <a:avLst/>
          </a:prstGeom>
          <a:noFill/>
          <a:ln/>
        </p:spPr>
        <p:txBody>
          <a:bodyPr wrap="none" lIns="0" tIns="0" rIns="0" bIns="0" rtlCol="0" anchor="ctr"/>
          <a:lstStyle/>
          <a:p>
            <a:pPr marL="0" indent="0" algn="l">
              <a:buNone/>
            </a:pPr>
            <a:r>
              <a:rPr lang="ko-KR" altLang="en-US" sz="1275" b="1" dirty="0">
                <a:solidFill>
                  <a:srgbClr val="3A424C"/>
                </a:solidFill>
                <a:latin typeface="Noto Sans KR" pitchFamily="34" charset="0"/>
                <a:ea typeface="Noto Sans KR" pitchFamily="34" charset="-127"/>
                <a:cs typeface="Noto Sans KR" pitchFamily="34" charset="-120"/>
              </a:rPr>
              <a:t>5개 fold 중 4개 이상 · p &lt; 0.05</a:t>
            </a:r>
            <a:endParaRPr lang="en-US" sz="1275" dirty="0"/>
          </a:p>
        </p:txBody>
      </p:sp>
      <p:sp>
        <p:nvSpPr>
          <p:cNvPr id="38" name="Shape 35"/>
          <p:cNvSpPr/>
          <p:nvPr/>
        </p:nvSpPr>
        <p:spPr>
          <a:xfrm>
            <a:off x="9055029" y="4612965"/>
            <a:ext cx="2527402" cy="0"/>
          </a:xfrm>
          <a:prstGeom prst="line">
            <a:avLst/>
          </a:prstGeom>
          <a:noFill/>
          <a:ln w="9525">
            <a:solidFill>
              <a:srgbClr val="C9CED4"/>
            </a:solidFill>
            <a:prstDash val="solid"/>
          </a:ln>
        </p:spPr>
        <p:txBody>
          <a:bodyPr/>
          <a:lstStyle/>
          <a:p>
            <a:endParaRPr lang="ko-KR" altLang="en-US"/>
          </a:p>
        </p:txBody>
      </p:sp>
      <p:sp>
        <p:nvSpPr>
          <p:cNvPr id="39" name="06 베이스라인 결과 텍스트 24"/>
          <p:cNvSpPr txBox="1"/>
          <p:nvPr/>
        </p:nvSpPr>
        <p:spPr>
          <a:xfrm>
            <a:off x="9055029" y="4281952"/>
            <a:ext cx="2126071" cy="242865"/>
          </a:xfrm>
          <a:prstGeom prst="rect">
            <a:avLst/>
          </a:prstGeom>
          <a:noFill/>
          <a:ln/>
        </p:spPr>
        <p:txBody>
          <a:bodyPr wrap="none" lIns="0" tIns="0" rIns="0" bIns="0" rtlCol="0" anchor="ctr"/>
          <a:lstStyle/>
          <a:p>
            <a:pPr marL="0" indent="0" algn="l">
              <a:buNone/>
            </a:pPr>
            <a:r>
              <a:rPr lang="ko-KR" altLang="en-US" sz="1275" b="1" dirty="0">
                <a:solidFill>
                  <a:srgbClr val="3A424C"/>
                </a:solidFill>
                <a:latin typeface="Noto Sans KR" pitchFamily="34" charset="0"/>
                <a:ea typeface="Noto Sans KR" pitchFamily="34" charset="-127"/>
                <a:cs typeface="Noto Sans KR" pitchFamily="34" charset="-120"/>
              </a:rPr>
              <a:t>혐오 Recall 하락 0.10 이하</a:t>
            </a:r>
            <a:endParaRPr lang="en-US" sz="1275" dirty="0"/>
          </a:p>
        </p:txBody>
      </p:sp>
      <p:sp>
        <p:nvSpPr>
          <p:cNvPr id="40" name="Shape 37"/>
          <p:cNvSpPr/>
          <p:nvPr/>
        </p:nvSpPr>
        <p:spPr>
          <a:xfrm>
            <a:off x="609630" y="5070165"/>
            <a:ext cx="2476470" cy="0"/>
          </a:xfrm>
          <a:prstGeom prst="line">
            <a:avLst/>
          </a:prstGeom>
          <a:noFill/>
          <a:ln w="9525">
            <a:solidFill>
              <a:srgbClr val="E3E6EA"/>
            </a:solidFill>
            <a:prstDash val="solid"/>
          </a:ln>
        </p:spPr>
        <p:txBody>
          <a:bodyPr/>
          <a:lstStyle/>
          <a:p>
            <a:endParaRPr lang="ko-KR" altLang="en-US"/>
          </a:p>
        </p:txBody>
      </p:sp>
      <p:sp>
        <p:nvSpPr>
          <p:cNvPr id="41" name="06 베이스라인 결과 텍스트 25"/>
          <p:cNvSpPr txBox="1"/>
          <p:nvPr/>
        </p:nvSpPr>
        <p:spPr>
          <a:xfrm>
            <a:off x="609630" y="4705777"/>
            <a:ext cx="2059412"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TF-IDF + 로지스틱 회귀</a:t>
            </a:r>
            <a:endParaRPr lang="en-US" sz="1425" dirty="0"/>
          </a:p>
        </p:txBody>
      </p:sp>
      <p:sp>
        <p:nvSpPr>
          <p:cNvPr id="42" name="Shape 39"/>
          <p:cNvSpPr/>
          <p:nvPr/>
        </p:nvSpPr>
        <p:spPr>
          <a:xfrm>
            <a:off x="3390870" y="5070165"/>
            <a:ext cx="2527219" cy="0"/>
          </a:xfrm>
          <a:prstGeom prst="line">
            <a:avLst/>
          </a:prstGeom>
          <a:noFill/>
          <a:ln w="9525">
            <a:solidFill>
              <a:srgbClr val="E3E6EA"/>
            </a:solidFill>
            <a:prstDash val="solid"/>
          </a:ln>
        </p:spPr>
        <p:txBody>
          <a:bodyPr/>
          <a:lstStyle/>
          <a:p>
            <a:endParaRPr lang="ko-KR" altLang="en-US"/>
          </a:p>
        </p:txBody>
      </p:sp>
      <p:sp>
        <p:nvSpPr>
          <p:cNvPr id="43" name="06 베이스라인 결과 텍스트 26"/>
          <p:cNvSpPr txBox="1"/>
          <p:nvPr/>
        </p:nvSpPr>
        <p:spPr>
          <a:xfrm>
            <a:off x="3390870" y="4705777"/>
            <a:ext cx="1259952"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미충족</a:t>
            </a:r>
            <a:r>
              <a:rPr lang="ko-KR" altLang="en-US" sz="1425" dirty="0">
                <a:solidFill>
                  <a:srgbClr val="1B1F24"/>
                </a:solidFill>
                <a:latin typeface="Noto Sans KR" pitchFamily="34" charset="0"/>
                <a:ea typeface="Noto Sans KR" pitchFamily="34" charset="-127"/>
                <a:cs typeface="Noto Sans KR" pitchFamily="34" charset="-120"/>
              </a:rPr>
              <a:t> </a:t>
            </a:r>
            <a:r>
              <a:rPr lang="ko-KR" altLang="en-US" sz="1425" dirty="0">
                <a:solidFill>
                  <a:srgbClr val="3A424C"/>
                </a:solidFill>
                <a:latin typeface="Noto Sans KR" pitchFamily="34" charset="0"/>
                <a:ea typeface="Noto Sans KR" pitchFamily="34" charset="-127"/>
                <a:cs typeface="Noto Sans KR" pitchFamily="34" charset="-120"/>
              </a:rPr>
              <a:t>(0.633)</a:t>
            </a:r>
            <a:endParaRPr lang="en-US" sz="1425" dirty="0"/>
          </a:p>
        </p:txBody>
      </p:sp>
      <p:sp>
        <p:nvSpPr>
          <p:cNvPr id="44" name="Shape 41"/>
          <p:cNvSpPr/>
          <p:nvPr/>
        </p:nvSpPr>
        <p:spPr>
          <a:xfrm>
            <a:off x="6222949" y="5070165"/>
            <a:ext cx="2527219" cy="0"/>
          </a:xfrm>
          <a:prstGeom prst="line">
            <a:avLst/>
          </a:prstGeom>
          <a:noFill/>
          <a:ln w="9525">
            <a:solidFill>
              <a:srgbClr val="E3E6EA"/>
            </a:solidFill>
            <a:prstDash val="solid"/>
          </a:ln>
        </p:spPr>
        <p:txBody>
          <a:bodyPr/>
          <a:lstStyle/>
          <a:p>
            <a:endParaRPr lang="ko-KR" altLang="en-US"/>
          </a:p>
        </p:txBody>
      </p:sp>
      <p:sp>
        <p:nvSpPr>
          <p:cNvPr id="45" name="06 베이스라인 결과 텍스트 27"/>
          <p:cNvSpPr txBox="1"/>
          <p:nvPr/>
        </p:nvSpPr>
        <p:spPr>
          <a:xfrm>
            <a:off x="6222949" y="4705777"/>
            <a:ext cx="2343607"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미충족</a:t>
            </a:r>
            <a:r>
              <a:rPr lang="ko-KR" altLang="en-US" sz="1425" dirty="0">
                <a:solidFill>
                  <a:srgbClr val="1B1F24"/>
                </a:solidFill>
                <a:latin typeface="Noto Sans KR" pitchFamily="34" charset="0"/>
                <a:ea typeface="Noto Sans KR" pitchFamily="34" charset="-127"/>
                <a:cs typeface="Noto Sans KR" pitchFamily="34" charset="-120"/>
              </a:rPr>
              <a:t> </a:t>
            </a:r>
            <a:r>
              <a:rPr lang="ko-KR" altLang="en-US" sz="1425" dirty="0">
                <a:solidFill>
                  <a:srgbClr val="3A424C"/>
                </a:solidFill>
                <a:latin typeface="Noto Sans KR" pitchFamily="34" charset="0"/>
                <a:ea typeface="Noto Sans KR" pitchFamily="34" charset="-127"/>
                <a:cs typeface="Noto Sans KR" pitchFamily="34" charset="-120"/>
              </a:rPr>
              <a:t>(2/5 fold, p = 0.39)</a:t>
            </a:r>
            <a:endParaRPr lang="en-US" sz="1425" dirty="0"/>
          </a:p>
        </p:txBody>
      </p:sp>
      <p:sp>
        <p:nvSpPr>
          <p:cNvPr id="46" name="Shape 43"/>
          <p:cNvSpPr/>
          <p:nvPr/>
        </p:nvSpPr>
        <p:spPr>
          <a:xfrm>
            <a:off x="9055029" y="5070165"/>
            <a:ext cx="2527402" cy="0"/>
          </a:xfrm>
          <a:prstGeom prst="line">
            <a:avLst/>
          </a:prstGeom>
          <a:noFill/>
          <a:ln w="9525">
            <a:solidFill>
              <a:srgbClr val="E3E6EA"/>
            </a:solidFill>
            <a:prstDash val="solid"/>
          </a:ln>
        </p:spPr>
        <p:txBody>
          <a:bodyPr/>
          <a:lstStyle/>
          <a:p>
            <a:endParaRPr lang="ko-KR" altLang="en-US"/>
          </a:p>
        </p:txBody>
      </p:sp>
      <p:sp>
        <p:nvSpPr>
          <p:cNvPr id="47" name="06 베이스라인 결과 텍스트 28"/>
          <p:cNvSpPr txBox="1"/>
          <p:nvPr/>
        </p:nvSpPr>
        <p:spPr>
          <a:xfrm>
            <a:off x="9055029" y="4705777"/>
            <a:ext cx="1689720"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미충족</a:t>
            </a:r>
            <a:r>
              <a:rPr lang="ko-KR" altLang="en-US" sz="1425" dirty="0">
                <a:solidFill>
                  <a:srgbClr val="1B1F24"/>
                </a:solidFill>
                <a:latin typeface="Noto Sans KR" pitchFamily="34" charset="0"/>
                <a:ea typeface="Noto Sans KR" pitchFamily="34" charset="-127"/>
                <a:cs typeface="Noto Sans KR" pitchFamily="34" charset="-120"/>
              </a:rPr>
              <a:t> </a:t>
            </a:r>
            <a:r>
              <a:rPr lang="ko-KR" altLang="en-US" sz="1425" dirty="0">
                <a:solidFill>
                  <a:srgbClr val="3A424C"/>
                </a:solidFill>
                <a:latin typeface="Noto Sans KR" pitchFamily="34" charset="0"/>
                <a:ea typeface="Noto Sans KR" pitchFamily="34" charset="-127"/>
                <a:cs typeface="Noto Sans KR" pitchFamily="34" charset="-120"/>
              </a:rPr>
              <a:t>(0.225 하락)</a:t>
            </a:r>
            <a:endParaRPr lang="en-US" sz="1425" dirty="0"/>
          </a:p>
        </p:txBody>
      </p:sp>
      <p:sp>
        <p:nvSpPr>
          <p:cNvPr id="48" name="Shape 45"/>
          <p:cNvSpPr/>
          <p:nvPr/>
        </p:nvSpPr>
        <p:spPr>
          <a:xfrm>
            <a:off x="609630" y="5527365"/>
            <a:ext cx="2476470" cy="0"/>
          </a:xfrm>
          <a:prstGeom prst="line">
            <a:avLst/>
          </a:prstGeom>
          <a:noFill/>
          <a:ln w="9525">
            <a:solidFill>
              <a:srgbClr val="C9CED4"/>
            </a:solidFill>
            <a:prstDash val="solid"/>
          </a:ln>
        </p:spPr>
        <p:txBody>
          <a:bodyPr/>
          <a:lstStyle/>
          <a:p>
            <a:endParaRPr lang="ko-KR" altLang="en-US"/>
          </a:p>
        </p:txBody>
      </p:sp>
      <p:sp>
        <p:nvSpPr>
          <p:cNvPr id="49" name="06 베이스라인 결과 텍스트 29"/>
          <p:cNvSpPr txBox="1"/>
          <p:nvPr/>
        </p:nvSpPr>
        <p:spPr>
          <a:xfrm>
            <a:off x="609630" y="5162977"/>
            <a:ext cx="1738366"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TF-IDF + 선형 SVM</a:t>
            </a:r>
            <a:endParaRPr lang="en-US" sz="1425" dirty="0"/>
          </a:p>
        </p:txBody>
      </p:sp>
      <p:sp>
        <p:nvSpPr>
          <p:cNvPr id="50" name="Shape 47"/>
          <p:cNvSpPr/>
          <p:nvPr/>
        </p:nvSpPr>
        <p:spPr>
          <a:xfrm>
            <a:off x="3390870" y="5527365"/>
            <a:ext cx="2527219" cy="0"/>
          </a:xfrm>
          <a:prstGeom prst="line">
            <a:avLst/>
          </a:prstGeom>
          <a:noFill/>
          <a:ln w="9525">
            <a:solidFill>
              <a:srgbClr val="C9CED4"/>
            </a:solidFill>
            <a:prstDash val="solid"/>
          </a:ln>
        </p:spPr>
        <p:txBody>
          <a:bodyPr/>
          <a:lstStyle/>
          <a:p>
            <a:endParaRPr lang="ko-KR" altLang="en-US"/>
          </a:p>
        </p:txBody>
      </p:sp>
      <p:sp>
        <p:nvSpPr>
          <p:cNvPr id="51" name="06 베이스라인 결과 텍스트 30"/>
          <p:cNvSpPr txBox="1"/>
          <p:nvPr/>
        </p:nvSpPr>
        <p:spPr>
          <a:xfrm>
            <a:off x="3390870" y="5162977"/>
            <a:ext cx="1259952"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미충족</a:t>
            </a:r>
            <a:r>
              <a:rPr lang="ko-KR" altLang="en-US" sz="1425" dirty="0">
                <a:solidFill>
                  <a:srgbClr val="1B1F24"/>
                </a:solidFill>
                <a:latin typeface="Noto Sans KR" pitchFamily="34" charset="0"/>
                <a:ea typeface="Noto Sans KR" pitchFamily="34" charset="-127"/>
                <a:cs typeface="Noto Sans KR" pitchFamily="34" charset="-120"/>
              </a:rPr>
              <a:t> </a:t>
            </a:r>
            <a:r>
              <a:rPr lang="ko-KR" altLang="en-US" sz="1425" dirty="0">
                <a:solidFill>
                  <a:srgbClr val="3A424C"/>
                </a:solidFill>
                <a:latin typeface="Noto Sans KR" pitchFamily="34" charset="0"/>
                <a:ea typeface="Noto Sans KR" pitchFamily="34" charset="-127"/>
                <a:cs typeface="Noto Sans KR" pitchFamily="34" charset="-120"/>
              </a:rPr>
              <a:t>(0.618)</a:t>
            </a:r>
            <a:endParaRPr lang="en-US" sz="1425" dirty="0"/>
          </a:p>
        </p:txBody>
      </p:sp>
      <p:sp>
        <p:nvSpPr>
          <p:cNvPr id="52" name="Shape 49"/>
          <p:cNvSpPr/>
          <p:nvPr/>
        </p:nvSpPr>
        <p:spPr>
          <a:xfrm>
            <a:off x="6222949" y="5527365"/>
            <a:ext cx="2527219" cy="0"/>
          </a:xfrm>
          <a:prstGeom prst="line">
            <a:avLst/>
          </a:prstGeom>
          <a:noFill/>
          <a:ln w="9525">
            <a:solidFill>
              <a:srgbClr val="C9CED4"/>
            </a:solidFill>
            <a:prstDash val="solid"/>
          </a:ln>
        </p:spPr>
        <p:txBody>
          <a:bodyPr/>
          <a:lstStyle/>
          <a:p>
            <a:endParaRPr lang="ko-KR" altLang="en-US"/>
          </a:p>
        </p:txBody>
      </p:sp>
      <p:sp>
        <p:nvSpPr>
          <p:cNvPr id="53" name="06 베이스라인 결과 텍스트 31"/>
          <p:cNvSpPr txBox="1"/>
          <p:nvPr/>
        </p:nvSpPr>
        <p:spPr>
          <a:xfrm>
            <a:off x="6222949" y="5162977"/>
            <a:ext cx="2343607"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미충족</a:t>
            </a:r>
            <a:r>
              <a:rPr lang="ko-KR" altLang="en-US" sz="1425" dirty="0">
                <a:solidFill>
                  <a:srgbClr val="1B1F24"/>
                </a:solidFill>
                <a:latin typeface="Noto Sans KR" pitchFamily="34" charset="0"/>
                <a:ea typeface="Noto Sans KR" pitchFamily="34" charset="-127"/>
                <a:cs typeface="Noto Sans KR" pitchFamily="34" charset="-120"/>
              </a:rPr>
              <a:t> </a:t>
            </a:r>
            <a:r>
              <a:rPr lang="ko-KR" altLang="en-US" sz="1425" dirty="0">
                <a:solidFill>
                  <a:srgbClr val="3A424C"/>
                </a:solidFill>
                <a:latin typeface="Noto Sans KR" pitchFamily="34" charset="0"/>
                <a:ea typeface="Noto Sans KR" pitchFamily="34" charset="-127"/>
                <a:cs typeface="Noto Sans KR" pitchFamily="34" charset="-120"/>
              </a:rPr>
              <a:t>(0/5 fold, p = 0.11)</a:t>
            </a:r>
            <a:endParaRPr lang="en-US" sz="1425" dirty="0"/>
          </a:p>
        </p:txBody>
      </p:sp>
      <p:sp>
        <p:nvSpPr>
          <p:cNvPr id="54" name="Shape 51"/>
          <p:cNvSpPr/>
          <p:nvPr/>
        </p:nvSpPr>
        <p:spPr>
          <a:xfrm>
            <a:off x="9055029" y="5527365"/>
            <a:ext cx="2527402" cy="0"/>
          </a:xfrm>
          <a:prstGeom prst="line">
            <a:avLst/>
          </a:prstGeom>
          <a:noFill/>
          <a:ln w="9525">
            <a:solidFill>
              <a:srgbClr val="C9CED4"/>
            </a:solidFill>
            <a:prstDash val="solid"/>
          </a:ln>
        </p:spPr>
        <p:txBody>
          <a:bodyPr/>
          <a:lstStyle/>
          <a:p>
            <a:endParaRPr lang="ko-KR" altLang="en-US"/>
          </a:p>
        </p:txBody>
      </p:sp>
      <p:sp>
        <p:nvSpPr>
          <p:cNvPr id="55" name="06 베이스라인 결과 텍스트 32"/>
          <p:cNvSpPr txBox="1"/>
          <p:nvPr/>
        </p:nvSpPr>
        <p:spPr>
          <a:xfrm>
            <a:off x="9055029" y="5162977"/>
            <a:ext cx="1689720" cy="271485"/>
          </a:xfrm>
          <a:prstGeom prst="rect">
            <a:avLst/>
          </a:prstGeom>
          <a:noFill/>
          <a:ln/>
        </p:spPr>
        <p:txBody>
          <a:bodyPr wrap="none" lIns="0" tIns="0" rIns="0" bIns="0" rtlCol="0" anchor="ctr"/>
          <a:lstStyle/>
          <a:p>
            <a:pPr marL="0" indent="0" algn="l">
              <a:buNone/>
            </a:pPr>
            <a:r>
              <a:rPr lang="ko-KR" altLang="en-US" sz="1425" b="1" dirty="0">
                <a:solidFill>
                  <a:srgbClr val="1B1F24"/>
                </a:solidFill>
                <a:latin typeface="Noto Sans KR" pitchFamily="34" charset="0"/>
                <a:ea typeface="Noto Sans KR" pitchFamily="34" charset="-127"/>
                <a:cs typeface="Noto Sans KR" pitchFamily="34" charset="-120"/>
              </a:rPr>
              <a:t>미충족</a:t>
            </a:r>
            <a:r>
              <a:rPr lang="ko-KR" altLang="en-US" sz="1425" dirty="0">
                <a:solidFill>
                  <a:srgbClr val="1B1F24"/>
                </a:solidFill>
                <a:latin typeface="Noto Sans KR" pitchFamily="34" charset="0"/>
                <a:ea typeface="Noto Sans KR" pitchFamily="34" charset="-127"/>
                <a:cs typeface="Noto Sans KR" pitchFamily="34" charset="-120"/>
              </a:rPr>
              <a:t> </a:t>
            </a:r>
            <a:r>
              <a:rPr lang="ko-KR" altLang="en-US" sz="1425" dirty="0">
                <a:solidFill>
                  <a:srgbClr val="3A424C"/>
                </a:solidFill>
                <a:latin typeface="Noto Sans KR" pitchFamily="34" charset="0"/>
                <a:ea typeface="Noto Sans KR" pitchFamily="34" charset="-127"/>
                <a:cs typeface="Noto Sans KR" pitchFamily="34" charset="-120"/>
              </a:rPr>
              <a:t>(0.250 하락)</a:t>
            </a:r>
            <a:endParaRPr lang="en-US" sz="1425" dirty="0"/>
          </a:p>
        </p:txBody>
      </p:sp>
      <p:sp>
        <p:nvSpPr>
          <p:cNvPr id="56" name="06 베이스라인 결과 텍스트 33"/>
          <p:cNvSpPr txBox="1"/>
          <p:nvPr/>
        </p:nvSpPr>
        <p:spPr>
          <a:xfrm>
            <a:off x="609630" y="6384158"/>
            <a:ext cx="53383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 혐오 판정 기준은 기본값 (로지스틱 회귀: 확률 0.5 이상, 선형 SVM: 합 0 이상)</a:t>
            </a:r>
            <a:endParaRPr lang="en-US" sz="1125" dirty="0"/>
          </a:p>
        </p:txBody>
      </p:sp>
      <p:sp>
        <p:nvSpPr>
          <p:cNvPr id="57" name="06 베이스라인 결과 텍스트 34"/>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5</a:t>
            </a:r>
            <a:endParaRPr lang="en-US" sz="1125" dirty="0"/>
          </a:p>
        </p:txBody>
      </p:sp>
      <p:sp>
        <p:nvSpPr>
          <p:cNvPr id="58" name="06 약어 각주"/>
          <p:cNvSpPr txBox="1"/>
          <p:nvPr/>
        </p:nvSpPr>
        <p:spPr>
          <a:xfrm>
            <a:off x="609630" y="6134158"/>
            <a:ext cx="9000000"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TF-IDF: Term Frequency–Inverse Document Frequency (글자 2~4개 조각별 가중치) · SVM: Support Vector Machine</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07 결과 분석 텍스트 1"/>
          <p:cNvSpPr txBox="1"/>
          <p:nvPr/>
        </p:nvSpPr>
        <p:spPr>
          <a:xfrm>
            <a:off x="609630" y="381030"/>
            <a:ext cx="3395076"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베이스라인 결과 분석</a:t>
            </a:r>
            <a:endParaRPr lang="en-US" sz="2700" dirty="0"/>
          </a:p>
        </p:txBody>
      </p:sp>
      <p:sp>
        <p:nvSpPr>
          <p:cNvPr id="4" name="07 결과 분석 텍스트 2"/>
          <p:cNvSpPr txBox="1"/>
          <p:nvPr/>
        </p:nvSpPr>
        <p:spPr>
          <a:xfrm>
            <a:off x="609630" y="1241115"/>
            <a:ext cx="1616842" cy="342900"/>
          </a:xfrm>
          <a:prstGeom prst="rect">
            <a:avLst/>
          </a:prstGeom>
          <a:noFill/>
          <a:ln/>
        </p:spPr>
        <p:txBody>
          <a:bodyPr wrap="none" lIns="0" tIns="0" rIns="0" bIns="0" rtlCol="0" anchor="ctr"/>
          <a:lstStyle/>
          <a:p>
            <a:pPr marL="0" indent="0" algn="l">
              <a:buNone/>
            </a:pPr>
            <a:r>
              <a:rPr lang="ko-KR" altLang="en-US" sz="1800" b="1" dirty="0">
                <a:solidFill>
                  <a:srgbClr val="1B1F24"/>
                </a:solidFill>
                <a:latin typeface="Noto Sans KR" pitchFamily="34" charset="0"/>
                <a:ea typeface="Noto Sans KR" pitchFamily="34" charset="-127"/>
                <a:cs typeface="Noto Sans KR" pitchFamily="34" charset="-120"/>
              </a:rPr>
              <a:t>맥락만 넣으면?</a:t>
            </a:r>
            <a:endParaRPr lang="en-US" sz="1800" dirty="0"/>
          </a:p>
        </p:txBody>
      </p:sp>
      <p:sp>
        <p:nvSpPr>
          <p:cNvPr id="5" name="07 결과 분석 텍스트 3"/>
          <p:cNvSpPr txBox="1"/>
          <p:nvPr/>
        </p:nvSpPr>
        <p:spPr>
          <a:xfrm>
            <a:off x="609630" y="1633941"/>
            <a:ext cx="4088191" cy="242865"/>
          </a:xfrm>
          <a:prstGeom prst="rect">
            <a:avLst/>
          </a:prstGeom>
          <a:noFill/>
          <a:ln/>
        </p:spPr>
        <p:txBody>
          <a:bodyPr wrap="none" lIns="0" tIns="0" rIns="0" bIns="0" rtlCol="0" anchor="ctr"/>
          <a:lstStyle/>
          <a:p>
            <a:pPr marL="0" indent="0" algn="l">
              <a:buNone/>
            </a:pPr>
            <a:r>
              <a:rPr lang="ko-KR" altLang="en-US" sz="1275" dirty="0">
                <a:solidFill>
                  <a:srgbClr val="5B6470"/>
                </a:solidFill>
                <a:latin typeface="Noto Sans KR" pitchFamily="34" charset="0"/>
                <a:ea typeface="Noto Sans KR" pitchFamily="34" charset="-127"/>
                <a:cs typeface="Noto Sans KR" pitchFamily="34" charset="-120"/>
              </a:rPr>
              <a:t>댓글 없이 게시글 맥락만 입력 · 베이스라인 macro-F1</a:t>
            </a:r>
            <a:endParaRPr lang="en-US" sz="1275" dirty="0"/>
          </a:p>
        </p:txBody>
      </p:sp>
      <p:sp>
        <p:nvSpPr>
          <p:cNvPr id="6" name="07 결과 분석 텍스트 4"/>
          <p:cNvSpPr txBox="1"/>
          <p:nvPr/>
        </p:nvSpPr>
        <p:spPr>
          <a:xfrm>
            <a:off x="609630" y="2050725"/>
            <a:ext cx="1418052" cy="257221"/>
          </a:xfrm>
          <a:prstGeom prst="rect">
            <a:avLst/>
          </a:prstGeom>
          <a:noFill/>
          <a:ln/>
        </p:spPr>
        <p:txBody>
          <a:bodyPr wrap="none" lIns="0" tIns="0" rIns="0" bIns="0" rtlCol="0" anchor="ctr"/>
          <a:lstStyle/>
          <a:p>
            <a:pPr marL="0" indent="0" algn="l">
              <a:buNone/>
            </a:pPr>
            <a:r>
              <a:rPr lang="ko-KR" altLang="en-US" sz="1350" dirty="0">
                <a:solidFill>
                  <a:srgbClr val="3A424C"/>
                </a:solidFill>
                <a:latin typeface="Noto Sans KR" pitchFamily="34" charset="0"/>
                <a:ea typeface="Noto Sans KR" pitchFamily="34" charset="-127"/>
                <a:cs typeface="Noto Sans KR" pitchFamily="34" charset="-120"/>
              </a:rPr>
              <a:t>Dummy (무작위)</a:t>
            </a:r>
            <a:endParaRPr lang="en-US" sz="1350" dirty="0"/>
          </a:p>
        </p:txBody>
      </p:sp>
      <p:sp>
        <p:nvSpPr>
          <p:cNvPr id="7" name="Shape 4"/>
          <p:cNvSpPr/>
          <p:nvPr/>
        </p:nvSpPr>
        <p:spPr>
          <a:xfrm>
            <a:off x="2419320" y="2007840"/>
            <a:ext cx="1885950" cy="342900"/>
          </a:xfrm>
          <a:prstGeom prst="rect">
            <a:avLst/>
          </a:prstGeom>
          <a:solidFill>
            <a:srgbClr val="D5D9DE"/>
          </a:solidFill>
          <a:ln/>
        </p:spPr>
        <p:txBody>
          <a:bodyPr/>
          <a:lstStyle/>
          <a:p>
            <a:endParaRPr lang="ko-KR" altLang="en-US"/>
          </a:p>
        </p:txBody>
      </p:sp>
      <p:sp>
        <p:nvSpPr>
          <p:cNvPr id="8" name="07 결과 분석 텍스트 5"/>
          <p:cNvSpPr txBox="1"/>
          <p:nvPr/>
        </p:nvSpPr>
        <p:spPr>
          <a:xfrm>
            <a:off x="4400550" y="2050725"/>
            <a:ext cx="555864" cy="257221"/>
          </a:xfrm>
          <a:prstGeom prst="rect">
            <a:avLst/>
          </a:prstGeom>
          <a:noFill/>
          <a:ln/>
        </p:spPr>
        <p:txBody>
          <a:bodyPr wrap="none" lIns="0" tIns="0" rIns="0" bIns="0" rtlCol="0" anchor="ctr"/>
          <a:lstStyle/>
          <a:p>
            <a:pPr marL="0" indent="0" algn="l">
              <a:buNone/>
            </a:pPr>
            <a:r>
              <a:rPr lang="ko-KR" altLang="en-US" sz="1350" b="1" dirty="0">
                <a:solidFill>
                  <a:srgbClr val="1B1F24"/>
                </a:solidFill>
                <a:latin typeface="Noto Sans KR" pitchFamily="34" charset="0"/>
                <a:ea typeface="Noto Sans KR" pitchFamily="34" charset="-127"/>
                <a:cs typeface="Noto Sans KR" pitchFamily="34" charset="-120"/>
              </a:rPr>
              <a:t>0.495</a:t>
            </a:r>
            <a:endParaRPr lang="en-US" sz="1350" dirty="0"/>
          </a:p>
        </p:txBody>
      </p:sp>
      <p:sp>
        <p:nvSpPr>
          <p:cNvPr id="9" name="07 결과 분석 텍스트 6"/>
          <p:cNvSpPr txBox="1"/>
          <p:nvPr/>
        </p:nvSpPr>
        <p:spPr>
          <a:xfrm>
            <a:off x="609630" y="2565075"/>
            <a:ext cx="1848185" cy="257221"/>
          </a:xfrm>
          <a:prstGeom prst="rect">
            <a:avLst/>
          </a:prstGeom>
          <a:noFill/>
          <a:ln/>
        </p:spPr>
        <p:txBody>
          <a:bodyPr wrap="none" lIns="0" tIns="0" rIns="0" bIns="0" rtlCol="0" anchor="ctr"/>
          <a:lstStyle/>
          <a:p>
            <a:pPr marL="0" indent="0" algn="l">
              <a:buNone/>
            </a:pPr>
            <a:r>
              <a:rPr lang="ko-KR" altLang="en-US" sz="1350" dirty="0">
                <a:solidFill>
                  <a:srgbClr val="3A424C"/>
                </a:solidFill>
                <a:latin typeface="Noto Sans KR" pitchFamily="34" charset="0"/>
                <a:ea typeface="Noto Sans KR" pitchFamily="34" charset="-127"/>
                <a:cs typeface="Noto Sans KR" pitchFamily="34" charset="-120"/>
              </a:rPr>
              <a:t>로지스틱 회귀 · 맥락만</a:t>
            </a:r>
            <a:endParaRPr lang="en-US" sz="1350" dirty="0"/>
          </a:p>
        </p:txBody>
      </p:sp>
      <p:sp>
        <p:nvSpPr>
          <p:cNvPr id="10" name="Shape 7"/>
          <p:cNvSpPr/>
          <p:nvPr/>
        </p:nvSpPr>
        <p:spPr>
          <a:xfrm>
            <a:off x="2419320" y="2522190"/>
            <a:ext cx="1771650" cy="342900"/>
          </a:xfrm>
          <a:prstGeom prst="rect">
            <a:avLst/>
          </a:prstGeom>
          <a:solidFill>
            <a:srgbClr val="9DB8DA"/>
          </a:solidFill>
          <a:ln/>
        </p:spPr>
        <p:txBody>
          <a:bodyPr/>
          <a:lstStyle/>
          <a:p>
            <a:endParaRPr lang="ko-KR" altLang="en-US"/>
          </a:p>
        </p:txBody>
      </p:sp>
      <p:sp>
        <p:nvSpPr>
          <p:cNvPr id="11" name="07 결과 분석 텍스트 7"/>
          <p:cNvSpPr txBox="1"/>
          <p:nvPr/>
        </p:nvSpPr>
        <p:spPr>
          <a:xfrm>
            <a:off x="4286250" y="2565075"/>
            <a:ext cx="555864" cy="257221"/>
          </a:xfrm>
          <a:prstGeom prst="rect">
            <a:avLst/>
          </a:prstGeom>
          <a:noFill/>
          <a:ln/>
        </p:spPr>
        <p:txBody>
          <a:bodyPr wrap="none" lIns="0" tIns="0" rIns="0" bIns="0" rtlCol="0" anchor="ctr"/>
          <a:lstStyle/>
          <a:p>
            <a:pPr marL="0" indent="0" algn="l">
              <a:buNone/>
            </a:pPr>
            <a:r>
              <a:rPr lang="ko-KR" altLang="en-US" sz="1350" b="1" dirty="0">
                <a:solidFill>
                  <a:srgbClr val="1B1F24"/>
                </a:solidFill>
                <a:latin typeface="Noto Sans KR" pitchFamily="34" charset="0"/>
                <a:ea typeface="Noto Sans KR" pitchFamily="34" charset="-127"/>
                <a:cs typeface="Noto Sans KR" pitchFamily="34" charset="-120"/>
              </a:rPr>
              <a:t>0.465</a:t>
            </a:r>
            <a:endParaRPr lang="en-US" sz="1350" dirty="0"/>
          </a:p>
        </p:txBody>
      </p:sp>
      <p:sp>
        <p:nvSpPr>
          <p:cNvPr id="12" name="07 결과 분석 텍스트 8"/>
          <p:cNvSpPr txBox="1"/>
          <p:nvPr/>
        </p:nvSpPr>
        <p:spPr>
          <a:xfrm>
            <a:off x="609630" y="3079425"/>
            <a:ext cx="1479042" cy="257221"/>
          </a:xfrm>
          <a:prstGeom prst="rect">
            <a:avLst/>
          </a:prstGeom>
          <a:noFill/>
          <a:ln/>
        </p:spPr>
        <p:txBody>
          <a:bodyPr wrap="none" lIns="0" tIns="0" rIns="0" bIns="0" rtlCol="0" anchor="ctr"/>
          <a:lstStyle/>
          <a:p>
            <a:pPr marL="0" indent="0" algn="l">
              <a:buNone/>
            </a:pPr>
            <a:r>
              <a:rPr lang="ko-KR" altLang="en-US" sz="1350" dirty="0">
                <a:solidFill>
                  <a:srgbClr val="3A424C"/>
                </a:solidFill>
                <a:latin typeface="Noto Sans KR" pitchFamily="34" charset="0"/>
                <a:ea typeface="Noto Sans KR" pitchFamily="34" charset="-127"/>
                <a:cs typeface="Noto Sans KR" pitchFamily="34" charset="-120"/>
              </a:rPr>
              <a:t>선형 SVM · 맥락만</a:t>
            </a:r>
            <a:endParaRPr lang="en-US" sz="1350" dirty="0"/>
          </a:p>
        </p:txBody>
      </p:sp>
      <p:sp>
        <p:nvSpPr>
          <p:cNvPr id="13" name="Shape 10"/>
          <p:cNvSpPr/>
          <p:nvPr/>
        </p:nvSpPr>
        <p:spPr>
          <a:xfrm>
            <a:off x="2419320" y="3036540"/>
            <a:ext cx="1933590" cy="342900"/>
          </a:xfrm>
          <a:prstGeom prst="rect">
            <a:avLst/>
          </a:prstGeom>
          <a:solidFill>
            <a:srgbClr val="9DB8DA"/>
          </a:solidFill>
          <a:ln/>
        </p:spPr>
        <p:txBody>
          <a:bodyPr/>
          <a:lstStyle/>
          <a:p>
            <a:endParaRPr lang="ko-KR" altLang="en-US"/>
          </a:p>
        </p:txBody>
      </p:sp>
      <p:sp>
        <p:nvSpPr>
          <p:cNvPr id="14" name="07 결과 분석 텍스트 9"/>
          <p:cNvSpPr txBox="1"/>
          <p:nvPr/>
        </p:nvSpPr>
        <p:spPr>
          <a:xfrm>
            <a:off x="4448190" y="3079425"/>
            <a:ext cx="555864" cy="257221"/>
          </a:xfrm>
          <a:prstGeom prst="rect">
            <a:avLst/>
          </a:prstGeom>
          <a:noFill/>
          <a:ln/>
        </p:spPr>
        <p:txBody>
          <a:bodyPr wrap="none" lIns="0" tIns="0" rIns="0" bIns="0" rtlCol="0" anchor="ctr"/>
          <a:lstStyle/>
          <a:p>
            <a:pPr marL="0" indent="0" algn="l">
              <a:buNone/>
            </a:pPr>
            <a:r>
              <a:rPr lang="ko-KR" altLang="en-US" sz="1350" b="1" dirty="0">
                <a:solidFill>
                  <a:srgbClr val="1B1F24"/>
                </a:solidFill>
                <a:latin typeface="Noto Sans KR" pitchFamily="34" charset="0"/>
                <a:ea typeface="Noto Sans KR" pitchFamily="34" charset="-127"/>
                <a:cs typeface="Noto Sans KR" pitchFamily="34" charset="-120"/>
              </a:rPr>
              <a:t>0.508</a:t>
            </a:r>
            <a:endParaRPr lang="en-US" sz="1350" dirty="0"/>
          </a:p>
        </p:txBody>
      </p:sp>
      <p:sp>
        <p:nvSpPr>
          <p:cNvPr id="15" name="07 결과 분석 텍스트 10"/>
          <p:cNvSpPr txBox="1"/>
          <p:nvPr/>
        </p:nvSpPr>
        <p:spPr>
          <a:xfrm>
            <a:off x="609630" y="3593775"/>
            <a:ext cx="1848185" cy="257221"/>
          </a:xfrm>
          <a:prstGeom prst="rect">
            <a:avLst/>
          </a:prstGeom>
          <a:noFill/>
          <a:ln/>
        </p:spPr>
        <p:txBody>
          <a:bodyPr wrap="none" lIns="0" tIns="0" rIns="0" bIns="0" rtlCol="0" anchor="ctr"/>
          <a:lstStyle/>
          <a:p>
            <a:pPr marL="0" indent="0" algn="l">
              <a:buNone/>
            </a:pPr>
            <a:r>
              <a:rPr lang="ko-KR" altLang="en-US" sz="1350" dirty="0">
                <a:solidFill>
                  <a:srgbClr val="3A424C"/>
                </a:solidFill>
                <a:latin typeface="Noto Sans KR" pitchFamily="34" charset="0"/>
                <a:ea typeface="Noto Sans KR" pitchFamily="34" charset="-127"/>
                <a:cs typeface="Noto Sans KR" pitchFamily="34" charset="-120"/>
              </a:rPr>
              <a:t>로지스틱 회귀 · 댓글만</a:t>
            </a:r>
            <a:endParaRPr lang="en-US" sz="1350" dirty="0"/>
          </a:p>
        </p:txBody>
      </p:sp>
      <p:sp>
        <p:nvSpPr>
          <p:cNvPr id="16" name="Shape 13"/>
          <p:cNvSpPr/>
          <p:nvPr/>
        </p:nvSpPr>
        <p:spPr>
          <a:xfrm>
            <a:off x="2419320" y="3550890"/>
            <a:ext cx="2466960" cy="342900"/>
          </a:xfrm>
          <a:prstGeom prst="rect">
            <a:avLst/>
          </a:prstGeom>
          <a:solidFill>
            <a:srgbClr val="8C949D"/>
          </a:solidFill>
          <a:ln/>
        </p:spPr>
        <p:txBody>
          <a:bodyPr/>
          <a:lstStyle/>
          <a:p>
            <a:endParaRPr lang="ko-KR" altLang="en-US"/>
          </a:p>
        </p:txBody>
      </p:sp>
      <p:sp>
        <p:nvSpPr>
          <p:cNvPr id="17" name="07 결과 분석 텍스트 11"/>
          <p:cNvSpPr txBox="1"/>
          <p:nvPr/>
        </p:nvSpPr>
        <p:spPr>
          <a:xfrm>
            <a:off x="4981560" y="3593775"/>
            <a:ext cx="555864" cy="257221"/>
          </a:xfrm>
          <a:prstGeom prst="rect">
            <a:avLst/>
          </a:prstGeom>
          <a:noFill/>
          <a:ln/>
        </p:spPr>
        <p:txBody>
          <a:bodyPr wrap="none" lIns="0" tIns="0" rIns="0" bIns="0" rtlCol="0" anchor="ctr"/>
          <a:lstStyle/>
          <a:p>
            <a:pPr marL="0" indent="0" algn="l">
              <a:buNone/>
            </a:pPr>
            <a:r>
              <a:rPr lang="ko-KR" altLang="en-US" sz="1350" b="1" dirty="0">
                <a:solidFill>
                  <a:srgbClr val="1B1F24"/>
                </a:solidFill>
                <a:latin typeface="Noto Sans KR" pitchFamily="34" charset="0"/>
                <a:ea typeface="Noto Sans KR" pitchFamily="34" charset="-127"/>
                <a:cs typeface="Noto Sans KR" pitchFamily="34" charset="-120"/>
              </a:rPr>
              <a:t>0.647</a:t>
            </a:r>
            <a:endParaRPr lang="en-US" sz="1350" dirty="0"/>
          </a:p>
        </p:txBody>
      </p:sp>
      <p:sp>
        <p:nvSpPr>
          <p:cNvPr id="18" name="07 결과 분석 텍스트 12"/>
          <p:cNvSpPr txBox="1"/>
          <p:nvPr/>
        </p:nvSpPr>
        <p:spPr>
          <a:xfrm>
            <a:off x="609630" y="4186672"/>
            <a:ext cx="4475531" cy="328635"/>
          </a:xfrm>
          <a:prstGeom prst="rect">
            <a:avLst/>
          </a:prstGeom>
          <a:noFill/>
          <a:ln/>
        </p:spPr>
        <p:txBody>
          <a:bodyPr wrap="none" lIns="0" tIns="0" rIns="0" bIns="0" rtlCol="0" anchor="ctr"/>
          <a:lstStyle/>
          <a:p>
            <a:pPr marL="0" indent="0" algn="l">
              <a:buNone/>
            </a:pPr>
            <a:r>
              <a:rPr lang="ko-KR" altLang="en-US" sz="1725" b="1" dirty="0">
                <a:solidFill>
                  <a:srgbClr val="1B1F24"/>
                </a:solidFill>
                <a:latin typeface="Noto Sans KR" pitchFamily="34" charset="0"/>
                <a:ea typeface="Noto Sans KR" pitchFamily="34" charset="-127"/>
                <a:cs typeface="Noto Sans KR" pitchFamily="34" charset="-120"/>
              </a:rPr>
              <a:t>맥락만 보면 무작위로 찍은 것과 비슷한 점수</a:t>
            </a:r>
            <a:endParaRPr lang="en-US" sz="1725" dirty="0"/>
          </a:p>
        </p:txBody>
      </p:sp>
      <p:sp>
        <p:nvSpPr>
          <p:cNvPr id="19" name="07 결과 분석 텍스트 13"/>
          <p:cNvSpPr txBox="1"/>
          <p:nvPr/>
        </p:nvSpPr>
        <p:spPr>
          <a:xfrm>
            <a:off x="609630" y="4628418"/>
            <a:ext cx="3267426" cy="560802"/>
          </a:xfrm>
          <a:prstGeom prst="rect">
            <a:avLst/>
          </a:prstGeom>
          <a:noFill/>
          <a:ln/>
        </p:spPr>
        <p:txBody>
          <a:bodyPr wrap="none" lIns="0" tIns="0" rIns="0" bIns="0" rtlCol="0" anchor="ctr"/>
          <a:lstStyle/>
          <a:p>
            <a:pPr marL="0" indent="0" algn="l">
              <a:lnSpc>
                <a:spcPts val="2208"/>
              </a:lnSpc>
              <a:buNone/>
            </a:pPr>
            <a:r>
              <a:rPr lang="ko-KR" altLang="en-US" sz="1425" dirty="0">
                <a:solidFill>
                  <a:srgbClr val="3A424C"/>
                </a:solidFill>
                <a:latin typeface="Noto Sans KR" pitchFamily="34" charset="0"/>
                <a:ea typeface="Noto Sans KR" pitchFamily="34" charset="-127"/>
                <a:cs typeface="Noto Sans KR" pitchFamily="34" charset="-120"/>
              </a:rPr>
              <a:t>처음 보는 게시글에서는</a:t>
            </a:r>
            <a:endParaRPr lang="en-US" sz="1425" dirty="0"/>
          </a:p>
          <a:p>
            <a:pPr marL="0" indent="0" algn="l">
              <a:lnSpc>
                <a:spcPts val="2208"/>
              </a:lnSpc>
              <a:buNone/>
            </a:pPr>
            <a:r>
              <a:rPr lang="ko-KR" altLang="en-US" sz="1425" dirty="0">
                <a:solidFill>
                  <a:srgbClr val="3A424C"/>
                </a:solidFill>
                <a:latin typeface="Noto Sans KR" pitchFamily="34" charset="0"/>
                <a:ea typeface="Noto Sans KR" pitchFamily="34" charset="-127"/>
                <a:cs typeface="Noto Sans KR" pitchFamily="34" charset="-120"/>
              </a:rPr>
              <a:t>맥락 문장만으로 혐오를 가려낼 수 없음</a:t>
            </a:r>
            <a:endParaRPr lang="en-US" sz="1425" dirty="0"/>
          </a:p>
        </p:txBody>
      </p:sp>
      <p:sp>
        <p:nvSpPr>
          <p:cNvPr id="20" name="Shape 17"/>
          <p:cNvSpPr/>
          <p:nvPr/>
        </p:nvSpPr>
        <p:spPr>
          <a:xfrm>
            <a:off x="6086521" y="1245870"/>
            <a:ext cx="9510" cy="4605376"/>
          </a:xfrm>
          <a:prstGeom prst="rect">
            <a:avLst/>
          </a:prstGeom>
          <a:solidFill>
            <a:srgbClr val="D5D9DE"/>
          </a:solidFill>
          <a:ln/>
        </p:spPr>
        <p:txBody>
          <a:bodyPr/>
          <a:lstStyle/>
          <a:p>
            <a:endParaRPr lang="ko-KR" altLang="en-US"/>
          </a:p>
        </p:txBody>
      </p:sp>
      <p:sp>
        <p:nvSpPr>
          <p:cNvPr id="21" name="07 결과 분석 텍스트 14"/>
          <p:cNvSpPr txBox="1"/>
          <p:nvPr/>
        </p:nvSpPr>
        <p:spPr>
          <a:xfrm>
            <a:off x="6429421" y="1241115"/>
            <a:ext cx="1307683" cy="342900"/>
          </a:xfrm>
          <a:prstGeom prst="rect">
            <a:avLst/>
          </a:prstGeom>
          <a:noFill/>
          <a:ln/>
        </p:spPr>
        <p:txBody>
          <a:bodyPr wrap="none" lIns="0" tIns="0" rIns="0" bIns="0" rtlCol="0" anchor="ctr"/>
          <a:lstStyle/>
          <a:p>
            <a:pPr marL="0" indent="0" algn="l">
              <a:buNone/>
            </a:pPr>
            <a:r>
              <a:rPr lang="ko-KR" altLang="en-US" sz="1800" b="1" dirty="0">
                <a:solidFill>
                  <a:srgbClr val="1B1F24"/>
                </a:solidFill>
                <a:latin typeface="Noto Sans KR" pitchFamily="34" charset="0"/>
                <a:ea typeface="Noto Sans KR" pitchFamily="34" charset="-127"/>
                <a:cs typeface="Noto Sans KR" pitchFamily="34" charset="-120"/>
              </a:rPr>
              <a:t>혐오 Recall</a:t>
            </a:r>
            <a:endParaRPr lang="en-US" sz="1800" dirty="0"/>
          </a:p>
        </p:txBody>
      </p:sp>
      <p:sp>
        <p:nvSpPr>
          <p:cNvPr id="22" name="07 결과 분석 텍스트 15"/>
          <p:cNvSpPr txBox="1"/>
          <p:nvPr/>
        </p:nvSpPr>
        <p:spPr>
          <a:xfrm>
            <a:off x="6429421" y="1633941"/>
            <a:ext cx="2907060" cy="242865"/>
          </a:xfrm>
          <a:prstGeom prst="rect">
            <a:avLst/>
          </a:prstGeom>
          <a:noFill/>
          <a:ln/>
        </p:spPr>
        <p:txBody>
          <a:bodyPr wrap="none" lIns="0" tIns="0" rIns="0" bIns="0" rtlCol="0" anchor="ctr"/>
          <a:lstStyle/>
          <a:p>
            <a:pPr marL="0" indent="0" algn="l">
              <a:buNone/>
            </a:pPr>
            <a:r>
              <a:rPr lang="ko-KR" altLang="en-US" sz="1275" dirty="0">
                <a:solidFill>
                  <a:srgbClr val="5B6470"/>
                </a:solidFill>
                <a:latin typeface="Noto Sans KR" pitchFamily="34" charset="0"/>
                <a:ea typeface="Noto Sans KR" pitchFamily="34" charset="-127"/>
                <a:cs typeface="Noto Sans KR" pitchFamily="34" charset="-120"/>
              </a:rPr>
              <a:t>(TF-IDF + 로지스틱 회귀, 5-fold 평균)</a:t>
            </a:r>
            <a:endParaRPr lang="en-US" sz="1275" dirty="0"/>
          </a:p>
        </p:txBody>
      </p:sp>
      <p:sp>
        <p:nvSpPr>
          <p:cNvPr id="23" name="Shape 20"/>
          <p:cNvSpPr/>
          <p:nvPr/>
        </p:nvSpPr>
        <p:spPr>
          <a:xfrm>
            <a:off x="6429421" y="5455859"/>
            <a:ext cx="5136001" cy="395374"/>
          </a:xfrm>
          <a:prstGeom prst="rect">
            <a:avLst/>
          </a:prstGeom>
          <a:solidFill>
            <a:srgbClr val="F3F5F7"/>
          </a:solidFill>
          <a:ln/>
        </p:spPr>
        <p:txBody>
          <a:bodyPr/>
          <a:lstStyle/>
          <a:p>
            <a:endParaRPr lang="ko-KR" altLang="en-US"/>
          </a:p>
        </p:txBody>
      </p:sp>
      <p:sp>
        <p:nvSpPr>
          <p:cNvPr id="24" name="07 결과 분석 텍스트 16"/>
          <p:cNvSpPr txBox="1"/>
          <p:nvPr/>
        </p:nvSpPr>
        <p:spPr>
          <a:xfrm>
            <a:off x="6581760" y="5529743"/>
            <a:ext cx="5155021" cy="242865"/>
          </a:xfrm>
          <a:prstGeom prst="rect">
            <a:avLst/>
          </a:prstGeom>
          <a:noFill/>
          <a:ln/>
        </p:spPr>
        <p:txBody>
          <a:bodyPr wrap="none" lIns="0" tIns="0" rIns="0" bIns="0" rtlCol="0" anchor="ctr"/>
          <a:lstStyle/>
          <a:p>
            <a:pPr marL="0" indent="0" algn="l">
              <a:buNone/>
            </a:pPr>
            <a:r>
              <a:rPr lang="ko-KR" altLang="en-US" sz="1275" b="1" dirty="0">
                <a:solidFill>
                  <a:srgbClr val="1B1F24"/>
                </a:solidFill>
                <a:latin typeface="Noto Sans KR" pitchFamily="34" charset="0"/>
                <a:ea typeface="Noto Sans KR" pitchFamily="34" charset="-127"/>
                <a:cs typeface="Noto Sans KR" pitchFamily="34" charset="-120"/>
              </a:rPr>
              <a:t>임계값</a:t>
            </a:r>
            <a:r>
              <a:rPr lang="ko-KR" altLang="en-US" sz="1275" dirty="0">
                <a:solidFill>
                  <a:srgbClr val="3A424C"/>
                </a:solidFill>
                <a:latin typeface="Noto Sans KR" pitchFamily="34" charset="0"/>
                <a:ea typeface="Noto Sans KR" pitchFamily="34" charset="-127"/>
                <a:cs typeface="Noto Sans KR" pitchFamily="34" charset="-120"/>
              </a:rPr>
              <a:t>: 모델이 낸 혐오 확률이 이 값 이상이면 혐오로 판정 (기본 0.5)</a:t>
            </a:r>
            <a:endParaRPr lang="en-US" sz="1275" dirty="0"/>
          </a:p>
        </p:txBody>
      </p:sp>
      <p:sp>
        <p:nvSpPr>
          <p:cNvPr id="25" name="07 결과 분석 텍스트 17"/>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6</a:t>
            </a:r>
            <a:endParaRPr lang="en-US" sz="1125" dirty="0"/>
          </a:p>
        </p:txBody>
      </p:sp>
      <p:sp>
        <p:nvSpPr>
          <p:cNvPr id="26" name="Shape 23"/>
          <p:cNvSpPr/>
          <p:nvPr/>
        </p:nvSpPr>
        <p:spPr>
          <a:xfrm>
            <a:off x="6886621" y="3969959"/>
            <a:ext cx="3543300" cy="0"/>
          </a:xfrm>
          <a:prstGeom prst="line">
            <a:avLst/>
          </a:prstGeom>
          <a:noFill/>
          <a:ln w="9525">
            <a:solidFill>
              <a:srgbClr val="E3E6EA"/>
            </a:solidFill>
            <a:prstDash val="solid"/>
          </a:ln>
        </p:spPr>
        <p:txBody>
          <a:bodyPr/>
          <a:lstStyle/>
          <a:p>
            <a:endParaRPr lang="ko-KR" altLang="en-US"/>
          </a:p>
        </p:txBody>
      </p:sp>
      <p:sp>
        <p:nvSpPr>
          <p:cNvPr id="27" name="Shape 24"/>
          <p:cNvSpPr/>
          <p:nvPr/>
        </p:nvSpPr>
        <p:spPr>
          <a:xfrm>
            <a:off x="6886621" y="3017520"/>
            <a:ext cx="3543300" cy="0"/>
          </a:xfrm>
          <a:prstGeom prst="line">
            <a:avLst/>
          </a:prstGeom>
          <a:noFill/>
          <a:ln w="9525">
            <a:solidFill>
              <a:srgbClr val="E3E6EA"/>
            </a:solidFill>
            <a:prstDash val="solid"/>
          </a:ln>
        </p:spPr>
        <p:txBody>
          <a:bodyPr/>
          <a:lstStyle/>
          <a:p>
            <a:endParaRPr lang="ko-KR" altLang="en-US"/>
          </a:p>
        </p:txBody>
      </p:sp>
      <p:sp>
        <p:nvSpPr>
          <p:cNvPr id="28" name="Shape 25"/>
          <p:cNvSpPr/>
          <p:nvPr/>
        </p:nvSpPr>
        <p:spPr>
          <a:xfrm>
            <a:off x="6886621" y="2064990"/>
            <a:ext cx="3543300" cy="0"/>
          </a:xfrm>
          <a:prstGeom prst="line">
            <a:avLst/>
          </a:prstGeom>
          <a:noFill/>
          <a:ln w="9525">
            <a:solidFill>
              <a:srgbClr val="E3E6EA"/>
            </a:solidFill>
            <a:prstDash val="solid"/>
          </a:ln>
        </p:spPr>
        <p:txBody>
          <a:bodyPr/>
          <a:lstStyle/>
          <a:p>
            <a:endParaRPr lang="ko-KR" altLang="en-US"/>
          </a:p>
        </p:txBody>
      </p:sp>
      <p:sp>
        <p:nvSpPr>
          <p:cNvPr id="29" name="Shape 26"/>
          <p:cNvSpPr/>
          <p:nvPr/>
        </p:nvSpPr>
        <p:spPr>
          <a:xfrm>
            <a:off x="6886621" y="4922490"/>
            <a:ext cx="3543300" cy="0"/>
          </a:xfrm>
          <a:prstGeom prst="line">
            <a:avLst/>
          </a:prstGeom>
          <a:noFill/>
          <a:ln w="9525">
            <a:solidFill>
              <a:srgbClr val="5B6470"/>
            </a:solidFill>
            <a:prstDash val="solid"/>
          </a:ln>
        </p:spPr>
        <p:txBody>
          <a:bodyPr/>
          <a:lstStyle/>
          <a:p>
            <a:endParaRPr lang="ko-KR" altLang="en-US"/>
          </a:p>
        </p:txBody>
      </p:sp>
      <p:sp>
        <p:nvSpPr>
          <p:cNvPr id="30" name="07 결과 분석 텍스트 18"/>
          <p:cNvSpPr txBox="1"/>
          <p:nvPr/>
        </p:nvSpPr>
        <p:spPr>
          <a:xfrm>
            <a:off x="6621993" y="4812944"/>
            <a:ext cx="171450" cy="200071"/>
          </a:xfrm>
          <a:prstGeom prst="rect">
            <a:avLst/>
          </a:prstGeom>
          <a:noFill/>
          <a:ln/>
        </p:spPr>
        <p:txBody>
          <a:bodyPr wrap="none" lIns="0" tIns="0" rIns="0" bIns="0" rtlCol="0" anchor="ctr"/>
          <a:lstStyle/>
          <a:p>
            <a:pPr marL="0" indent="0" algn="r">
              <a:buNone/>
            </a:pPr>
            <a:r>
              <a:rPr lang="ko-KR" altLang="en-US" sz="1050" dirty="0">
                <a:solidFill>
                  <a:srgbClr val="8C949D"/>
                </a:solidFill>
                <a:latin typeface="Noto Sans KR" pitchFamily="34" charset="0"/>
                <a:ea typeface="Noto Sans KR" pitchFamily="34" charset="-127"/>
                <a:cs typeface="Noto Sans KR" pitchFamily="34" charset="-120"/>
              </a:rPr>
              <a:t>0</a:t>
            </a:r>
            <a:endParaRPr lang="en-US" sz="1050" dirty="0"/>
          </a:p>
        </p:txBody>
      </p:sp>
      <p:sp>
        <p:nvSpPr>
          <p:cNvPr id="31" name="07 결과 분석 텍스트 19"/>
          <p:cNvSpPr txBox="1"/>
          <p:nvPr/>
        </p:nvSpPr>
        <p:spPr>
          <a:xfrm>
            <a:off x="6510802" y="3860414"/>
            <a:ext cx="282641" cy="200071"/>
          </a:xfrm>
          <a:prstGeom prst="rect">
            <a:avLst/>
          </a:prstGeom>
          <a:noFill/>
          <a:ln/>
        </p:spPr>
        <p:txBody>
          <a:bodyPr wrap="none" lIns="0" tIns="0" rIns="0" bIns="0" rtlCol="0" anchor="ctr"/>
          <a:lstStyle/>
          <a:p>
            <a:pPr marL="0" indent="0" algn="r">
              <a:buNone/>
            </a:pPr>
            <a:r>
              <a:rPr lang="ko-KR" altLang="en-US" sz="1050" dirty="0">
                <a:solidFill>
                  <a:srgbClr val="8C949D"/>
                </a:solidFill>
                <a:latin typeface="Noto Sans KR" pitchFamily="34" charset="0"/>
                <a:ea typeface="Noto Sans KR" pitchFamily="34" charset="-127"/>
                <a:cs typeface="Noto Sans KR" pitchFamily="34" charset="-120"/>
              </a:rPr>
              <a:t>0.2</a:t>
            </a:r>
            <a:endParaRPr lang="en-US" sz="1050" dirty="0"/>
          </a:p>
        </p:txBody>
      </p:sp>
      <p:sp>
        <p:nvSpPr>
          <p:cNvPr id="32" name="07 결과 분석 텍스트 20"/>
          <p:cNvSpPr txBox="1"/>
          <p:nvPr/>
        </p:nvSpPr>
        <p:spPr>
          <a:xfrm>
            <a:off x="6510802" y="2907975"/>
            <a:ext cx="282641" cy="200071"/>
          </a:xfrm>
          <a:prstGeom prst="rect">
            <a:avLst/>
          </a:prstGeom>
          <a:noFill/>
          <a:ln/>
        </p:spPr>
        <p:txBody>
          <a:bodyPr wrap="none" lIns="0" tIns="0" rIns="0" bIns="0" rtlCol="0" anchor="ctr"/>
          <a:lstStyle/>
          <a:p>
            <a:pPr marL="0" indent="0" algn="r">
              <a:buNone/>
            </a:pPr>
            <a:r>
              <a:rPr lang="ko-KR" altLang="en-US" sz="1050" dirty="0">
                <a:solidFill>
                  <a:srgbClr val="8C949D"/>
                </a:solidFill>
                <a:latin typeface="Noto Sans KR" pitchFamily="34" charset="0"/>
                <a:ea typeface="Noto Sans KR" pitchFamily="34" charset="-127"/>
                <a:cs typeface="Noto Sans KR" pitchFamily="34" charset="-120"/>
              </a:rPr>
              <a:t>0.4</a:t>
            </a:r>
            <a:endParaRPr lang="en-US" sz="1050" dirty="0"/>
          </a:p>
        </p:txBody>
      </p:sp>
      <p:sp>
        <p:nvSpPr>
          <p:cNvPr id="33" name="07 결과 분석 텍스트 21"/>
          <p:cNvSpPr txBox="1"/>
          <p:nvPr/>
        </p:nvSpPr>
        <p:spPr>
          <a:xfrm>
            <a:off x="6510802" y="1955444"/>
            <a:ext cx="282641" cy="200071"/>
          </a:xfrm>
          <a:prstGeom prst="rect">
            <a:avLst/>
          </a:prstGeom>
          <a:noFill/>
          <a:ln/>
        </p:spPr>
        <p:txBody>
          <a:bodyPr wrap="none" lIns="0" tIns="0" rIns="0" bIns="0" rtlCol="0" anchor="ctr"/>
          <a:lstStyle/>
          <a:p>
            <a:pPr marL="0" indent="0" algn="r">
              <a:buNone/>
            </a:pPr>
            <a:r>
              <a:rPr lang="ko-KR" altLang="en-US" sz="1050" dirty="0">
                <a:solidFill>
                  <a:srgbClr val="8C949D"/>
                </a:solidFill>
                <a:latin typeface="Noto Sans KR" pitchFamily="34" charset="0"/>
                <a:ea typeface="Noto Sans KR" pitchFamily="34" charset="-127"/>
                <a:cs typeface="Noto Sans KR" pitchFamily="34" charset="-120"/>
              </a:rPr>
              <a:t>0.6</a:t>
            </a:r>
            <a:endParaRPr lang="en-US" sz="1050" dirty="0"/>
          </a:p>
        </p:txBody>
      </p:sp>
      <p:sp>
        <p:nvSpPr>
          <p:cNvPr id="34" name="Shape 31"/>
          <p:cNvSpPr/>
          <p:nvPr/>
        </p:nvSpPr>
        <p:spPr>
          <a:xfrm>
            <a:off x="7953360" y="2407890"/>
            <a:ext cx="1904970" cy="1071585"/>
          </a:xfrm>
          <a:prstGeom prst="line">
            <a:avLst/>
          </a:prstGeom>
          <a:noFill/>
          <a:ln w="28575">
            <a:solidFill>
              <a:srgbClr val="8C949D"/>
            </a:solidFill>
            <a:prstDash val="solid"/>
          </a:ln>
        </p:spPr>
        <p:txBody>
          <a:bodyPr/>
          <a:lstStyle/>
          <a:p>
            <a:endParaRPr lang="ko-KR" altLang="en-US"/>
          </a:p>
        </p:txBody>
      </p:sp>
      <p:sp>
        <p:nvSpPr>
          <p:cNvPr id="35" name="Shape 32"/>
          <p:cNvSpPr/>
          <p:nvPr/>
        </p:nvSpPr>
        <p:spPr>
          <a:xfrm>
            <a:off x="7953360" y="2122140"/>
            <a:ext cx="1904970" cy="252374"/>
          </a:xfrm>
          <a:prstGeom prst="line">
            <a:avLst/>
          </a:prstGeom>
          <a:noFill/>
          <a:ln w="28575">
            <a:solidFill>
              <a:srgbClr val="1F5FA8"/>
            </a:solidFill>
            <a:prstDash val="solid"/>
          </a:ln>
        </p:spPr>
        <p:txBody>
          <a:bodyPr/>
          <a:lstStyle/>
          <a:p>
            <a:endParaRPr lang="ko-KR" altLang="en-US"/>
          </a:p>
        </p:txBody>
      </p:sp>
      <p:sp>
        <p:nvSpPr>
          <p:cNvPr id="36" name="Shape 33"/>
          <p:cNvSpPr/>
          <p:nvPr/>
        </p:nvSpPr>
        <p:spPr>
          <a:xfrm>
            <a:off x="7896210" y="2350740"/>
            <a:ext cx="114300" cy="114300"/>
          </a:xfrm>
          <a:prstGeom prst="ellipse">
            <a:avLst/>
          </a:prstGeom>
          <a:solidFill>
            <a:srgbClr val="8C949D"/>
          </a:solidFill>
          <a:ln/>
        </p:spPr>
        <p:txBody>
          <a:bodyPr/>
          <a:lstStyle/>
          <a:p>
            <a:endParaRPr lang="ko-KR" altLang="en-US"/>
          </a:p>
        </p:txBody>
      </p:sp>
      <p:sp>
        <p:nvSpPr>
          <p:cNvPr id="37" name="Shape 34"/>
          <p:cNvSpPr/>
          <p:nvPr/>
        </p:nvSpPr>
        <p:spPr>
          <a:xfrm>
            <a:off x="9801271" y="3422325"/>
            <a:ext cx="114300" cy="114300"/>
          </a:xfrm>
          <a:prstGeom prst="ellipse">
            <a:avLst/>
          </a:prstGeom>
          <a:solidFill>
            <a:srgbClr val="8C949D"/>
          </a:solidFill>
          <a:ln/>
        </p:spPr>
        <p:txBody>
          <a:bodyPr/>
          <a:lstStyle/>
          <a:p>
            <a:endParaRPr lang="ko-KR" altLang="en-US"/>
          </a:p>
        </p:txBody>
      </p:sp>
      <p:sp>
        <p:nvSpPr>
          <p:cNvPr id="38" name="Shape 35"/>
          <p:cNvSpPr/>
          <p:nvPr/>
        </p:nvSpPr>
        <p:spPr>
          <a:xfrm>
            <a:off x="7896210" y="2064990"/>
            <a:ext cx="114300" cy="114300"/>
          </a:xfrm>
          <a:prstGeom prst="ellipse">
            <a:avLst/>
          </a:prstGeom>
          <a:solidFill>
            <a:srgbClr val="1F5FA8"/>
          </a:solidFill>
          <a:ln/>
        </p:spPr>
        <p:txBody>
          <a:bodyPr/>
          <a:lstStyle/>
          <a:p>
            <a:endParaRPr lang="ko-KR" altLang="en-US"/>
          </a:p>
        </p:txBody>
      </p:sp>
      <p:sp>
        <p:nvSpPr>
          <p:cNvPr id="39" name="Shape 36"/>
          <p:cNvSpPr/>
          <p:nvPr/>
        </p:nvSpPr>
        <p:spPr>
          <a:xfrm>
            <a:off x="9801271" y="2317364"/>
            <a:ext cx="114300" cy="114300"/>
          </a:xfrm>
          <a:prstGeom prst="ellipse">
            <a:avLst/>
          </a:prstGeom>
          <a:solidFill>
            <a:srgbClr val="1F5FA8"/>
          </a:solidFill>
          <a:ln/>
        </p:spPr>
        <p:txBody>
          <a:bodyPr/>
          <a:lstStyle/>
          <a:p>
            <a:endParaRPr lang="ko-KR" altLang="en-US"/>
          </a:p>
        </p:txBody>
      </p:sp>
      <p:sp>
        <p:nvSpPr>
          <p:cNvPr id="40" name="07 결과 분석 텍스트 22"/>
          <p:cNvSpPr txBox="1"/>
          <p:nvPr/>
        </p:nvSpPr>
        <p:spPr>
          <a:xfrm>
            <a:off x="7289780" y="1986443"/>
            <a:ext cx="530261" cy="242865"/>
          </a:xfrm>
          <a:prstGeom prst="rect">
            <a:avLst/>
          </a:prstGeom>
          <a:noFill/>
          <a:ln/>
        </p:spPr>
        <p:txBody>
          <a:bodyPr wrap="none" lIns="0" tIns="0" rIns="0" bIns="0" rtlCol="0" anchor="ctr"/>
          <a:lstStyle/>
          <a:p>
            <a:pPr marL="0" indent="0" algn="r">
              <a:buNone/>
            </a:pPr>
            <a:r>
              <a:rPr lang="ko-KR" altLang="en-US" sz="1275" b="1" dirty="0">
                <a:solidFill>
                  <a:srgbClr val="1F5FA8"/>
                </a:solidFill>
                <a:latin typeface="Noto Sans KR" pitchFamily="34" charset="0"/>
                <a:ea typeface="Noto Sans KR" pitchFamily="34" charset="-127"/>
                <a:cs typeface="Noto Sans KR" pitchFamily="34" charset="-120"/>
              </a:rPr>
              <a:t>0.588</a:t>
            </a:r>
            <a:endParaRPr lang="en-US" sz="1275" dirty="0"/>
          </a:p>
        </p:txBody>
      </p:sp>
      <p:sp>
        <p:nvSpPr>
          <p:cNvPr id="41" name="07 결과 분석 텍스트 23"/>
          <p:cNvSpPr txBox="1"/>
          <p:nvPr/>
        </p:nvSpPr>
        <p:spPr>
          <a:xfrm>
            <a:off x="7289780" y="2272193"/>
            <a:ext cx="530261" cy="242865"/>
          </a:xfrm>
          <a:prstGeom prst="rect">
            <a:avLst/>
          </a:prstGeom>
          <a:noFill/>
          <a:ln/>
        </p:spPr>
        <p:txBody>
          <a:bodyPr wrap="none" lIns="0" tIns="0" rIns="0" bIns="0" rtlCol="0" anchor="ctr"/>
          <a:lstStyle/>
          <a:p>
            <a:pPr marL="0" indent="0" algn="r">
              <a:buNone/>
            </a:pPr>
            <a:r>
              <a:rPr lang="ko-KR" altLang="en-US" sz="1275" b="1" dirty="0">
                <a:solidFill>
                  <a:srgbClr val="5B6470"/>
                </a:solidFill>
                <a:latin typeface="Noto Sans KR" pitchFamily="34" charset="0"/>
                <a:ea typeface="Noto Sans KR" pitchFamily="34" charset="-127"/>
                <a:cs typeface="Noto Sans KR" pitchFamily="34" charset="-120"/>
              </a:rPr>
              <a:t>0.528</a:t>
            </a:r>
            <a:endParaRPr lang="en-US" sz="1275" dirty="0"/>
          </a:p>
        </p:txBody>
      </p:sp>
      <p:sp>
        <p:nvSpPr>
          <p:cNvPr id="42" name="07 결과 분석 텍스트 24"/>
          <p:cNvSpPr txBox="1"/>
          <p:nvPr/>
        </p:nvSpPr>
        <p:spPr>
          <a:xfrm>
            <a:off x="9991740" y="2234062"/>
            <a:ext cx="1405707" cy="242865"/>
          </a:xfrm>
          <a:prstGeom prst="rect">
            <a:avLst/>
          </a:prstGeom>
          <a:noFill/>
          <a:ln/>
        </p:spPr>
        <p:txBody>
          <a:bodyPr wrap="none" lIns="0" tIns="0" rIns="0" bIns="0" rtlCol="0" anchor="ctr"/>
          <a:lstStyle/>
          <a:p>
            <a:pPr marL="0" indent="0" algn="l">
              <a:buNone/>
            </a:pPr>
            <a:r>
              <a:rPr lang="ko-KR" altLang="en-US" sz="1275" b="1" dirty="0">
                <a:solidFill>
                  <a:srgbClr val="1F5FA8"/>
                </a:solidFill>
                <a:latin typeface="Noto Sans KR" pitchFamily="34" charset="0"/>
                <a:ea typeface="Noto Sans KR" pitchFamily="34" charset="-127"/>
                <a:cs typeface="Noto Sans KR" pitchFamily="34" charset="-120"/>
              </a:rPr>
              <a:t>0.535</a:t>
            </a:r>
            <a:r>
              <a:rPr lang="ko-KR" altLang="en-US" sz="1200" dirty="0">
                <a:solidFill>
                  <a:srgbClr val="1F5FA8"/>
                </a:solidFill>
                <a:latin typeface="Noto Sans KR" pitchFamily="34" charset="0"/>
                <a:ea typeface="Noto Sans KR" pitchFamily="34" charset="-127"/>
                <a:cs typeface="Noto Sans KR" pitchFamily="34" charset="-120"/>
              </a:rPr>
              <a:t> 임계값 조정</a:t>
            </a:r>
            <a:endParaRPr lang="en-US" sz="1275" dirty="0"/>
          </a:p>
        </p:txBody>
      </p:sp>
      <p:sp>
        <p:nvSpPr>
          <p:cNvPr id="43" name="07 결과 분석 텍스트 25"/>
          <p:cNvSpPr txBox="1"/>
          <p:nvPr/>
        </p:nvSpPr>
        <p:spPr>
          <a:xfrm>
            <a:off x="9991740" y="3338932"/>
            <a:ext cx="1329812" cy="242865"/>
          </a:xfrm>
          <a:prstGeom prst="rect">
            <a:avLst/>
          </a:prstGeom>
          <a:noFill/>
          <a:ln/>
        </p:spPr>
        <p:txBody>
          <a:bodyPr wrap="none" lIns="0" tIns="0" rIns="0" bIns="0" rtlCol="0" anchor="ctr"/>
          <a:lstStyle/>
          <a:p>
            <a:pPr marL="0" indent="0" algn="l">
              <a:buNone/>
            </a:pPr>
            <a:r>
              <a:rPr lang="ko-KR" altLang="en-US" sz="1275" b="1" dirty="0">
                <a:solidFill>
                  <a:srgbClr val="5B6470"/>
                </a:solidFill>
                <a:latin typeface="Noto Sans KR" pitchFamily="34" charset="0"/>
                <a:ea typeface="Noto Sans KR" pitchFamily="34" charset="-127"/>
                <a:cs typeface="Noto Sans KR" pitchFamily="34" charset="-120"/>
              </a:rPr>
              <a:t>0.303</a:t>
            </a:r>
            <a:r>
              <a:rPr lang="ko-KR" altLang="en-US" sz="1200" dirty="0">
                <a:solidFill>
                  <a:srgbClr val="5B6470"/>
                </a:solidFill>
                <a:latin typeface="Noto Sans KR" pitchFamily="34" charset="0"/>
                <a:ea typeface="Noto Sans KR" pitchFamily="34" charset="-127"/>
                <a:cs typeface="Noto Sans KR" pitchFamily="34" charset="-120"/>
              </a:rPr>
              <a:t> 임계값 0.5</a:t>
            </a:r>
            <a:endParaRPr lang="en-US" sz="1275" dirty="0"/>
          </a:p>
        </p:txBody>
      </p:sp>
      <p:sp>
        <p:nvSpPr>
          <p:cNvPr id="44" name="07 결과 분석 텍스트 26"/>
          <p:cNvSpPr txBox="1"/>
          <p:nvPr/>
        </p:nvSpPr>
        <p:spPr>
          <a:xfrm>
            <a:off x="8606058" y="1907804"/>
            <a:ext cx="637703" cy="257221"/>
          </a:xfrm>
          <a:prstGeom prst="rect">
            <a:avLst/>
          </a:prstGeom>
          <a:solidFill>
            <a:srgbClr val="FFFFFF"/>
          </a:solidFill>
          <a:ln/>
        </p:spPr>
        <p:txBody>
          <a:bodyPr wrap="none" lIns="0" tIns="0" rIns="0" bIns="0" rtlCol="0" anchor="ctr"/>
          <a:lstStyle/>
          <a:p>
            <a:pPr marL="0" indent="0" algn="ctr">
              <a:buNone/>
            </a:pPr>
            <a:r>
              <a:rPr lang="ko-KR" altLang="en-US" sz="1350" b="1" dirty="0">
                <a:solidFill>
                  <a:srgbClr val="1F5FA8"/>
                </a:solidFill>
                <a:latin typeface="Noto Sans KR" pitchFamily="34" charset="0"/>
                <a:ea typeface="Noto Sans KR" pitchFamily="34" charset="-127"/>
                <a:cs typeface="Noto Sans KR" pitchFamily="34" charset="-120"/>
              </a:rPr>
              <a:t>−0.053</a:t>
            </a:r>
            <a:endParaRPr lang="en-US" sz="1350" dirty="0"/>
          </a:p>
        </p:txBody>
      </p:sp>
      <p:sp>
        <p:nvSpPr>
          <p:cNvPr id="45" name="07 결과 분석 텍스트 27"/>
          <p:cNvSpPr txBox="1"/>
          <p:nvPr/>
        </p:nvSpPr>
        <p:spPr>
          <a:xfrm>
            <a:off x="8482249" y="3069915"/>
            <a:ext cx="752003" cy="257221"/>
          </a:xfrm>
          <a:prstGeom prst="rect">
            <a:avLst/>
          </a:prstGeom>
          <a:noFill/>
          <a:ln/>
        </p:spPr>
        <p:txBody>
          <a:bodyPr wrap="none" lIns="0" tIns="0" rIns="0" bIns="0" rtlCol="0" anchor="ctr"/>
          <a:lstStyle/>
          <a:p>
            <a:pPr marL="0" indent="0" algn="ctr">
              <a:buNone/>
            </a:pPr>
            <a:r>
              <a:rPr lang="ko-KR" altLang="en-US" sz="1350" b="1" dirty="0">
                <a:solidFill>
                  <a:srgbClr val="5B6470"/>
                </a:solidFill>
                <a:latin typeface="Noto Sans KR" pitchFamily="34" charset="0"/>
                <a:ea typeface="Noto Sans KR" pitchFamily="34" charset="-127"/>
                <a:cs typeface="Noto Sans KR" pitchFamily="34" charset="-120"/>
              </a:rPr>
              <a:t>−0.225</a:t>
            </a:r>
            <a:endParaRPr lang="en-US" sz="1350" dirty="0"/>
          </a:p>
        </p:txBody>
      </p:sp>
      <p:sp>
        <p:nvSpPr>
          <p:cNvPr id="46" name="07 결과 분석 텍스트 28"/>
          <p:cNvSpPr txBox="1"/>
          <p:nvPr/>
        </p:nvSpPr>
        <p:spPr>
          <a:xfrm>
            <a:off x="7608357" y="5010638"/>
            <a:ext cx="690098" cy="271485"/>
          </a:xfrm>
          <a:prstGeom prst="rect">
            <a:avLst/>
          </a:prstGeom>
          <a:noFill/>
          <a:ln/>
        </p:spPr>
        <p:txBody>
          <a:bodyPr wrap="none" lIns="0" tIns="0" rIns="0" bIns="0" rtlCol="0" anchor="ctr"/>
          <a:lstStyle/>
          <a:p>
            <a:pPr marL="0" indent="0" algn="ctr">
              <a:buNone/>
            </a:pPr>
            <a:r>
              <a:rPr lang="ko-KR" altLang="en-US" sz="1425" dirty="0">
                <a:solidFill>
                  <a:srgbClr val="1B1F24"/>
                </a:solidFill>
                <a:latin typeface="Noto Sans KR" pitchFamily="34" charset="0"/>
                <a:ea typeface="Noto Sans KR" pitchFamily="34" charset="-127"/>
                <a:cs typeface="Noto Sans KR" pitchFamily="34" charset="-120"/>
              </a:rPr>
              <a:t>댓글만</a:t>
            </a:r>
            <a:endParaRPr lang="en-US" sz="1425" dirty="0"/>
          </a:p>
        </p:txBody>
      </p:sp>
      <p:sp>
        <p:nvSpPr>
          <p:cNvPr id="47" name="07 결과 분석 텍스트 29"/>
          <p:cNvSpPr txBox="1"/>
          <p:nvPr/>
        </p:nvSpPr>
        <p:spPr>
          <a:xfrm>
            <a:off x="9376715" y="5010638"/>
            <a:ext cx="963320" cy="271485"/>
          </a:xfrm>
          <a:prstGeom prst="rect">
            <a:avLst/>
          </a:prstGeom>
          <a:noFill/>
          <a:ln/>
        </p:spPr>
        <p:txBody>
          <a:bodyPr wrap="none" lIns="0" tIns="0" rIns="0" bIns="0" rtlCol="0" anchor="ctr"/>
          <a:lstStyle/>
          <a:p>
            <a:pPr marL="0" indent="0" algn="ctr">
              <a:buNone/>
            </a:pPr>
            <a:r>
              <a:rPr lang="ko-KR" altLang="en-US" sz="1425" b="1" dirty="0">
                <a:solidFill>
                  <a:srgbClr val="1B1F24"/>
                </a:solidFill>
                <a:latin typeface="Noto Sans KR" pitchFamily="34" charset="0"/>
                <a:ea typeface="Noto Sans KR" pitchFamily="34" charset="-127"/>
                <a:cs typeface="Noto Sans KR" pitchFamily="34" charset="-120"/>
              </a:rPr>
              <a:t>맥락+댓글</a:t>
            </a:r>
            <a:endParaRPr lang="en-US" sz="14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09 남은 계획 텍스트 1"/>
          <p:cNvSpPr txBox="1"/>
          <p:nvPr/>
        </p:nvSpPr>
        <p:spPr>
          <a:xfrm>
            <a:off x="609630" y="381030"/>
            <a:ext cx="2654686" cy="514350"/>
          </a:xfrm>
          <a:prstGeom prst="rect">
            <a:avLst/>
          </a:prstGeom>
          <a:noFill/>
          <a:ln/>
        </p:spPr>
        <p:txBody>
          <a:bodyPr wrap="none" lIns="0" tIns="0" rIns="0" bIns="0" rtlCol="0" anchor="ctr"/>
          <a:lstStyle/>
          <a:p>
            <a:pPr marL="0" indent="0" algn="l">
              <a:buNone/>
            </a:pPr>
            <a:r>
              <a:rPr lang="ko-KR" altLang="en-US" sz="2700" b="1" dirty="0">
                <a:solidFill>
                  <a:srgbClr val="1B1F24"/>
                </a:solidFill>
                <a:latin typeface="Noto Sans KR" pitchFamily="34" charset="0"/>
                <a:ea typeface="Noto Sans KR" pitchFamily="34" charset="-127"/>
                <a:cs typeface="Noto Sans KR" pitchFamily="34" charset="-120"/>
              </a:rPr>
              <a:t>10·11주차 계획</a:t>
            </a:r>
            <a:endParaRPr lang="en-US" sz="2700" dirty="0"/>
          </a:p>
        </p:txBody>
      </p:sp>
      <p:sp>
        <p:nvSpPr>
          <p:cNvPr id="4" name="09 남은 계획 텍스트 2"/>
          <p:cNvSpPr txBox="1"/>
          <p:nvPr/>
        </p:nvSpPr>
        <p:spPr>
          <a:xfrm>
            <a:off x="609630" y="974385"/>
            <a:ext cx="10900000" cy="257221"/>
          </a:xfrm>
          <a:prstGeom prst="rect">
            <a:avLst/>
          </a:prstGeom>
          <a:noFill/>
          <a:ln/>
        </p:spPr>
        <p:txBody>
          <a:bodyPr wrap="none" lIns="0" tIns="0" rIns="0" bIns="0" rtlCol="0" anchor="ctr"/>
          <a:lstStyle/>
          <a:p>
            <a:pPr marL="0" indent="0" algn="l">
              <a:buNone/>
            </a:pPr>
            <a:r>
              <a:rPr lang="ko-KR" altLang="en-US" sz="1350" dirty="0">
                <a:solidFill>
                  <a:srgbClr val="3A424C"/>
                </a:solidFill>
                <a:latin typeface="Noto Sans KR" pitchFamily="34" charset="0"/>
                <a:ea typeface="Noto Sans KR" pitchFamily="34" charset="-127"/>
                <a:cs typeface="Noto Sans KR" pitchFamily="34" charset="-120"/>
              </a:rPr>
              <a:t>맥락·댓글을 함께 읽는 </a:t>
            </a:r>
            <a:r>
              <a:rPr lang="ko-KR" altLang="en-US" sz="1350" b="1" dirty="0">
                <a:solidFill>
                  <a:schemeClr val="accent1"/>
                </a:solidFill>
                <a:latin typeface="Noto Sans KR" pitchFamily="34" charset="0"/>
                <a:ea typeface="Noto Sans KR" pitchFamily="34" charset="-127"/>
                <a:cs typeface="Noto Sans KR" pitchFamily="34" charset="-120"/>
              </a:rPr>
              <a:t>PLM* 2종(KcELECTRA-base-v2022 · KLUE-RoBERTa-base)</a:t>
            </a:r>
            <a:r>
              <a:rPr lang="ko-KR" altLang="en-US" sz="1350" dirty="0">
                <a:solidFill>
                  <a:srgbClr val="3A424C"/>
                </a:solidFill>
                <a:latin typeface="Noto Sans KR" pitchFamily="34" charset="0"/>
                <a:ea typeface="Noto Sans KR" pitchFamily="34" charset="-127"/>
                <a:cs typeface="Noto Sans KR" pitchFamily="34" charset="-120"/>
              </a:rPr>
              <a:t>을 베이스라인과 같은 조건으로 학습·분석</a:t>
            </a:r>
            <a:endParaRPr lang="en-US" sz="1350" dirty="0"/>
          </a:p>
        </p:txBody>
      </p:sp>
      <p:sp>
        <p:nvSpPr>
          <p:cNvPr id="5" name="09 남은 계획 텍스트 3"/>
          <p:cNvSpPr txBox="1"/>
          <p:nvPr/>
        </p:nvSpPr>
        <p:spPr>
          <a:xfrm>
            <a:off x="609630" y="1510132"/>
            <a:ext cx="1127272" cy="242865"/>
          </a:xfrm>
          <a:prstGeom prst="rect">
            <a:avLst/>
          </a:prstGeom>
          <a:noFill/>
          <a:ln/>
        </p:spPr>
        <p:txBody>
          <a:bodyPr wrap="none" lIns="0" tIns="0" rIns="0" bIns="0" rtlCol="0" anchor="ctr"/>
          <a:lstStyle/>
          <a:p>
            <a:pPr marL="0" indent="0" algn="l">
              <a:buNone/>
            </a:pPr>
            <a:r>
              <a:rPr lang="ko-KR" altLang="en-US" sz="1275" b="1" dirty="0">
                <a:solidFill>
                  <a:srgbClr val="5B6470"/>
                </a:solidFill>
                <a:latin typeface="Noto Sans KR" pitchFamily="34" charset="0"/>
                <a:ea typeface="Noto Sans KR" pitchFamily="34" charset="-127"/>
                <a:cs typeface="Noto Sans KR" pitchFamily="34" charset="-120"/>
              </a:rPr>
              <a:t>10주차 </a:t>
            </a:r>
            <a:endParaRPr lang="en-US" sz="1275" dirty="0"/>
          </a:p>
        </p:txBody>
      </p:sp>
      <p:sp>
        <p:nvSpPr>
          <p:cNvPr id="6" name="09 남은 계획 텍스트 4"/>
          <p:cNvSpPr txBox="1"/>
          <p:nvPr/>
        </p:nvSpPr>
        <p:spPr>
          <a:xfrm>
            <a:off x="609630" y="1760220"/>
            <a:ext cx="1169975" cy="371521"/>
          </a:xfrm>
          <a:prstGeom prst="rect">
            <a:avLst/>
          </a:prstGeom>
          <a:noFill/>
          <a:ln/>
        </p:spPr>
        <p:txBody>
          <a:bodyPr wrap="none" lIns="0" tIns="0" rIns="0" bIns="0" rtlCol="0" anchor="ctr"/>
          <a:lstStyle/>
          <a:p>
            <a:pPr marL="0" indent="0" algn="l">
              <a:buNone/>
            </a:pPr>
            <a:r>
              <a:rPr lang="ko-KR" altLang="en-US" sz="1950" b="1" dirty="0">
                <a:solidFill>
                  <a:srgbClr val="1B1F24"/>
                </a:solidFill>
                <a:latin typeface="Noto Sans KR" pitchFamily="34" charset="0"/>
                <a:ea typeface="Noto Sans KR" pitchFamily="34" charset="-127"/>
                <a:cs typeface="Noto Sans KR" pitchFamily="34" charset="-120"/>
              </a:rPr>
              <a:t>PLM 학습</a:t>
            </a:r>
            <a:endParaRPr lang="en-US" sz="1950" dirty="0"/>
          </a:p>
        </p:txBody>
      </p:sp>
      <p:sp>
        <p:nvSpPr>
          <p:cNvPr id="7" name="Shape 4"/>
          <p:cNvSpPr/>
          <p:nvPr/>
        </p:nvSpPr>
        <p:spPr>
          <a:xfrm>
            <a:off x="609630" y="2488814"/>
            <a:ext cx="5143500" cy="0"/>
          </a:xfrm>
          <a:prstGeom prst="line">
            <a:avLst/>
          </a:prstGeom>
          <a:noFill/>
          <a:ln w="9525">
            <a:solidFill>
              <a:srgbClr val="1B1F24"/>
            </a:solidFill>
            <a:prstDash val="solid"/>
          </a:ln>
        </p:spPr>
        <p:txBody>
          <a:bodyPr/>
          <a:lstStyle/>
          <a:p>
            <a:endParaRPr lang="ko-KR" altLang="en-US"/>
          </a:p>
        </p:txBody>
      </p:sp>
      <p:sp>
        <p:nvSpPr>
          <p:cNvPr id="8" name="Shape 5"/>
          <p:cNvSpPr/>
          <p:nvPr/>
        </p:nvSpPr>
        <p:spPr>
          <a:xfrm>
            <a:off x="609630" y="3241365"/>
            <a:ext cx="5143500" cy="0"/>
          </a:xfrm>
          <a:prstGeom prst="line">
            <a:avLst/>
          </a:prstGeom>
          <a:noFill/>
          <a:ln w="9525">
            <a:solidFill>
              <a:srgbClr val="E3E6EA"/>
            </a:solidFill>
            <a:prstDash val="solid"/>
          </a:ln>
        </p:spPr>
        <p:txBody>
          <a:bodyPr/>
          <a:lstStyle/>
          <a:p>
            <a:endParaRPr lang="ko-KR" altLang="en-US"/>
          </a:p>
        </p:txBody>
      </p:sp>
      <p:sp>
        <p:nvSpPr>
          <p:cNvPr id="9" name="09 남은 계획 텍스트 5"/>
          <p:cNvSpPr txBox="1"/>
          <p:nvPr/>
        </p:nvSpPr>
        <p:spPr>
          <a:xfrm>
            <a:off x="609630" y="2612715"/>
            <a:ext cx="2908158"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두 모델 미세조정, seed 3개 반복</a:t>
            </a:r>
            <a:endParaRPr lang="en-US" sz="1500" dirty="0"/>
          </a:p>
        </p:txBody>
      </p:sp>
      <p:sp>
        <p:nvSpPr>
          <p:cNvPr id="10" name="09 남은 계획 텍스트 6"/>
          <p:cNvSpPr txBox="1"/>
          <p:nvPr/>
        </p:nvSpPr>
        <p:spPr>
          <a:xfrm>
            <a:off x="4889754" y="2655509"/>
            <a:ext cx="966978"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모델 · 자동화</a:t>
            </a:r>
            <a:endParaRPr lang="en-US" sz="1200" dirty="0"/>
          </a:p>
        </p:txBody>
      </p:sp>
      <p:sp>
        <p:nvSpPr>
          <p:cNvPr id="11" name="09 남은 계획 텍스트 7"/>
          <p:cNvSpPr txBox="1"/>
          <p:nvPr/>
        </p:nvSpPr>
        <p:spPr>
          <a:xfrm>
            <a:off x="609630" y="2905597"/>
            <a:ext cx="1821028"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댓글만 · 맥락+댓글 두 입력</a:t>
            </a:r>
            <a:endParaRPr lang="en-US" sz="1125" dirty="0"/>
          </a:p>
        </p:txBody>
      </p:sp>
      <p:sp>
        <p:nvSpPr>
          <p:cNvPr id="12" name="Shape 9"/>
          <p:cNvSpPr/>
          <p:nvPr/>
        </p:nvSpPr>
        <p:spPr>
          <a:xfrm>
            <a:off x="609630" y="3993825"/>
            <a:ext cx="5143500" cy="0"/>
          </a:xfrm>
          <a:prstGeom prst="line">
            <a:avLst/>
          </a:prstGeom>
          <a:noFill/>
          <a:ln w="9525">
            <a:solidFill>
              <a:srgbClr val="E3E6EA"/>
            </a:solidFill>
            <a:prstDash val="solid"/>
          </a:ln>
        </p:spPr>
        <p:txBody>
          <a:bodyPr/>
          <a:lstStyle/>
          <a:p>
            <a:endParaRPr lang="ko-KR" altLang="en-US"/>
          </a:p>
        </p:txBody>
      </p:sp>
      <p:sp>
        <p:nvSpPr>
          <p:cNvPr id="13" name="09 남은 계획 텍스트 8"/>
          <p:cNvSpPr txBox="1"/>
          <p:nvPr/>
        </p:nvSpPr>
        <p:spPr>
          <a:xfrm>
            <a:off x="609630" y="3365175"/>
            <a:ext cx="2082455"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맥락만 입력으로도 학습</a:t>
            </a:r>
            <a:endParaRPr lang="en-US" sz="1500" dirty="0"/>
          </a:p>
        </p:txBody>
      </p:sp>
      <p:sp>
        <p:nvSpPr>
          <p:cNvPr id="14" name="09 남은 계획 텍스트 9"/>
          <p:cNvSpPr txBox="1"/>
          <p:nvPr/>
        </p:nvSpPr>
        <p:spPr>
          <a:xfrm>
            <a:off x="5332324" y="3408060"/>
            <a:ext cx="515996"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데이터</a:t>
            </a:r>
            <a:endParaRPr lang="en-US" sz="1200" dirty="0"/>
          </a:p>
        </p:txBody>
      </p:sp>
      <p:sp>
        <p:nvSpPr>
          <p:cNvPr id="15" name="09 남은 계획 텍스트 10"/>
          <p:cNvSpPr txBox="1"/>
          <p:nvPr/>
        </p:nvSpPr>
        <p:spPr>
          <a:xfrm>
            <a:off x="609630" y="3658057"/>
            <a:ext cx="1606692"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맥락 효과의 원인 확인용</a:t>
            </a:r>
            <a:endParaRPr lang="en-US" sz="1125" dirty="0"/>
          </a:p>
        </p:txBody>
      </p:sp>
      <p:sp>
        <p:nvSpPr>
          <p:cNvPr id="16" name="Shape 13"/>
          <p:cNvSpPr/>
          <p:nvPr/>
        </p:nvSpPr>
        <p:spPr>
          <a:xfrm>
            <a:off x="609630" y="4746285"/>
            <a:ext cx="5143500" cy="0"/>
          </a:xfrm>
          <a:prstGeom prst="line">
            <a:avLst/>
          </a:prstGeom>
          <a:noFill/>
          <a:ln w="9525">
            <a:solidFill>
              <a:srgbClr val="E3E6EA"/>
            </a:solidFill>
            <a:prstDash val="solid"/>
          </a:ln>
        </p:spPr>
        <p:txBody>
          <a:bodyPr/>
          <a:lstStyle/>
          <a:p>
            <a:endParaRPr lang="ko-KR" altLang="en-US"/>
          </a:p>
        </p:txBody>
      </p:sp>
      <p:sp>
        <p:nvSpPr>
          <p:cNvPr id="17" name="09 남은 계획 텍스트 11"/>
          <p:cNvSpPr txBox="1"/>
          <p:nvPr/>
        </p:nvSpPr>
        <p:spPr>
          <a:xfrm>
            <a:off x="609630" y="4117635"/>
            <a:ext cx="1297351"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예측 확률 저장</a:t>
            </a:r>
            <a:endParaRPr lang="en-US" sz="1500" dirty="0"/>
          </a:p>
        </p:txBody>
      </p:sp>
      <p:sp>
        <p:nvSpPr>
          <p:cNvPr id="18" name="09 남은 계획 텍스트 12"/>
          <p:cNvSpPr txBox="1"/>
          <p:nvPr/>
        </p:nvSpPr>
        <p:spPr>
          <a:xfrm>
            <a:off x="5332324" y="4160520"/>
            <a:ext cx="515996"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자동화</a:t>
            </a:r>
            <a:endParaRPr lang="en-US" sz="1200" dirty="0"/>
          </a:p>
        </p:txBody>
      </p:sp>
      <p:sp>
        <p:nvSpPr>
          <p:cNvPr id="19" name="09 남은 계획 텍스트 13"/>
          <p:cNvSpPr txBox="1"/>
          <p:nvPr/>
        </p:nvSpPr>
        <p:spPr>
          <a:xfrm>
            <a:off x="609630" y="4410517"/>
            <a:ext cx="92829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임계값 조정용</a:t>
            </a:r>
            <a:endParaRPr lang="en-US" sz="1125" dirty="0"/>
          </a:p>
        </p:txBody>
      </p:sp>
      <p:sp>
        <p:nvSpPr>
          <p:cNvPr id="20" name="Shape 17"/>
          <p:cNvSpPr/>
          <p:nvPr/>
        </p:nvSpPr>
        <p:spPr>
          <a:xfrm>
            <a:off x="609630" y="5279654"/>
            <a:ext cx="5143500" cy="0"/>
          </a:xfrm>
          <a:prstGeom prst="line">
            <a:avLst/>
          </a:prstGeom>
          <a:noFill/>
          <a:ln w="9525">
            <a:solidFill>
              <a:srgbClr val="E3E6EA"/>
            </a:solidFill>
            <a:prstDash val="solid"/>
          </a:ln>
        </p:spPr>
        <p:txBody>
          <a:bodyPr/>
          <a:lstStyle/>
          <a:p>
            <a:endParaRPr lang="ko-KR" altLang="en-US"/>
          </a:p>
        </p:txBody>
      </p:sp>
      <p:sp>
        <p:nvSpPr>
          <p:cNvPr id="21" name="09 남은 계획 텍스트 14"/>
          <p:cNvSpPr txBox="1"/>
          <p:nvPr/>
        </p:nvSpPr>
        <p:spPr>
          <a:xfrm>
            <a:off x="609630" y="4870094"/>
            <a:ext cx="3273369"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Colab 무료 GPU(T4) 학습 시간 확인</a:t>
            </a:r>
            <a:endParaRPr lang="en-US" sz="1500" dirty="0"/>
          </a:p>
        </p:txBody>
      </p:sp>
      <p:sp>
        <p:nvSpPr>
          <p:cNvPr id="22" name="09 남은 계획 텍스트 15"/>
          <p:cNvSpPr txBox="1"/>
          <p:nvPr/>
        </p:nvSpPr>
        <p:spPr>
          <a:xfrm>
            <a:off x="5332324" y="4912980"/>
            <a:ext cx="515996"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자동화</a:t>
            </a:r>
            <a:endParaRPr lang="en-US" sz="1200" dirty="0"/>
          </a:p>
        </p:txBody>
      </p:sp>
      <p:sp>
        <p:nvSpPr>
          <p:cNvPr id="23" name="Shape 20"/>
          <p:cNvSpPr/>
          <p:nvPr/>
        </p:nvSpPr>
        <p:spPr>
          <a:xfrm>
            <a:off x="609630" y="5813115"/>
            <a:ext cx="5143500" cy="0"/>
          </a:xfrm>
          <a:prstGeom prst="line">
            <a:avLst/>
          </a:prstGeom>
          <a:noFill/>
          <a:ln w="9525">
            <a:solidFill>
              <a:srgbClr val="E3E6EA"/>
            </a:solidFill>
            <a:prstDash val="solid"/>
          </a:ln>
        </p:spPr>
        <p:txBody>
          <a:bodyPr/>
          <a:lstStyle/>
          <a:p>
            <a:endParaRPr lang="ko-KR" altLang="en-US"/>
          </a:p>
        </p:txBody>
      </p:sp>
      <p:sp>
        <p:nvSpPr>
          <p:cNvPr id="24" name="09 남은 계획 텍스트 16"/>
          <p:cNvSpPr txBox="1"/>
          <p:nvPr/>
        </p:nvSpPr>
        <p:spPr>
          <a:xfrm>
            <a:off x="609630" y="5403464"/>
            <a:ext cx="1493490"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발표 피드백 반영</a:t>
            </a:r>
            <a:endParaRPr lang="en-US" sz="1500" dirty="0"/>
          </a:p>
        </p:txBody>
      </p:sp>
      <p:sp>
        <p:nvSpPr>
          <p:cNvPr id="25" name="09 남은 계획 텍스트 17"/>
          <p:cNvSpPr txBox="1"/>
          <p:nvPr/>
        </p:nvSpPr>
        <p:spPr>
          <a:xfrm>
            <a:off x="5472593" y="5446349"/>
            <a:ext cx="375818"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문서</a:t>
            </a:r>
            <a:endParaRPr lang="en-US" sz="1200" dirty="0"/>
          </a:p>
        </p:txBody>
      </p:sp>
      <p:sp>
        <p:nvSpPr>
          <p:cNvPr id="26" name="Shape 23"/>
          <p:cNvSpPr/>
          <p:nvPr/>
        </p:nvSpPr>
        <p:spPr>
          <a:xfrm>
            <a:off x="6086521" y="1512509"/>
            <a:ext cx="9510" cy="4305270"/>
          </a:xfrm>
          <a:prstGeom prst="rect">
            <a:avLst/>
          </a:prstGeom>
          <a:solidFill>
            <a:srgbClr val="D5D9DE"/>
          </a:solidFill>
          <a:ln/>
        </p:spPr>
        <p:txBody>
          <a:bodyPr/>
          <a:lstStyle/>
          <a:p>
            <a:endParaRPr lang="ko-KR" altLang="en-US"/>
          </a:p>
        </p:txBody>
      </p:sp>
      <p:sp>
        <p:nvSpPr>
          <p:cNvPr id="27" name="09 남은 계획 텍스트 18"/>
          <p:cNvSpPr txBox="1"/>
          <p:nvPr/>
        </p:nvSpPr>
        <p:spPr>
          <a:xfrm>
            <a:off x="6429421" y="1510132"/>
            <a:ext cx="1234349" cy="242865"/>
          </a:xfrm>
          <a:prstGeom prst="rect">
            <a:avLst/>
          </a:prstGeom>
          <a:noFill/>
          <a:ln/>
        </p:spPr>
        <p:txBody>
          <a:bodyPr wrap="none" lIns="0" tIns="0" rIns="0" bIns="0" rtlCol="0" anchor="ctr"/>
          <a:lstStyle/>
          <a:p>
            <a:pPr marL="0" indent="0" algn="l">
              <a:buNone/>
            </a:pPr>
            <a:r>
              <a:rPr lang="ko-KR" altLang="en-US" sz="1275" b="1" dirty="0">
                <a:solidFill>
                  <a:srgbClr val="5B6470"/>
                </a:solidFill>
                <a:latin typeface="Noto Sans KR" pitchFamily="34" charset="0"/>
                <a:ea typeface="Noto Sans KR" pitchFamily="34" charset="-127"/>
                <a:cs typeface="Noto Sans KR" pitchFamily="34" charset="-120"/>
              </a:rPr>
              <a:t>11</a:t>
            </a:r>
            <a:r>
              <a:rPr lang="ko-KR" altLang="en-US" sz="1275" b="1">
                <a:solidFill>
                  <a:srgbClr val="5B6470"/>
                </a:solidFill>
                <a:latin typeface="Noto Sans KR" pitchFamily="34" charset="0"/>
                <a:ea typeface="Noto Sans KR" pitchFamily="34" charset="-127"/>
                <a:cs typeface="Noto Sans KR" pitchFamily="34" charset="-120"/>
              </a:rPr>
              <a:t>주차 </a:t>
            </a:r>
            <a:endParaRPr lang="en-US" sz="1275" dirty="0"/>
          </a:p>
        </p:txBody>
      </p:sp>
      <p:sp>
        <p:nvSpPr>
          <p:cNvPr id="28" name="09 남은 계획 텍스트 19"/>
          <p:cNvSpPr txBox="1"/>
          <p:nvPr/>
        </p:nvSpPr>
        <p:spPr>
          <a:xfrm>
            <a:off x="6429421" y="1760220"/>
            <a:ext cx="1098469" cy="371521"/>
          </a:xfrm>
          <a:prstGeom prst="rect">
            <a:avLst/>
          </a:prstGeom>
          <a:noFill/>
          <a:ln/>
        </p:spPr>
        <p:txBody>
          <a:bodyPr wrap="none" lIns="0" tIns="0" rIns="0" bIns="0" rtlCol="0" anchor="ctr"/>
          <a:lstStyle/>
          <a:p>
            <a:pPr marL="0" indent="0" algn="l">
              <a:buNone/>
            </a:pPr>
            <a:r>
              <a:rPr lang="ko-KR" altLang="en-US" sz="1950" b="1" dirty="0">
                <a:solidFill>
                  <a:srgbClr val="1B1F24"/>
                </a:solidFill>
                <a:latin typeface="Noto Sans KR" pitchFamily="34" charset="0"/>
                <a:ea typeface="Noto Sans KR" pitchFamily="34" charset="-127"/>
                <a:cs typeface="Noto Sans KR" pitchFamily="34" charset="-120"/>
              </a:rPr>
              <a:t>결과 분석</a:t>
            </a:r>
            <a:endParaRPr lang="en-US" sz="1950" dirty="0"/>
          </a:p>
        </p:txBody>
      </p:sp>
      <p:sp>
        <p:nvSpPr>
          <p:cNvPr id="29" name="09 남은 계획 텍스트 20"/>
          <p:cNvSpPr txBox="1"/>
          <p:nvPr/>
        </p:nvSpPr>
        <p:spPr>
          <a:xfrm>
            <a:off x="6429421" y="2179290"/>
            <a:ext cx="4684563"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성공 기준 3가지로 점검: macro-F1 0.73 · fold 비교 · Recall 하락</a:t>
            </a:r>
            <a:endParaRPr lang="en-US" sz="1200" dirty="0"/>
          </a:p>
        </p:txBody>
      </p:sp>
      <p:sp>
        <p:nvSpPr>
          <p:cNvPr id="30" name="Shape 27"/>
          <p:cNvSpPr/>
          <p:nvPr/>
        </p:nvSpPr>
        <p:spPr>
          <a:xfrm>
            <a:off x="6429421" y="2488814"/>
            <a:ext cx="5153010" cy="0"/>
          </a:xfrm>
          <a:prstGeom prst="line">
            <a:avLst/>
          </a:prstGeom>
          <a:noFill/>
          <a:ln w="9525">
            <a:solidFill>
              <a:srgbClr val="1B1F24"/>
            </a:solidFill>
            <a:prstDash val="solid"/>
          </a:ln>
        </p:spPr>
        <p:txBody>
          <a:bodyPr/>
          <a:lstStyle/>
          <a:p>
            <a:endParaRPr lang="ko-KR" altLang="en-US"/>
          </a:p>
        </p:txBody>
      </p:sp>
      <p:sp>
        <p:nvSpPr>
          <p:cNvPr id="31" name="Shape 28"/>
          <p:cNvSpPr/>
          <p:nvPr/>
        </p:nvSpPr>
        <p:spPr>
          <a:xfrm>
            <a:off x="6429421" y="3241365"/>
            <a:ext cx="5153010" cy="0"/>
          </a:xfrm>
          <a:prstGeom prst="line">
            <a:avLst/>
          </a:prstGeom>
          <a:noFill/>
          <a:ln w="9525">
            <a:solidFill>
              <a:srgbClr val="E3E6EA"/>
            </a:solidFill>
            <a:prstDash val="solid"/>
          </a:ln>
        </p:spPr>
        <p:txBody>
          <a:bodyPr/>
          <a:lstStyle/>
          <a:p>
            <a:endParaRPr lang="ko-KR" altLang="en-US"/>
          </a:p>
        </p:txBody>
      </p:sp>
      <p:sp>
        <p:nvSpPr>
          <p:cNvPr id="32" name="09 남은 계획 텍스트 21"/>
          <p:cNvSpPr txBox="1"/>
          <p:nvPr/>
        </p:nvSpPr>
        <p:spPr>
          <a:xfrm>
            <a:off x="6429421" y="2612715"/>
            <a:ext cx="2860883"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임계값 조정 후 혐오 Recall 확인</a:t>
            </a:r>
            <a:endParaRPr lang="en-US" sz="1500" dirty="0"/>
          </a:p>
        </p:txBody>
      </p:sp>
      <p:sp>
        <p:nvSpPr>
          <p:cNvPr id="33" name="09 남은 계획 텍스트 22"/>
          <p:cNvSpPr txBox="1"/>
          <p:nvPr/>
        </p:nvSpPr>
        <p:spPr>
          <a:xfrm>
            <a:off x="11301893" y="2655509"/>
            <a:ext cx="375818"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모델</a:t>
            </a:r>
            <a:endParaRPr lang="en-US" sz="1200" dirty="0"/>
          </a:p>
        </p:txBody>
      </p:sp>
      <p:sp>
        <p:nvSpPr>
          <p:cNvPr id="34" name="09 남은 계획 텍스트 23"/>
          <p:cNvSpPr txBox="1"/>
          <p:nvPr/>
        </p:nvSpPr>
        <p:spPr>
          <a:xfrm>
            <a:off x="6429421" y="2905597"/>
            <a:ext cx="3093690"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베이스라인과 같은 방식 (validation으로 선택)</a:t>
            </a:r>
            <a:endParaRPr lang="en-US" sz="1125" dirty="0"/>
          </a:p>
        </p:txBody>
      </p:sp>
      <p:sp>
        <p:nvSpPr>
          <p:cNvPr id="35" name="Shape 32"/>
          <p:cNvSpPr/>
          <p:nvPr/>
        </p:nvSpPr>
        <p:spPr>
          <a:xfrm>
            <a:off x="6429421" y="3993825"/>
            <a:ext cx="5153010" cy="0"/>
          </a:xfrm>
          <a:prstGeom prst="line">
            <a:avLst/>
          </a:prstGeom>
          <a:noFill/>
          <a:ln w="9525">
            <a:solidFill>
              <a:srgbClr val="E3E6EA"/>
            </a:solidFill>
            <a:prstDash val="solid"/>
          </a:ln>
        </p:spPr>
        <p:txBody>
          <a:bodyPr/>
          <a:lstStyle/>
          <a:p>
            <a:endParaRPr lang="ko-KR" altLang="en-US"/>
          </a:p>
        </p:txBody>
      </p:sp>
      <p:sp>
        <p:nvSpPr>
          <p:cNvPr id="36" name="09 남은 계획 텍스트 24"/>
          <p:cNvSpPr txBox="1"/>
          <p:nvPr/>
        </p:nvSpPr>
        <p:spPr>
          <a:xfrm>
            <a:off x="6429421" y="3365175"/>
            <a:ext cx="1493490"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유형별 오류 분석</a:t>
            </a:r>
            <a:endParaRPr lang="en-US" sz="1500" dirty="0"/>
          </a:p>
        </p:txBody>
      </p:sp>
      <p:sp>
        <p:nvSpPr>
          <p:cNvPr id="37" name="09 남은 계획 텍스트 25"/>
          <p:cNvSpPr txBox="1"/>
          <p:nvPr/>
        </p:nvSpPr>
        <p:spPr>
          <a:xfrm>
            <a:off x="11161624" y="3408060"/>
            <a:ext cx="515996"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데이터</a:t>
            </a:r>
            <a:endParaRPr lang="en-US" sz="1200" dirty="0"/>
          </a:p>
        </p:txBody>
      </p:sp>
      <p:sp>
        <p:nvSpPr>
          <p:cNvPr id="38" name="09 남은 계획 텍스트 26"/>
          <p:cNvSpPr txBox="1"/>
          <p:nvPr/>
        </p:nvSpPr>
        <p:spPr>
          <a:xfrm>
            <a:off x="6429421" y="3658057"/>
            <a:ext cx="2324588"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Type 1·2 쌍을 둘 다 맞혔는지 포함</a:t>
            </a:r>
            <a:endParaRPr lang="en-US" sz="1125" dirty="0"/>
          </a:p>
        </p:txBody>
      </p:sp>
      <p:sp>
        <p:nvSpPr>
          <p:cNvPr id="39" name="Shape 36"/>
          <p:cNvSpPr/>
          <p:nvPr/>
        </p:nvSpPr>
        <p:spPr>
          <a:xfrm>
            <a:off x="6429421" y="4746285"/>
            <a:ext cx="5153010" cy="0"/>
          </a:xfrm>
          <a:prstGeom prst="line">
            <a:avLst/>
          </a:prstGeom>
          <a:noFill/>
          <a:ln w="9525">
            <a:solidFill>
              <a:srgbClr val="E3E6EA"/>
            </a:solidFill>
            <a:prstDash val="solid"/>
          </a:ln>
        </p:spPr>
        <p:txBody>
          <a:bodyPr/>
          <a:lstStyle/>
          <a:p>
            <a:endParaRPr lang="ko-KR" altLang="en-US"/>
          </a:p>
        </p:txBody>
      </p:sp>
      <p:sp>
        <p:nvSpPr>
          <p:cNvPr id="40" name="09 남은 계획 텍스트 27"/>
          <p:cNvSpPr txBox="1"/>
          <p:nvPr/>
        </p:nvSpPr>
        <p:spPr>
          <a:xfrm>
            <a:off x="6429421" y="4117635"/>
            <a:ext cx="1155436"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LoRA와 비교</a:t>
            </a:r>
            <a:endParaRPr lang="en-US" sz="1500" dirty="0"/>
          </a:p>
        </p:txBody>
      </p:sp>
      <p:sp>
        <p:nvSpPr>
          <p:cNvPr id="41" name="09 남은 계획 텍스트 28"/>
          <p:cNvSpPr txBox="1"/>
          <p:nvPr/>
        </p:nvSpPr>
        <p:spPr>
          <a:xfrm>
            <a:off x="11301893" y="4160520"/>
            <a:ext cx="375818"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모델</a:t>
            </a:r>
            <a:endParaRPr lang="en-US" sz="1200" dirty="0"/>
          </a:p>
        </p:txBody>
      </p:sp>
      <p:sp>
        <p:nvSpPr>
          <p:cNvPr id="42" name="09 남은 계획 텍스트 29"/>
          <p:cNvSpPr txBox="1"/>
          <p:nvPr/>
        </p:nvSpPr>
        <p:spPr>
          <a:xfrm>
            <a:off x="6429421" y="4410517"/>
            <a:ext cx="1753911"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학습 횟수는 검증으로 결정</a:t>
            </a:r>
            <a:endParaRPr lang="en-US" sz="1125" dirty="0"/>
          </a:p>
        </p:txBody>
      </p:sp>
      <p:sp>
        <p:nvSpPr>
          <p:cNvPr id="43" name="Shape 40"/>
          <p:cNvSpPr/>
          <p:nvPr/>
        </p:nvSpPr>
        <p:spPr>
          <a:xfrm>
            <a:off x="6429421" y="5279654"/>
            <a:ext cx="5153010" cy="0"/>
          </a:xfrm>
          <a:prstGeom prst="line">
            <a:avLst/>
          </a:prstGeom>
          <a:noFill/>
          <a:ln w="9525">
            <a:solidFill>
              <a:srgbClr val="E3E6EA"/>
            </a:solidFill>
            <a:prstDash val="solid"/>
          </a:ln>
        </p:spPr>
        <p:txBody>
          <a:bodyPr/>
          <a:lstStyle/>
          <a:p>
            <a:endParaRPr lang="ko-KR" altLang="en-US"/>
          </a:p>
        </p:txBody>
      </p:sp>
      <p:sp>
        <p:nvSpPr>
          <p:cNvPr id="44" name="09 남은 계획 텍스트 30"/>
          <p:cNvSpPr txBox="1"/>
          <p:nvPr/>
        </p:nvSpPr>
        <p:spPr>
          <a:xfrm>
            <a:off x="6429421" y="4870094"/>
            <a:ext cx="1161014" cy="285750"/>
          </a:xfrm>
          <a:prstGeom prst="rect">
            <a:avLst/>
          </a:prstGeom>
          <a:noFill/>
          <a:ln/>
        </p:spPr>
        <p:txBody>
          <a:bodyPr wrap="none" lIns="0" tIns="0" rIns="0" bIns="0" rtlCol="0" anchor="ctr"/>
          <a:lstStyle/>
          <a:p>
            <a:pPr marL="0" indent="0" algn="l">
              <a:buNone/>
            </a:pPr>
            <a:r>
              <a:rPr lang="ko-KR" altLang="en-US" sz="1500" dirty="0">
                <a:solidFill>
                  <a:srgbClr val="1B1F24"/>
                </a:solidFill>
                <a:latin typeface="Noto Sans KR" pitchFamily="34" charset="0"/>
                <a:ea typeface="Noto Sans KR" pitchFamily="34" charset="-127"/>
                <a:cs typeface="Noto Sans KR" pitchFamily="34" charset="-120"/>
              </a:rPr>
              <a:t>표·그림 정리</a:t>
            </a:r>
            <a:endParaRPr lang="en-US" sz="1500" dirty="0"/>
          </a:p>
        </p:txBody>
      </p:sp>
      <p:sp>
        <p:nvSpPr>
          <p:cNvPr id="45" name="09 남은 계획 텍스트 31"/>
          <p:cNvSpPr txBox="1"/>
          <p:nvPr/>
        </p:nvSpPr>
        <p:spPr>
          <a:xfrm>
            <a:off x="10719054" y="4912980"/>
            <a:ext cx="966978" cy="228600"/>
          </a:xfrm>
          <a:prstGeom prst="rect">
            <a:avLst/>
          </a:prstGeom>
          <a:noFill/>
          <a:ln/>
        </p:spPr>
        <p:txBody>
          <a:bodyPr wrap="none" lIns="0" tIns="0" rIns="0" bIns="0" rtlCol="0" anchor="ctr"/>
          <a:lstStyle/>
          <a:p>
            <a:pPr marL="0" indent="0" algn="l">
              <a:buNone/>
            </a:pPr>
            <a:r>
              <a:rPr lang="ko-KR" altLang="en-US" sz="1200" dirty="0">
                <a:solidFill>
                  <a:srgbClr val="5B6470"/>
                </a:solidFill>
                <a:latin typeface="Noto Sans KR" pitchFamily="34" charset="0"/>
                <a:ea typeface="Noto Sans KR" pitchFamily="34" charset="-127"/>
                <a:cs typeface="Noto Sans KR" pitchFamily="34" charset="-120"/>
              </a:rPr>
              <a:t>문서 · 데이터</a:t>
            </a:r>
            <a:endParaRPr lang="en-US" sz="1200" dirty="0"/>
          </a:p>
        </p:txBody>
      </p:sp>
      <p:sp>
        <p:nvSpPr>
          <p:cNvPr id="46" name="09 남은 계획 텍스트 32"/>
          <p:cNvSpPr txBox="1"/>
          <p:nvPr/>
        </p:nvSpPr>
        <p:spPr>
          <a:xfrm>
            <a:off x="609630" y="6384158"/>
            <a:ext cx="4109314"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재현: github.com/contra333/bda_teamproject · seed 42</a:t>
            </a:r>
            <a:endParaRPr lang="en-US" sz="1125" dirty="0"/>
          </a:p>
        </p:txBody>
      </p:sp>
      <p:sp>
        <p:nvSpPr>
          <p:cNvPr id="47" name="09 남은 계획 텍스트 33"/>
          <p:cNvSpPr txBox="1"/>
          <p:nvPr/>
        </p:nvSpPr>
        <p:spPr>
          <a:xfrm>
            <a:off x="11503061" y="6384158"/>
            <a:ext cx="174559"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7</a:t>
            </a:r>
            <a:endParaRPr lang="en-US" sz="1125" dirty="0"/>
          </a:p>
        </p:txBody>
      </p:sp>
      <p:sp>
        <p:nvSpPr>
          <p:cNvPr id="48" name="09 약어 각주"/>
          <p:cNvSpPr txBox="1"/>
          <p:nvPr/>
        </p:nvSpPr>
        <p:spPr>
          <a:xfrm>
            <a:off x="609630" y="6134158"/>
            <a:ext cx="9000000" cy="214335"/>
          </a:xfrm>
          <a:prstGeom prst="rect">
            <a:avLst/>
          </a:prstGeom>
          <a:noFill/>
          <a:ln/>
        </p:spPr>
        <p:txBody>
          <a:bodyPr wrap="none" lIns="0" tIns="0" rIns="0" bIns="0" rtlCol="0" anchor="ctr"/>
          <a:lstStyle/>
          <a:p>
            <a:pPr marL="0" indent="0" algn="l">
              <a:buNone/>
            </a:pPr>
            <a:r>
              <a:rPr lang="ko-KR" altLang="en-US" sz="1125" dirty="0">
                <a:solidFill>
                  <a:srgbClr val="5B6470"/>
                </a:solidFill>
                <a:latin typeface="Noto Sans KR" pitchFamily="34" charset="0"/>
                <a:ea typeface="Noto Sans KR" pitchFamily="34" charset="-127"/>
                <a:cs typeface="Noto Sans KR" pitchFamily="34" charset="-120"/>
              </a:rPr>
              <a:t>* PLM: Pre-trained Language Model (KcELECTRA는 뉴스 댓글, KLUE-RoBERTa는 일반 한국어로 사전학습) · LoRA: Low-Rank Adaptation (일부 가중치만 학습)</a:t>
            </a:r>
            <a:endParaRPr lang="en-US" sz="11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2184</Words>
  <Application>Microsoft Macintosh PowerPoint</Application>
  <PresentationFormat>와이드스크린</PresentationFormat>
  <Paragraphs>298</Paragraphs>
  <Slides>8</Slides>
  <Notes>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vt:i4>
      </vt:variant>
    </vt:vector>
  </HeadingPairs>
  <TitlesOfParts>
    <vt:vector size="12" baseType="lpstr">
      <vt:lpstr>맑은 고딕</vt:lpstr>
      <vt:lpstr>Noto Sans KR</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수수컴정 중간 발표 (PLM 결과 제외)</dc:title>
  <dc:subject>PptxGenJS Presentation</dc:subject>
  <dc:creator>수수컴정</dc:creator>
  <cp:lastModifiedBy>Microsoft Office User</cp:lastModifiedBy>
  <cp:revision>12</cp:revision>
  <dcterms:created xsi:type="dcterms:W3CDTF">2026-10-26T07:49:46Z</dcterms:created>
  <dcterms:modified xsi:type="dcterms:W3CDTF">2026-10-26T09:10:04Z</dcterms:modified>
</cp:coreProperties>
</file>